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8.svg" ContentType="image/svg+xml"/>
  <Override PartName="/ppt/media/image49.svg" ContentType="image/svg+xml"/>
  <Override PartName="/ppt/media/image50.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0.svg" ContentType="image/svg+xml"/>
  <Override PartName="/ppt/media/image61.svg" ContentType="image/svg+xml"/>
  <Override PartName="/ppt/media/image6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8"/>
  </p:notesMasterIdLst>
  <p:sldIdLst>
    <p:sldId id="256" r:id="rId3"/>
    <p:sldId id="257" r:id="rId4"/>
    <p:sldId id="274" r:id="rId5"/>
    <p:sldId id="258" r:id="rId6"/>
    <p:sldId id="259" r:id="rId7"/>
    <p:sldId id="278" r:id="rId8"/>
    <p:sldId id="262" r:id="rId9"/>
    <p:sldId id="276" r:id="rId10"/>
    <p:sldId id="264" r:id="rId11"/>
    <p:sldId id="277" r:id="rId12"/>
    <p:sldId id="279" r:id="rId13"/>
    <p:sldId id="267" r:id="rId14"/>
    <p:sldId id="265" r:id="rId15"/>
    <p:sldId id="272" r:id="rId16"/>
    <p:sldId id="275" r:id="rId1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92"/>
    <p:restoredTop sz="97389"/>
  </p:normalViewPr>
  <p:slideViewPr>
    <p:cSldViewPr snapToGrid="0">
      <p:cViewPr varScale="1">
        <p:scale>
          <a:sx n="161" d="100"/>
          <a:sy n="161" d="100"/>
        </p:scale>
        <p:origin x="168" y="3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Good [morning/afternoon], everyone.</a:t>
            </a:r>
          </a:p>
          <a:p>
            <a:pPr marL="0" indent="0" algn="l">
              <a:lnSpc>
                <a:spcPct val="100000"/>
              </a:lnSpc>
            </a:pPr>
            <a:r>
              <a:rPr lang="en-US" sz="1400" b="0" i="0" u="none" strike="noStrike">
                <a:solidFill>
                  <a:srgbClr val="000000"/>
                </a:solidFill>
              </a:rPr>
              <a:t>I'm Alex Morgan, and today I'll be presenting my DSAA2011 Summer Project titled "Analysis and Prediction of Forest Cover Types".</a:t>
            </a:r>
          </a:p>
          <a:p>
            <a:pPr marL="0" indent="0" algn="l">
              <a:lnSpc>
                <a:spcPct val="100000"/>
              </a:lnSpc>
            </a:pPr>
            <a:r>
              <a:rPr lang="en-US" sz="1400" b="0" i="0" u="none" strike="noStrike">
                <a:solidFill>
                  <a:srgbClr val="000000"/>
                </a:solidFill>
              </a:rPr>
              <a:t>This project explores the application of machine learning algorithms to predict forest cover types based on cartographic variables, which has significant implications for ecological research and forest management.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slide introduces the UCI Forest Covertype dataset, a well-known benchmark in machine learning.</a:t>
            </a:r>
          </a:p>
          <a:p>
            <a:pPr marL="0" indent="0" algn="l">
              <a:lnSpc>
                <a:spcPct val="100000"/>
              </a:lnSpc>
            </a:pPr>
            <a:r>
              <a:rPr lang="en-US" sz="1400" b="0" i="0" u="none" strike="noStrike">
                <a:solidFill>
                  <a:srgbClr val="000000"/>
                </a:solidFill>
              </a:rPr>
              <a:t>Key highlights:</a:t>
            </a:r>
          </a:p>
          <a:p>
            <a:pPr marL="0" indent="0" algn="l">
              <a:lnSpc>
                <a:spcPct val="100000"/>
              </a:lnSpc>
            </a:pPr>
            <a:r>
              <a:rPr lang="en-US" sz="1400" b="0" i="0" u="none" strike="noStrike">
                <a:solidFill>
                  <a:srgbClr val="000000"/>
                </a:solidFill>
              </a:rPr>
              <a:t>1. **Scale**: With over 580,000 samples, it's a large dataset that tests model efficiency.</a:t>
            </a:r>
          </a:p>
          <a:p>
            <a:pPr marL="0" indent="0" algn="l">
              <a:lnSpc>
                <a:spcPct val="100000"/>
              </a:lnSpc>
            </a:pPr>
            <a:r>
              <a:rPr lang="en-US" sz="1400" b="0" i="0" u="none" strike="noStrike">
                <a:solidFill>
                  <a:srgbClr val="000000"/>
                </a:solidFill>
              </a:rPr>
              <a:t>2. **Features**: The 54 attributes are a mix of continuous environmental variables and categorical soil/wilderness indicators, providing rich spatial context.</a:t>
            </a:r>
          </a:p>
          <a:p>
            <a:pPr marL="0" indent="0" algn="l">
              <a:lnSpc>
                <a:spcPct val="100000"/>
              </a:lnSpc>
            </a:pPr>
            <a:r>
              <a:rPr lang="en-US" sz="1400" b="0" i="0" u="none" strike="noStrike">
                <a:solidFill>
                  <a:srgbClr val="000000"/>
                </a:solidFill>
              </a:rPr>
              <a:t>3. **Classes**: The goal is to predict one of seven forest cover types.</a:t>
            </a:r>
          </a:p>
          <a:p>
            <a:pPr marL="0" indent="0" algn="l">
              <a:lnSpc>
                <a:spcPct val="100000"/>
              </a:lnSpc>
            </a:pPr>
            <a:r>
              <a:rPr lang="en-US" sz="1400" b="0" i="0" u="none" strike="noStrike">
                <a:solidFill>
                  <a:srgbClr val="000000"/>
                </a:solidFill>
              </a:rPr>
              <a:t>4. **Challenge**: The most important aspect to note is the **class imbalance**. As seen in the chart, two classes (Spruce/Fir and Lodgepole Pine) make up the vast majority of the data, while others like Cottonwood/Willow are very rare. This imbalance is a critical factor to address during model training to avoid biased predictions.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To give you a more intuitive understanding of our prediction targets, here are real photos of the seven forest cover types. From cold-tolerant spruce and fir, to tall and straight lodgepole pine and Douglas-fir, to the uniquely shaped krummholz, each tree adapts to a different ecological environment. Understanding these differences helps us grasp the significance of subsequent data analysis.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Before building any models, we thoroughly examined the dataset for preprocessing needs.</a:t>
            </a:r>
          </a:p>
          <a:p>
            <a:pPr marL="0" indent="0" algn="l">
              <a:lnSpc>
                <a:spcPct val="100000"/>
              </a:lnSpc>
            </a:pPr>
            <a:r>
              <a:rPr lang="en-US" sz="1400" b="0" i="0" u="none" strike="noStrike">
                <a:solidFill>
                  <a:srgbClr val="000000"/>
                </a:solidFill>
              </a:rPr>
              <a:t>First, the dataset is remarkably clean with zero missing values across all 54 features, which saves us from dealing with imputation complexities.</a:t>
            </a:r>
          </a:p>
          <a:p>
            <a:pPr marL="0" indent="0" algn="l">
              <a:lnSpc>
                <a:spcPct val="100000"/>
              </a:lnSpc>
            </a:pPr>
            <a:r>
              <a:rPr lang="en-US" sz="1400" b="0" i="0" u="none" strike="noStrike">
                <a:solidFill>
                  <a:srgbClr val="000000"/>
                </a:solidFill>
              </a:rPr>
              <a:t>Second, we have a mix of 10 continuous environmental variables (like elevation and slope) and 44 binary indicators (representing wilderness areas and soil types). Importantly, all data is already in numeric format, so we don't need to perform one-hot encoding.</a:t>
            </a:r>
          </a:p>
          <a:p>
            <a:pPr marL="0" indent="0" algn="l">
              <a:lnSpc>
                <a:spcPct val="100000"/>
              </a:lnSpc>
            </a:pPr>
            <a:r>
              <a:rPr lang="en-US" sz="1400" b="0" i="0" u="none" strike="noStrike">
                <a:solidFill>
                  <a:srgbClr val="000000"/>
                </a:solidFill>
              </a:rPr>
              <a:t>Finally, our preprocessing pipeline focuses on scaling: continuous features are standardized to a mean of 0 and standard deviation of 1 using StandardScaler to ensure they contribute equally to the model, while binary features are left as-is since scaling is unnecessary for 0/1 variables.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slide presents the t-SNE visualization of the forest cover type dataset.</a:t>
            </a:r>
          </a:p>
          <a:p>
            <a:pPr marL="0" indent="0" algn="l">
              <a:lnSpc>
                <a:spcPct val="100000"/>
              </a:lnSpc>
            </a:pPr>
            <a:r>
              <a:rPr lang="en-US" sz="1400" b="0" i="0" u="none" strike="noStrike">
                <a:solidFill>
                  <a:srgbClr val="000000"/>
                </a:solidFill>
              </a:rPr>
              <a:t>t-SNE (t-Distributed Stochastic Neighbor Embedding) is a dimensionality reduction technique that is particularly well-suited for visualizing high-dimensional data in 2D or 3D space.</a:t>
            </a:r>
          </a:p>
          <a:p>
            <a:pPr marL="0" indent="0" algn="l">
              <a:lnSpc>
                <a:spcPct val="100000"/>
              </a:lnSpc>
            </a:pPr>
            <a:r>
              <a:rPr lang="en-US" sz="1400" b="0" i="0" u="none" strike="noStrike">
                <a:solidFill>
                  <a:srgbClr val="000000"/>
                </a:solidFill>
              </a:rPr>
              <a:t>Looking at the plot on the left, we can see the 7 different cover types projected onto a 2D plane, each represented by a different color.</a:t>
            </a:r>
          </a:p>
          <a:p>
            <a:pPr marL="0" indent="0" algn="l">
              <a:lnSpc>
                <a:spcPct val="100000"/>
              </a:lnSpc>
            </a:pPr>
            <a:r>
              <a:rPr lang="en-US" sz="1400" b="0" i="0" u="none" strike="noStrike">
                <a:solidFill>
                  <a:srgbClr val="000000"/>
                </a:solidFill>
              </a:rPr>
              <a:t>Key takeaways from this visualization:</a:t>
            </a:r>
          </a:p>
          <a:p>
            <a:pPr marL="0" indent="0" algn="l">
              <a:lnSpc>
                <a:spcPct val="100000"/>
              </a:lnSpc>
            </a:pPr>
            <a:r>
              <a:rPr lang="en-US" sz="1400" b="0" i="0" u="none" strike="noStrike">
                <a:solidFill>
                  <a:srgbClr val="000000"/>
                </a:solidFill>
              </a:rPr>
              <a:t>1. The sheer size of clusters 1 and 2 (Spruce/Fir and Lodgepole Pine) indicates they are the most common classes in the dataset.</a:t>
            </a:r>
          </a:p>
          <a:p>
            <a:pPr marL="0" indent="0" algn="l">
              <a:lnSpc>
                <a:spcPct val="100000"/>
              </a:lnSpc>
            </a:pPr>
            <a:r>
              <a:rPr lang="en-US" sz="1400" b="0" i="0" u="none" strike="noStrike">
                <a:solidFill>
                  <a:srgbClr val="000000"/>
                </a:solidFill>
              </a:rPr>
              <a:t>2. Class 4 (Cottonwood/Willow) is distinctly separated, which is likely due to its unique environmental requirements compared to the other coniferous-dominated classes.</a:t>
            </a:r>
          </a:p>
          <a:p>
            <a:pPr marL="0" indent="0" algn="l">
              <a:lnSpc>
                <a:spcPct val="100000"/>
              </a:lnSpc>
            </a:pPr>
            <a:r>
              <a:rPr lang="en-US" sz="1400" b="0" i="0" u="none" strike="noStrike">
                <a:solidFill>
                  <a:srgbClr val="000000"/>
                </a:solidFill>
              </a:rPr>
              <a:t>3. The overlap between classes 5 and 6 suggests that based on the input features, these two types are harder to distinguish, which is a common challenge in ecological datasets.</a:t>
            </a:r>
          </a:p>
          <a:p>
            <a:pPr marL="0" indent="0" algn="l">
              <a:lnSpc>
                <a:spcPct val="100000"/>
              </a:lnSpc>
            </a:pPr>
            <a:r>
              <a:rPr lang="en-US" sz="1400" b="0" i="0" u="none" strike="noStrike">
                <a:solidFill>
                  <a:srgbClr val="000000"/>
                </a:solidFill>
              </a:rPr>
              <a:t>4. This visualization confirms that the data has an inherent structure that is not linearly separable, supporting the use of more complex machine learning models.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A4F5C-C67B-C79C-E1F0-34E39B3AA86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6CB0BE1-7538-2B91-6090-C356BCED91C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DC0700B-AD87-41E6-30D7-BD2C4CA1090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73DF0E5-FE61-8148-ED28-76FED4E1154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4A59C92-D39A-8FCA-9B73-E425EC5C6EE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slide presents the results of two popular unsupervised clustering algorithms—K-Means and Hierarchical Clustering—applied to a t-SNE projection of high-dimensional ecological data.</a:t>
            </a:r>
          </a:p>
          <a:p>
            <a:pPr marL="0" indent="0" algn="l">
              <a:lnSpc>
                <a:spcPct val="100000"/>
              </a:lnSpc>
            </a:pPr>
            <a:r>
              <a:rPr lang="en-US" sz="1400" b="0" i="0" u="none" strike="noStrike">
                <a:solidFill>
                  <a:srgbClr val="000000"/>
                </a:solidFill>
              </a:rPr>
              <a:t>Looking at the image in the center, we see a side-by-side comparison. On the left, K-Means with K=3 successfully identifies three distinct natural groupings within the data, highlighting the presence of inherent substructures.</a:t>
            </a:r>
          </a:p>
          <a:p>
            <a:pPr marL="0" indent="0" algn="l">
              <a:lnSpc>
                <a:spcPct val="100000"/>
              </a:lnSpc>
            </a:pPr>
            <a:r>
              <a:rPr lang="en-US" sz="1400" b="0" i="0" u="none" strike="noStrike">
                <a:solidFill>
                  <a:srgbClr val="000000"/>
                </a:solidFill>
              </a:rPr>
              <a:t>On the right, Hierarchical Clustering using Ward's linkage merges these into two main super-clusters, which can be useful for understanding broader categorical separations.</a:t>
            </a:r>
          </a:p>
          <a:p>
            <a:pPr marL="0" indent="0" algn="l">
              <a:lnSpc>
                <a:spcPct val="100000"/>
              </a:lnSpc>
            </a:pPr>
            <a:r>
              <a:rPr lang="en-US" sz="1400" b="0" i="0" u="none" strike="noStrike">
                <a:solidFill>
                  <a:srgbClr val="000000"/>
                </a:solidFill>
              </a:rPr>
              <a:t>However, it's important to note that neither method fully recovers the true 7-class structure present in the original data. This limitation emphasizes why supervised learning is often necessary for tasks requiring precise, predefined class distinctions.</a:t>
            </a:r>
          </a:p>
          <a:p>
            <a:pPr marL="0" indent="0" algn="l">
              <a:lnSpc>
                <a:spcPct val="100000"/>
              </a:lnSpc>
            </a:pPr>
            <a:r>
              <a:rPr lang="en-US" sz="1400" b="0" i="0" u="none" strike="noStrike">
                <a:solidFill>
                  <a:srgbClr val="000000"/>
                </a:solidFill>
              </a:rPr>
              <a:t>Finally, we observe that the cluster boundaries align with elevation-based ecological zones, which adds biological validity to these unsupervised findings.</a:t>
            </a:r>
          </a:p>
        </p:txBody>
      </p:sp>
      <p:sp>
        <p:nvSpPr>
          <p:cNvPr id="6" name="Footer Placeholder 5">
            <a:extLst>
              <a:ext uri="{FF2B5EF4-FFF2-40B4-BE49-F238E27FC236}">
                <a16:creationId xmlns:a16="http://schemas.microsoft.com/office/drawing/2014/main" id="{07D8ED5E-0B42-66BD-CA44-567C7C6EBB2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E6AC974-F43C-0F92-CBFF-4B275F5DE93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5381262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Now let's look at the results of our model training.</a:t>
            </a:r>
          </a:p>
          <a:p>
            <a:pPr marL="0" indent="0" algn="l">
              <a:lnSpc>
                <a:spcPct val="100000"/>
              </a:lnSpc>
            </a:pPr>
            <a:r>
              <a:rPr lang="en-US" sz="1400" b="0" i="0" u="none" strike="noStrike">
                <a:solidFill>
                  <a:srgbClr val="000000"/>
                </a:solidFill>
              </a:rPr>
              <a:t>We compared two models: a baseline Logistic Regression and an optimized Decision Tree.</a:t>
            </a:r>
          </a:p>
          <a:p>
            <a:pPr marL="0" indent="0" algn="l">
              <a:lnSpc>
                <a:spcPct val="100000"/>
              </a:lnSpc>
            </a:pPr>
            <a:r>
              <a:rPr lang="en-US" sz="1400" b="0" i="0" u="none" strike="noStrike">
                <a:solidFill>
                  <a:srgbClr val="000000"/>
                </a:solidFill>
              </a:rPr>
              <a:t>As you can see, the Decision Tree outperformed the Logistic Regression significantly, achieving a test accuracy of 82.28% and a Macro F1 score of 0.8191. The Logistic Regression, while simpler and faster to train, only reached 67.56% accuracy.</a:t>
            </a:r>
          </a:p>
          <a:p>
            <a:pPr marL="0" indent="0" algn="l">
              <a:lnSpc>
                <a:spcPct val="100000"/>
              </a:lnSpc>
            </a:pPr>
            <a:r>
              <a:rPr lang="en-US" sz="1400" b="0" i="0" u="none" strike="noStrike">
                <a:solidFill>
                  <a:srgbClr val="000000"/>
                </a:solidFill>
              </a:rPr>
              <a:t>For the Decision Tree, we set a max depth of 24 and a minimum of 15 samples per leaf to balance complexity and generalization. There was a mild overfitting observed, with a small difference in F1 scores between training and testing, which is manageable and indicates the model is capturing meaningful patterns.</a:t>
            </a:r>
          </a:p>
          <a:p>
            <a:pPr marL="0" indent="0" algn="l">
              <a:lnSpc>
                <a:spcPct val="100000"/>
              </a:lnSpc>
            </a:pPr>
            <a:r>
              <a:rPr lang="en-US" sz="1400" b="0" i="0" u="none" strike="noStrike">
                <a:solidFill>
                  <a:srgbClr val="000000"/>
                </a:solidFill>
              </a:rPr>
              <a:t>We split the dataset into 70% training and 30% testing, using stratified sampling to preserve class distribution. Additionally, to handle class imbalance, we used class-weighted training to ensure fair performance across all categories.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8</a:t>
            </a:fld>
            <a:endParaRPr lang="cs-CZ"/>
          </a:p>
        </p:txBody>
      </p:sp>
    </p:spTree>
    <p:extLst>
      <p:ext uri="{BB962C8B-B14F-4D97-AF65-F5344CB8AC3E}">
        <p14:creationId xmlns:p14="http://schemas.microsoft.com/office/powerpoint/2010/main" val="23109945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slide outlines six key areas for open-ended exploration to enhance your modeling beyond the initial baseline.</a:t>
            </a:r>
          </a:p>
          <a:p>
            <a:pPr marL="0" indent="0" algn="l">
              <a:lnSpc>
                <a:spcPct val="100000"/>
              </a:lnSpc>
            </a:pPr>
            <a:r>
              <a:rPr lang="en-US" sz="1400" b="0" i="0" u="none" strike="noStrike">
                <a:solidFill>
                  <a:srgbClr val="000000"/>
                </a:solidFill>
              </a:rPr>
              <a:t>1. **Advanced Model Comparison**: Move beyond simple models to compare powerful algorithms like Random Forest and Gradient Boosting, understanding their strengths in different scenarios.</a:t>
            </a:r>
          </a:p>
          <a:p>
            <a:pPr marL="0" indent="0" algn="l">
              <a:lnSpc>
                <a:spcPct val="100000"/>
              </a:lnSpc>
            </a:pPr>
            <a:r>
              <a:rPr lang="en-US" sz="1400" b="0" i="0" u="none" strike="noStrike">
                <a:solidFill>
                  <a:srgbClr val="000000"/>
                </a:solidFill>
              </a:rPr>
              <a:t>2. **Feature Importance**: Don't just build models—interpret them. Use both built-in tree importance and permutation importance to validate which features truly drive predictions.</a:t>
            </a:r>
          </a:p>
          <a:p>
            <a:pPr marL="0" indent="0" algn="l">
              <a:lnSpc>
                <a:spcPct val="100000"/>
              </a:lnSpc>
            </a:pPr>
            <a:r>
              <a:rPr lang="en-US" sz="1400" b="0" i="0" u="none" strike="noStrike">
                <a:solidFill>
                  <a:srgbClr val="000000"/>
                </a:solidFill>
              </a:rPr>
              <a:t>3. **Hyperparameter Tuning**: Fine-tune your models systematically using GridSearchCV to find the optimal configuration and avoid overfitting.</a:t>
            </a:r>
          </a:p>
          <a:p>
            <a:pPr marL="0" indent="0" algn="l">
              <a:lnSpc>
                <a:spcPct val="100000"/>
              </a:lnSpc>
            </a:pPr>
            <a:r>
              <a:rPr lang="en-US" sz="1400" b="0" i="0" u="none" strike="noStrike">
                <a:solidFill>
                  <a:srgbClr val="000000"/>
                </a:solidFill>
              </a:rPr>
              <a:t>4. **Class Imbalance**: If your dataset is skewed, use techniques like SMOTE to ensure your model doesn't just predict the majority class.</a:t>
            </a:r>
          </a:p>
          <a:p>
            <a:pPr marL="0" indent="0" algn="l">
              <a:lnSpc>
                <a:spcPct val="100000"/>
              </a:lnSpc>
            </a:pPr>
            <a:r>
              <a:rPr lang="en-US" sz="1400" b="0" i="0" u="none" strike="noStrike">
                <a:solidFill>
                  <a:srgbClr val="000000"/>
                </a:solidFill>
              </a:rPr>
              <a:t>5. **Model Calibration**: Ensure your model's predicted probabilities are trustworthy, which is crucial for applications where decision thresholds matter.</a:t>
            </a:r>
          </a:p>
          <a:p>
            <a:pPr marL="0" indent="0" algn="l">
              <a:lnSpc>
                <a:spcPct val="100000"/>
              </a:lnSpc>
            </a:pPr>
            <a:r>
              <a:rPr lang="en-US" sz="1400" b="0" i="0" u="none" strike="noStrike">
                <a:solidFill>
                  <a:srgbClr val="000000"/>
                </a:solidFill>
              </a:rPr>
              <a:t>6. **Ensemble Methods**: Combine the strengths of multiple models using voting classifiers to create a more robust and accurate final predictor.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Now we move to Part 5 for an in-depth analysis. We used a Random Forest model to analyze the importance of each feature. The results are very intuitive: Elevation is the most important feature, with an importance score far exceeding all others. This aligns perfectly with our common sense—elevation determines key environmental factors like temperature and precipitation, which in turn determine tree species distribution. Additionally, distance to roads, fire stations, and water bodies also play important roles.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A6EE1-2A70-521D-267C-938E2034A6A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B2EE9AA-5F6F-86EC-3269-E8B216E106D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18EAB85-1356-911E-32F2-6ACDC5706BD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263805A-127F-6BCE-4924-3C6C95133DE9}"/>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9A2F5B3-89A6-35BD-D63C-93AB9A9DFB2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F3B36308-D5AC-F243-0676-4BAB0AC8916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47C3D68-5312-A7D2-A2FE-6B642D956BB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17735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slide presents the results of our model calibration analysis.</a:t>
            </a:r>
          </a:p>
          <a:p>
            <a:pPr marL="0" indent="0" algn="l">
              <a:lnSpc>
                <a:spcPct val="100000"/>
              </a:lnSpc>
            </a:pPr>
            <a:r>
              <a:rPr lang="en-US" sz="1400" b="0" i="0" u="none" strike="noStrike">
                <a:solidFill>
                  <a:srgbClr val="000000"/>
                </a:solidFill>
              </a:rPr>
              <a:t>On the left, you see two key visualizations: the top chart is the average calibration curve across all classes, comparing the baseline Random Forest against the calibrated model and the perfect calibration line (dashed). The bottom chart breaks this down by individual classes.</a:t>
            </a:r>
          </a:p>
          <a:p>
            <a:pPr marL="0" indent="0" algn="l">
              <a:lnSpc>
                <a:spcPct val="100000"/>
              </a:lnSpc>
            </a:pPr>
            <a:r>
              <a:rPr lang="en-US" sz="1400" b="0" i="0" u="none" strike="noStrike">
                <a:solidFill>
                  <a:srgbClr val="000000"/>
                </a:solidFill>
              </a:rPr>
              <a:t>On the right, we highlight the quantitative improvement: the Brier Score dropped from 0.0240 to 0.0215 after applying Platt Scaling (Sigmoid calibration), which is a 10% reduction in error.</a:t>
            </a:r>
          </a:p>
          <a:p>
            <a:pPr marL="0" indent="0" algn="l">
              <a:lnSpc>
                <a:spcPct val="100000"/>
              </a:lnSpc>
            </a:pPr>
            <a:r>
              <a:rPr lang="en-US" sz="1400" b="0" i="0" u="none" strike="noStrike">
                <a:solidFill>
                  <a:srgbClr val="000000"/>
                </a:solidFill>
              </a:rPr>
              <a:t>Key takeaways include: the baseline model was slightly overconfident, especially in the mid-probability range; the smallest class (Class 4) remains the most challenging to calibrate; and this calibration step is essential for applications where probability estimates directly inform business decisions.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This slide presents a comprehensive comparison of various machine learning models evaluated for our task.</a:t>
            </a:r>
          </a:p>
          <a:p>
            <a:pPr marL="0" indent="0" algn="l">
              <a:lnSpc>
                <a:spcPct val="100000"/>
              </a:lnSpc>
            </a:pPr>
            <a:r>
              <a:rPr lang="en-US" sz="1400" b="0" i="0" u="none" strike="noStrike" dirty="0">
                <a:solidFill>
                  <a:srgbClr val="000000"/>
                </a:solidFill>
              </a:rPr>
              <a:t>Looking at the bar chart on the top left, we can see a clear hierarchy of performance. The Random Forest models  with top 30 features stand out with the highest F1 Macro scores of 0.909.</a:t>
            </a:r>
          </a:p>
          <a:p>
            <a:pPr marL="0" indent="0" algn="l">
              <a:lnSpc>
                <a:spcPct val="100000"/>
              </a:lnSpc>
            </a:pPr>
            <a:r>
              <a:rPr lang="en-US" sz="1400" b="0" i="0" u="none" strike="noStrike" dirty="0">
                <a:solidFill>
                  <a:srgbClr val="000000"/>
                </a:solidFill>
              </a:rPr>
              <a:t>The table on the bottom left provides detailed metrics. Notice that the Random Forest with 120 trees performs identically to the 200-tree version in terms of F1 score (0.907) and AUC (0.992), but it trains 30% faster (1.4 seconds vs 2.0 seconds). This is a crucial efficiency gain.</a:t>
            </a:r>
          </a:p>
          <a:p>
            <a:pPr marL="0" indent="0" algn="l">
              <a:lnSpc>
                <a:spcPct val="100000"/>
              </a:lnSpc>
            </a:pPr>
            <a:r>
              <a:rPr lang="en-US" sz="1400" b="0" i="0" u="none" strike="noStrike" dirty="0">
                <a:solidFill>
                  <a:srgbClr val="000000"/>
                </a:solidFill>
              </a:rPr>
              <a:t>In contrast, Gradient Boosting, while competitive in accuracy, has a very long training time of over 160 seconds, which is impractical for scenarios requiring quick retraining or real-time inference.</a:t>
            </a:r>
          </a:p>
          <a:p>
            <a:pPr marL="0" indent="0" algn="l">
              <a:lnSpc>
                <a:spcPct val="100000"/>
              </a:lnSpc>
            </a:pPr>
            <a:r>
              <a:rPr lang="en-US" sz="1400" b="0" i="0" u="none" strike="noStrike" dirty="0">
                <a:solidFill>
                  <a:srgbClr val="000000"/>
                </a:solidFill>
              </a:rPr>
              <a:t>Baseline models like the standard Decision Tree lag significantly behind, highlighting the value of ensemble methods like Random Forest for this problem.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对本次项目进行总结。我们的主要结论是：随机森林是最佳模型；无监督学习在此任务中无效；海拔是最关键的预测因子；并且在评估模型时必须考虑数据不均衡性。对于未来的工作，我们可以从特征工程、超参数调优、模型融合和处理少数类等方面进一步提升模型性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我的报告到此结束，感谢大家的聆听。现在是问答环节，欢迎大家提问。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sv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jpeg"/><Relationship Id="rId7"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9.jpeg"/><Relationship Id="rId6" Type="http://schemas.openxmlformats.org/officeDocument/2006/relationships/image" Target="../media/image10.jpeg"/><Relationship Id="rId7" Type="http://schemas.openxmlformats.org/officeDocument/2006/relationships/image" Target="../media/image11.jpeg"/><Relationship Id="rId8" Type="http://schemas.openxmlformats.org/officeDocument/2006/relationships/image" Target="../media/image12.jpe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4.jpeg"/><Relationship Id="rId4" Type="http://schemas.openxmlformats.org/officeDocument/2006/relationships/image" Target="../media/image15.png"/><Relationship Id="rId5"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7.svg"/><Relationship Id="rId4" Type="http://schemas.openxmlformats.org/officeDocument/2006/relationships/image" Target="../media/image18.svg"/><Relationship Id="rId5" Type="http://schemas.openxmlformats.org/officeDocument/2006/relationships/image" Target="../media/image19.svg"/><Relationship Id="rId6" Type="http://schemas.openxmlformats.org/officeDocument/2006/relationships/image" Target="../media/image20.svg"/><Relationship Id="rId7"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2.jpeg"/><Relationship Id="rId4" Type="http://schemas.openxmlformats.org/officeDocument/2006/relationships/image" Target="../media/image23.svg"/><Relationship Id="rId5" Type="http://schemas.openxmlformats.org/officeDocument/2006/relationships/image" Target="../media/image24.svg"/><Relationship Id="rId6" Type="http://schemas.openxmlformats.org/officeDocument/2006/relationships/image" Target="../media/image25.svg"/><Relationship Id="rId7" Type="http://schemas.openxmlformats.org/officeDocument/2006/relationships/image" Target="../media/image2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7.svg"/><Relationship Id="rId4" Type="http://schemas.openxmlformats.org/officeDocument/2006/relationships/image" Target="../media/image28.svg"/><Relationship Id="rId5" Type="http://schemas.openxmlformats.org/officeDocument/2006/relationships/image" Target="../media/image29.svg"/><Relationship Id="rId6" Type="http://schemas.openxmlformats.org/officeDocument/2006/relationships/image" Target="../media/image30.svg"/><Relationship Id="rId7" Type="http://schemas.openxmlformats.org/officeDocument/2006/relationships/image" Target="../media/image31.svg"/><Relationship Id="rId8" Type="http://schemas.openxmlformats.org/officeDocument/2006/relationships/image" Target="../media/image32.svg"/><Relationship Id="rId9" Type="http://schemas.openxmlformats.org/officeDocument/2006/relationships/image" Target="../media/image33.png"/><Relationship Id="rId10" Type="http://schemas.openxmlformats.org/officeDocument/2006/relationships/image" Target="../media/image3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5.png"/><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7.svg"/><Relationship Id="rId4" Type="http://schemas.openxmlformats.org/officeDocument/2006/relationships/image" Target="../media/image38.svg"/><Relationship Id="rId5" Type="http://schemas.openxmlformats.org/officeDocument/2006/relationships/image" Target="../media/image39.svg"/><Relationship Id="rId6" Type="http://schemas.openxmlformats.org/officeDocument/2006/relationships/image" Target="../media/image40.svg"/><Relationship Id="rId7" Type="http://schemas.openxmlformats.org/officeDocument/2006/relationships/image" Target="../media/image41.svg"/><Relationship Id="rId8" Type="http://schemas.openxmlformats.org/officeDocument/2006/relationships/image" Target="../media/image42.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4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7.jpeg"/><Relationship Id="rId4" Type="http://schemas.openxmlformats.org/officeDocument/2006/relationships/image" Target="../media/image48.svg"/><Relationship Id="rId5" Type="http://schemas.openxmlformats.org/officeDocument/2006/relationships/image" Target="../media/image49.svg"/><Relationship Id="rId6" Type="http://schemas.openxmlformats.org/officeDocument/2006/relationships/image" Target="../media/image50.svg"/><Relationship Id="rId7" Type="http://schemas.openxmlformats.org/officeDocument/2006/relationships/image" Target="../media/image51.png"/><Relationship Id="rId8" Type="http://schemas.openxmlformats.org/officeDocument/2006/relationships/image" Target="../media/image5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53.jpeg"/><Relationship Id="rId4" Type="http://schemas.openxmlformats.org/officeDocument/2006/relationships/image" Target="../media/image5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55.svg"/><Relationship Id="rId4" Type="http://schemas.openxmlformats.org/officeDocument/2006/relationships/image" Target="../media/image56.svg"/><Relationship Id="rId5" Type="http://schemas.openxmlformats.org/officeDocument/2006/relationships/image" Target="../media/image57.svg"/><Relationship Id="rId6" Type="http://schemas.openxmlformats.org/officeDocument/2006/relationships/image" Target="../media/image58.svg"/><Relationship Id="rId7" Type="http://schemas.openxmlformats.org/officeDocument/2006/relationships/image" Target="../media/image59.svg"/><Relationship Id="rId8" Type="http://schemas.openxmlformats.org/officeDocument/2006/relationships/image" Target="../media/image60.svg"/><Relationship Id="rId9" Type="http://schemas.openxmlformats.org/officeDocument/2006/relationships/image" Target="../media/image61.svg"/><Relationship Id="rId10" Type="http://schemas.openxmlformats.org/officeDocument/2006/relationships/image" Target="../media/image62.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63.jp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2F2E">
                <a:alpha val="100000"/>
              </a:srgbClr>
            </a:gs>
            <a:gs pos="100000">
              <a:srgbClr val="164E44">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9144000" y="-1270000"/>
            <a:ext cx="4064000" cy="4064000"/>
          </a:xfrm>
          <a:prstGeom prst="ellipse">
            <a:avLst/>
          </a:prstGeom>
          <a:solidFill>
            <a:srgbClr val="34D399">
              <a:alpha val="6000"/>
            </a:srgbClr>
          </a:solidFill>
          <a:ln cap="flat" cmpd="sng">
            <a:solidFill>
              <a:srgbClr val="1BB980">
                <a:alpha val="6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4318000"/>
            <a:ext cx="3556000" cy="3556000"/>
          </a:xfrm>
          <a:prstGeom prst="hexagon">
            <a:avLst/>
          </a:prstGeom>
          <a:solidFill>
            <a:srgbClr val="10B981">
              <a:alpha val="5000"/>
            </a:srgbClr>
          </a:solidFill>
          <a:ln cap="flat" cmpd="sng">
            <a:solidFill>
              <a:srgbClr val="00A06B">
                <a:alpha val="5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905000" y="2220685"/>
            <a:ext cx="152400" cy="152400"/>
          </a:xfrm>
          <a:prstGeom prst="ellipse">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0" y="5776685"/>
            <a:ext cx="101600" cy="101600"/>
          </a:xfrm>
          <a:prstGeom prst="ellipse">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1176000" y="1712685"/>
            <a:ext cx="203200" cy="203200"/>
          </a:xfrm>
          <a:prstGeom prst="ellipse">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91200" y="1458685"/>
            <a:ext cx="609600" cy="609600"/>
          </a:xfrm>
          <a:prstGeom prst="rect">
            <a:avLst/>
          </a:prstGeom>
        </p:spPr>
      </p:pic>
      <p:sp>
        <p:nvSpPr>
          <p:cNvPr id="8" name="AutoShape 8"/>
          <p:cNvSpPr/>
          <p:nvPr/>
        </p:nvSpPr>
        <p:spPr>
          <a:xfrm>
            <a:off x="381000" y="2474685"/>
            <a:ext cx="11430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200" b="1" i="0" u="none" strike="noStrike">
                <a:solidFill>
                  <a:srgbClr val="FFFFFF"/>
                </a:solidFill>
                <a:latin typeface="Poppins"/>
                <a:ea typeface="Poppins"/>
                <a:cs typeface="Poppins"/>
                <a:sym typeface="Poppins"/>
              </a:rPr>
              <a:t>Analysis and Prediction of Forest Cover Types</a:t>
            </a:r>
            <a:endParaRPr lang="en-US" sz="1100"/>
          </a:p>
        </p:txBody>
      </p:sp>
      <p:cxnSp>
        <p:nvCxnSpPr>
          <p:cNvPr id="9" name="Connector 9"/>
          <p:cNvCxnSpPr/>
          <p:nvPr/>
        </p:nvCxnSpPr>
        <p:spPr>
          <a:xfrm rot="-8594">
            <a:off x="3556008" y="4119335"/>
            <a:ext cx="5080000" cy="12700"/>
          </a:xfrm>
          <a:prstGeom prst="line">
            <a:avLst/>
          </a:prstGeom>
          <a:solidFill>
            <a:srgbClr val="DEE0E3">
              <a:alpha val="100000"/>
            </a:srgbClr>
          </a:solidFill>
          <a:ln w="25400" cap="flat" cmpd="sng">
            <a:solidFill>
              <a:srgbClr val="6EE7B7">
                <a:alpha val="40000"/>
              </a:srgbClr>
            </a:solidFill>
            <a:prstDash val="solid"/>
            <a:round/>
            <a:headEnd type="none" w="lg" len="lg"/>
            <a:tailEnd type="none" w="lg" len="lg"/>
          </a:ln>
        </p:spPr>
      </p:cxnSp>
      <p:sp>
        <p:nvSpPr>
          <p:cNvPr id="10" name="AutoShape 10"/>
          <p:cNvSpPr/>
          <p:nvPr/>
        </p:nvSpPr>
        <p:spPr>
          <a:xfrm>
            <a:off x="381000" y="4443185"/>
            <a:ext cx="1143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a:solidFill>
                  <a:srgbClr val="D1D5DB">
                    <a:alpha val="90196"/>
                  </a:srgbClr>
                </a:solidFill>
                <a:latin typeface="Poppins"/>
                <a:ea typeface="Poppins"/>
                <a:cs typeface="Poppins"/>
                <a:sym typeface="Poppins"/>
              </a:rPr>
              <a:t>DSAA2011 Summer Project Presentation</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468258" y="-1603869"/>
            <a:ext cx="3810000" cy="3810000"/>
          </a:xfrm>
          <a:prstGeom prst="ellipse">
            <a:avLst/>
          </a:prstGeom>
          <a:solidFill>
            <a:srgbClr val="10B981">
              <a:alpha val="5000"/>
            </a:srgbClr>
          </a:solidFill>
          <a:ln cap="flat" cmpd="sng">
            <a:solidFill>
              <a:srgbClr val="00A06B">
                <a:alpha val="5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270000" y="5080000"/>
            <a:ext cx="3175000" cy="3175000"/>
          </a:xfrm>
          <a:prstGeom prst="ellipse">
            <a:avLst/>
          </a:prstGeom>
          <a:solidFill>
            <a:srgbClr val="3B82F6">
              <a:alpha val="5000"/>
            </a:srgbClr>
          </a:solidFill>
          <a:ln cap="flat" cmpd="sng">
            <a:solidFill>
              <a:srgbClr val="1F67DD">
                <a:alpha val="5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863772" y="449742"/>
            <a:ext cx="5884638"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3200" b="1" i="0" u="none" strike="noStrike" dirty="0">
                <a:solidFill>
                  <a:srgbClr val="1F2329"/>
                </a:solidFill>
                <a:latin typeface="Noto Sans SC"/>
                <a:ea typeface="Noto Sans SC"/>
                <a:cs typeface="Noto Sans SC"/>
                <a:sym typeface="Noto Sans SC"/>
              </a:rPr>
              <a:t>01</a:t>
            </a:r>
            <a:r>
              <a:rPr lang="zh-CN" altLang="en-US" sz="3200" b="1" i="0" u="none" strike="noStrike" dirty="0">
                <a:solidFill>
                  <a:srgbClr val="1F2329"/>
                </a:solidFill>
                <a:latin typeface="Noto Sans SC"/>
                <a:ea typeface="Noto Sans SC"/>
                <a:cs typeface="Noto Sans SC"/>
                <a:sym typeface="Noto Sans SC"/>
              </a:rPr>
              <a:t> </a:t>
            </a:r>
            <a:r>
              <a:rPr lang="en-US" sz="3200" b="1" i="0" u="none" strike="noStrike" dirty="0">
                <a:solidFill>
                  <a:srgbClr val="1F2329"/>
                </a:solidFill>
                <a:latin typeface="Noto Sans SC"/>
                <a:ea typeface="Noto Sans SC"/>
                <a:cs typeface="Noto Sans SC"/>
                <a:sym typeface="Noto Sans SC"/>
              </a:rPr>
              <a:t>Dataset: UCI Forest </a:t>
            </a:r>
            <a:r>
              <a:rPr lang="en-US" sz="3200" b="1" i="0" u="none" strike="noStrike" dirty="0" err="1">
                <a:solidFill>
                  <a:srgbClr val="1F2329"/>
                </a:solidFill>
                <a:latin typeface="Noto Sans SC"/>
                <a:ea typeface="Noto Sans SC"/>
                <a:cs typeface="Noto Sans SC"/>
                <a:sym typeface="Noto Sans SC"/>
              </a:rPr>
              <a:t>Covertype</a:t>
            </a:r>
            <a:endParaRPr lang="en-US" sz="1100" dirty="0"/>
          </a:p>
        </p:txBody>
      </p:sp>
      <p:sp>
        <p:nvSpPr>
          <p:cNvPr id="5" name="AutoShape 5"/>
          <p:cNvSpPr/>
          <p:nvPr/>
        </p:nvSpPr>
        <p:spPr>
          <a:xfrm>
            <a:off x="633685" y="2866687"/>
            <a:ext cx="4572000" cy="1079500"/>
          </a:xfrm>
          <a:prstGeom prst="roundRect">
            <a:avLst>
              <a:gd name="adj" fmla="val 0"/>
            </a:avLst>
          </a:prstGeom>
          <a:solidFill>
            <a:srgbClr val="3B82F6">
              <a:alpha val="7000"/>
            </a:srgbClr>
          </a:solidFill>
          <a:ln cap="flat" cmpd="sng">
            <a:solidFill>
              <a:srgbClr val="1F67DD">
                <a:alpha val="7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4185" y="3095287"/>
            <a:ext cx="609600" cy="609600"/>
          </a:xfrm>
          <a:prstGeom prst="rect">
            <a:avLst/>
          </a:prstGeom>
        </p:spPr>
      </p:pic>
      <p:sp>
        <p:nvSpPr>
          <p:cNvPr id="7" name="AutoShape 7"/>
          <p:cNvSpPr/>
          <p:nvPr/>
        </p:nvSpPr>
        <p:spPr>
          <a:xfrm>
            <a:off x="1586185" y="2993687"/>
            <a:ext cx="3492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1F2329"/>
                </a:solidFill>
                <a:latin typeface="Noto Sans SC"/>
                <a:ea typeface="Noto Sans SC"/>
                <a:cs typeface="Noto Sans SC"/>
                <a:sym typeface="Noto Sans SC"/>
              </a:rPr>
              <a:t>581,012 Total Samples</a:t>
            </a:r>
            <a:endParaRPr lang="en-US" sz="1100"/>
          </a:p>
          <a:p>
            <a:pPr marL="0" indent="0" algn="l">
              <a:lnSpc>
                <a:spcPct val="100000"/>
              </a:lnSpc>
            </a:pPr>
            <a:r>
              <a:rPr lang="en-US" sz="1300" b="0" i="0" u="none" strike="noStrike">
                <a:solidFill>
                  <a:srgbClr val="6B7280"/>
                </a:solidFill>
                <a:latin typeface="Noto Sans SC"/>
                <a:ea typeface="Noto Sans SC"/>
                <a:cs typeface="Noto Sans SC"/>
                <a:sym typeface="Noto Sans SC"/>
              </a:rPr>
              <a:t>A massive repository of georeferenced observations covering 30x30 meter cells in the Roosevelt National Forest, Colorado.</a:t>
            </a:r>
          </a:p>
        </p:txBody>
      </p:sp>
      <p:sp>
        <p:nvSpPr>
          <p:cNvPr id="8" name="AutoShape 8"/>
          <p:cNvSpPr/>
          <p:nvPr/>
        </p:nvSpPr>
        <p:spPr>
          <a:xfrm>
            <a:off x="628242" y="4122258"/>
            <a:ext cx="4572000" cy="1079500"/>
          </a:xfrm>
          <a:prstGeom prst="roundRect">
            <a:avLst>
              <a:gd name="adj" fmla="val 0"/>
            </a:avLst>
          </a:prstGeom>
          <a:solidFill>
            <a:srgbClr val="10B981">
              <a:alpha val="7000"/>
            </a:srgbClr>
          </a:solidFill>
          <a:ln cap="flat" cmpd="sng">
            <a:solidFill>
              <a:srgbClr val="00A06B">
                <a:alpha val="7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8742" y="4350858"/>
            <a:ext cx="609600" cy="609600"/>
          </a:xfrm>
          <a:prstGeom prst="rect">
            <a:avLst/>
          </a:prstGeom>
        </p:spPr>
      </p:pic>
      <p:sp>
        <p:nvSpPr>
          <p:cNvPr id="10" name="AutoShape 10"/>
          <p:cNvSpPr/>
          <p:nvPr/>
        </p:nvSpPr>
        <p:spPr>
          <a:xfrm>
            <a:off x="1580742" y="4249258"/>
            <a:ext cx="3492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1F2329"/>
                </a:solidFill>
                <a:latin typeface="Noto Sans SC"/>
                <a:ea typeface="Noto Sans SC"/>
                <a:cs typeface="Noto Sans SC"/>
                <a:sym typeface="Noto Sans SC"/>
              </a:rPr>
              <a:t>54 Cartographic Features</a:t>
            </a:r>
            <a:endParaRPr lang="en-US" sz="1100"/>
          </a:p>
          <a:p>
            <a:pPr marL="0" indent="0" algn="l">
              <a:lnSpc>
                <a:spcPct val="100000"/>
              </a:lnSpc>
            </a:pPr>
            <a:r>
              <a:rPr lang="en-US" sz="1300" b="0" i="0" u="none" strike="noStrike">
                <a:solidFill>
                  <a:srgbClr val="6B7280"/>
                </a:solidFill>
                <a:latin typeface="Noto Sans SC"/>
                <a:ea typeface="Noto Sans SC"/>
                <a:cs typeface="Noto Sans SC"/>
                <a:sym typeface="Noto Sans SC"/>
              </a:rPr>
              <a:t>Includes 10 quantitative metrics (elevation, slope), 4 binary wilderness area flags, and 40 binary soil type indicators.</a:t>
            </a:r>
          </a:p>
        </p:txBody>
      </p:sp>
      <p:sp>
        <p:nvSpPr>
          <p:cNvPr id="11" name="AutoShape 11"/>
          <p:cNvSpPr/>
          <p:nvPr/>
        </p:nvSpPr>
        <p:spPr>
          <a:xfrm>
            <a:off x="628242" y="5328758"/>
            <a:ext cx="4572000" cy="1079500"/>
          </a:xfrm>
          <a:prstGeom prst="roundRect">
            <a:avLst>
              <a:gd name="adj" fmla="val 0"/>
            </a:avLst>
          </a:prstGeom>
          <a:solidFill>
            <a:srgbClr val="F59E0B">
              <a:alpha val="7000"/>
            </a:srgbClr>
          </a:solidFill>
          <a:ln cap="flat" cmpd="sng">
            <a:solidFill>
              <a:srgbClr val="DC8A00">
                <a:alpha val="7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8742" y="5557358"/>
            <a:ext cx="609600" cy="609600"/>
          </a:xfrm>
          <a:prstGeom prst="rect">
            <a:avLst/>
          </a:prstGeom>
        </p:spPr>
      </p:pic>
      <p:sp>
        <p:nvSpPr>
          <p:cNvPr id="13" name="AutoShape 13"/>
          <p:cNvSpPr/>
          <p:nvPr/>
        </p:nvSpPr>
        <p:spPr>
          <a:xfrm>
            <a:off x="1580742" y="5455758"/>
            <a:ext cx="3492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1F2329"/>
                </a:solidFill>
                <a:latin typeface="Noto Sans SC"/>
                <a:ea typeface="Noto Sans SC"/>
                <a:cs typeface="Noto Sans SC"/>
                <a:sym typeface="Noto Sans SC"/>
              </a:rPr>
              <a:t>7 Forest Cover Classes</a:t>
            </a:r>
            <a:endParaRPr lang="en-US" sz="1100"/>
          </a:p>
          <a:p>
            <a:pPr marL="0" indent="0" algn="l">
              <a:lnSpc>
                <a:spcPct val="100000"/>
              </a:lnSpc>
            </a:pPr>
            <a:r>
              <a:rPr lang="en-US" sz="1300" b="0" i="0" u="none" strike="noStrike">
                <a:solidFill>
                  <a:srgbClr val="6B7280"/>
                </a:solidFill>
                <a:latin typeface="Noto Sans SC"/>
                <a:ea typeface="Noto Sans SC"/>
                <a:cs typeface="Noto Sans SC"/>
                <a:sym typeface="Noto Sans SC"/>
              </a:rPr>
              <a:t>Classifies forest cover based on dominant tree species, ranging from Spruce/Fir (Class 1) to Krummholz (Class 7).</a:t>
            </a:r>
          </a:p>
        </p:txBody>
      </p:sp>
      <p:pic>
        <p:nvPicPr>
          <p:cNvPr id="18" name="Picture 4">
            <a:extLst>
              <a:ext uri="{FF2B5EF4-FFF2-40B4-BE49-F238E27FC236}">
                <a16:creationId xmlns:a16="http://schemas.microsoft.com/office/drawing/2014/main" id="{B3790391-0FDC-AEEE-6745-92725874D6AF}"/>
              </a:ext>
            </a:extLst>
          </p:cNvPr>
          <p:cNvPicPr>
            <a:picLocks noChangeAspect="1"/>
          </p:cNvPicPr>
          <p:nvPr/>
        </p:nvPicPr>
        <p:blipFill>
          <a:blip r:embed="rId6"/>
          <a:srcRect l="67" r="67"/>
          <a:stretch>
            <a:fillRect/>
          </a:stretch>
        </p:blipFill>
        <p:spPr>
          <a:xfrm>
            <a:off x="771117" y="753669"/>
            <a:ext cx="4286250" cy="1546112"/>
          </a:xfrm>
          <a:prstGeom prst="rect">
            <a:avLst/>
          </a:prstGeom>
          <a:ln w="228600" cap="sq" cmpd="thickThin">
            <a:solidFill>
              <a:srgbClr val="000000"/>
            </a:solidFill>
            <a:prstDash val="solid"/>
            <a:miter lim="800000"/>
          </a:ln>
          <a:effectLst>
            <a:innerShdw blurRad="76200">
              <a:srgbClr val="000000"/>
            </a:innerShdw>
          </a:effectLst>
        </p:spPr>
      </p:pic>
      <p:sp>
        <p:nvSpPr>
          <p:cNvPr id="20" name="AutoShape 17">
            <a:extLst>
              <a:ext uri="{FF2B5EF4-FFF2-40B4-BE49-F238E27FC236}">
                <a16:creationId xmlns:a16="http://schemas.microsoft.com/office/drawing/2014/main" id="{31802829-19DA-3CE0-AC77-00A2C56227E3}"/>
              </a:ext>
            </a:extLst>
          </p:cNvPr>
          <p:cNvSpPr/>
          <p:nvPr/>
        </p:nvSpPr>
        <p:spPr>
          <a:xfrm>
            <a:off x="6312978" y="4947849"/>
            <a:ext cx="5029936" cy="1460409"/>
          </a:xfrm>
          <a:prstGeom prst="roundRect">
            <a:avLst>
              <a:gd name="adj" fmla="val 0"/>
            </a:avLst>
          </a:prstGeom>
          <a:solidFill>
            <a:srgbClr val="22543D">
              <a:alpha val="8000"/>
            </a:srgbClr>
          </a:solidFill>
          <a:ln w="12700" cap="flat" cmpd="sng">
            <a:solidFill>
              <a:srgbClr val="22543D">
                <a:alpha val="30000"/>
              </a:srgbClr>
            </a:solidFill>
            <a:prstDash val="solid"/>
            <a:round/>
          </a:ln>
        </p:spPr>
        <p:txBody>
          <a:bodyPr vert="horz" wrap="square" lIns="63500" tIns="63500" rIns="63500" bIns="63500" rtlCol="0" anchor="ctr"/>
          <a:lstStyle/>
          <a:p>
            <a:pPr algn="ctr">
              <a:defRPr/>
            </a:pPr>
            <a:endParaRPr/>
          </a:p>
        </p:txBody>
      </p:sp>
      <p:sp>
        <p:nvSpPr>
          <p:cNvPr id="21" name="AutoShape 18">
            <a:extLst>
              <a:ext uri="{FF2B5EF4-FFF2-40B4-BE49-F238E27FC236}">
                <a16:creationId xmlns:a16="http://schemas.microsoft.com/office/drawing/2014/main" id="{8629F95D-C161-8D10-FBBE-56C16ADA3064}"/>
              </a:ext>
            </a:extLst>
          </p:cNvPr>
          <p:cNvSpPr/>
          <p:nvPr/>
        </p:nvSpPr>
        <p:spPr>
          <a:xfrm>
            <a:off x="7375912" y="4997998"/>
            <a:ext cx="3317818"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22543D"/>
                </a:solidFill>
                <a:latin typeface="Noto Sans SC"/>
                <a:ea typeface="Noto Sans SC"/>
                <a:cs typeface="Noto Sans SC"/>
                <a:sym typeface="Noto Sans SC"/>
              </a:rPr>
              <a:t>Key Finding: Severe Class Imbalance</a:t>
            </a:r>
            <a:endParaRPr lang="en-US" sz="1100" dirty="0"/>
          </a:p>
        </p:txBody>
      </p:sp>
      <p:sp>
        <p:nvSpPr>
          <p:cNvPr id="22" name="AutoShape 19">
            <a:extLst>
              <a:ext uri="{FF2B5EF4-FFF2-40B4-BE49-F238E27FC236}">
                <a16:creationId xmlns:a16="http://schemas.microsoft.com/office/drawing/2014/main" id="{35C7F9E8-A760-4FAB-B8C5-2DD6821990B0}"/>
              </a:ext>
            </a:extLst>
          </p:cNvPr>
          <p:cNvSpPr/>
          <p:nvPr/>
        </p:nvSpPr>
        <p:spPr>
          <a:xfrm>
            <a:off x="6455535" y="5265258"/>
            <a:ext cx="4744821"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b="0" i="0" u="none" strike="noStrike" dirty="0">
                <a:solidFill>
                  <a:srgbClr val="374151"/>
                </a:solidFill>
                <a:latin typeface="Noto Sans SC"/>
                <a:ea typeface="Noto Sans SC"/>
                <a:cs typeface="Noto Sans SC"/>
                <a:sym typeface="Noto Sans SC"/>
              </a:rPr>
              <a:t>Pine and spruce/fir account for over 85%, while aspen and other categories have extremely low proportions. Thus, we must focus on the</a:t>
            </a:r>
            <a:r>
              <a:rPr lang="zh-CN" altLang="en-US" b="0" i="0" u="none" strike="noStrike" dirty="0">
                <a:solidFill>
                  <a:srgbClr val="374151"/>
                </a:solidFill>
                <a:latin typeface="Noto Sans SC"/>
                <a:ea typeface="Noto Sans SC"/>
                <a:cs typeface="Noto Sans SC"/>
                <a:sym typeface="Noto Sans SC"/>
              </a:rPr>
              <a:t> </a:t>
            </a:r>
            <a:r>
              <a:rPr lang="en-US" b="1" i="0" u="none" strike="noStrike" dirty="0">
                <a:solidFill>
                  <a:srgbClr val="374151"/>
                </a:solidFill>
                <a:latin typeface="Noto Sans SC"/>
                <a:ea typeface="Noto Sans SC"/>
                <a:cs typeface="Noto Sans SC"/>
                <a:sym typeface="Noto Sans SC"/>
              </a:rPr>
              <a:t>Macro-averaged F1-score</a:t>
            </a:r>
            <a:r>
              <a:rPr lang="en-US" b="0" i="0" u="none" strike="noStrike" dirty="0">
                <a:solidFill>
                  <a:srgbClr val="374151"/>
                </a:solidFill>
                <a:latin typeface="Noto Sans SC"/>
                <a:ea typeface="Noto Sans SC"/>
                <a:cs typeface="Noto Sans SC"/>
                <a:sym typeface="Noto Sans SC"/>
              </a:rPr>
              <a:t>(instead of overall accuracy) to measure minority class recognition and avoid majority-class bias.</a:t>
            </a:r>
            <a:endParaRPr lang="en-US" dirty="0"/>
          </a:p>
        </p:txBody>
      </p:sp>
      <p:pic>
        <p:nvPicPr>
          <p:cNvPr id="23" name="图片 22">
            <a:extLst>
              <a:ext uri="{FF2B5EF4-FFF2-40B4-BE49-F238E27FC236}">
                <a16:creationId xmlns:a16="http://schemas.microsoft.com/office/drawing/2014/main" id="{F219B36C-1534-711F-621A-EF8621C7D272}"/>
              </a:ext>
            </a:extLst>
          </p:cNvPr>
          <p:cNvPicPr>
            <a:picLocks noChangeAspect="1"/>
          </p:cNvPicPr>
          <p:nvPr/>
        </p:nvPicPr>
        <p:blipFill>
          <a:blip r:embed="rId7"/>
          <a:stretch>
            <a:fillRect/>
          </a:stretch>
        </p:blipFill>
        <p:spPr>
          <a:xfrm>
            <a:off x="5970243" y="1469562"/>
            <a:ext cx="5478470" cy="325144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AutoShape 10">
            <a:extLst>
              <a:ext uri="{FF2B5EF4-FFF2-40B4-BE49-F238E27FC236}">
                <a16:creationId xmlns:a16="http://schemas.microsoft.com/office/drawing/2014/main" id="{C2F1D397-2444-B1D7-098B-EE291462CB36}"/>
              </a:ext>
            </a:extLst>
          </p:cNvPr>
          <p:cNvSpPr/>
          <p:nvPr/>
        </p:nvSpPr>
        <p:spPr>
          <a:xfrm>
            <a:off x="606056" y="1270000"/>
            <a:ext cx="10950944" cy="889000"/>
          </a:xfrm>
          <a:prstGeom prst="roundRect">
            <a:avLst>
              <a:gd name="adj" fmla="val 0"/>
            </a:avLst>
          </a:prstGeom>
          <a:solidFill>
            <a:srgbClr val="FFFFFF">
              <a:alpha val="60000"/>
            </a:srgbClr>
          </a:solidFill>
          <a:ln w="12700" cap="flat" cmpd="sng">
            <a:solidFill>
              <a:srgbClr val="22543D">
                <a:alpha val="10000"/>
              </a:srgbClr>
            </a:solidFill>
            <a:prstDash val="solid"/>
            <a:round/>
          </a:ln>
        </p:spPr>
        <p:txBody>
          <a:bodyPr vert="horz" wrap="square" lIns="63500" tIns="63500" rIns="63500" bIns="63500" rtlCol="0" anchor="ctr"/>
          <a:lstStyle/>
          <a:p>
            <a:pPr algn="ctr">
              <a:defRPr/>
            </a:pPr>
            <a:endParaRPr/>
          </a:p>
        </p:txBody>
      </p:sp>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411034"/>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1F2937"/>
                </a:solidFill>
                <a:latin typeface="Noto Sans SC"/>
                <a:ea typeface="Noto Sans SC"/>
                <a:cs typeface="Noto Sans SC"/>
                <a:sym typeface="Noto Sans SC"/>
              </a:rPr>
              <a:t>Overview of the Seven Forest Cover Types</a:t>
            </a:r>
            <a:endParaRPr lang="en-US" sz="1100" dirty="0"/>
          </a:p>
        </p:txBody>
      </p:sp>
      <p:sp>
        <p:nvSpPr>
          <p:cNvPr id="4" name="AutoShape 4"/>
          <p:cNvSpPr/>
          <p:nvPr/>
        </p:nvSpPr>
        <p:spPr>
          <a:xfrm>
            <a:off x="762000" y="13335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a:solidFill>
                  <a:srgbClr val="4B5563"/>
                </a:solidFill>
                <a:latin typeface="Noto Sans SC"/>
                <a:ea typeface="Noto Sans SC"/>
                <a:cs typeface="Noto Sans SC"/>
                <a:sym typeface="Noto Sans SC"/>
              </a:rPr>
              <a:t>Forest cover types are fundamental indicators for ecological monitoring and land use analysis. This page visually presents seven representative forest vegetation types in North America through typical imagery, from high-altitude coniferous forests to riparian broadleaf forests</a:t>
            </a:r>
            <a:r>
              <a:rPr lang="en-US" sz="1300" dirty="0">
                <a:solidFill>
                  <a:srgbClr val="4B5563"/>
                </a:solidFill>
                <a:latin typeface="Noto Sans SC"/>
                <a:ea typeface="Noto Sans SC"/>
                <a:cs typeface="Noto Sans SC"/>
                <a:sym typeface="Noto Sans SC"/>
              </a:rPr>
              <a:t>.</a:t>
            </a:r>
            <a:endParaRPr lang="en-US" sz="1100" dirty="0"/>
          </a:p>
        </p:txBody>
      </p:sp>
      <p:sp>
        <p:nvSpPr>
          <p:cNvPr id="5" name="AutoShape 5"/>
          <p:cNvSpPr/>
          <p:nvPr/>
        </p:nvSpPr>
        <p:spPr>
          <a:xfrm>
            <a:off x="762000" y="2286000"/>
            <a:ext cx="26035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srcRect l="16649" r="16649"/>
          <a:stretch>
            <a:fillRect/>
          </a:stretch>
        </p:blipFill>
        <p:spPr>
          <a:xfrm>
            <a:off x="889000" y="2438400"/>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AutoShape 7"/>
          <p:cNvSpPr/>
          <p:nvPr/>
        </p:nvSpPr>
        <p:spPr>
          <a:xfrm>
            <a:off x="2095500" y="2413000"/>
            <a:ext cx="12446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600" b="1" i="0" u="none" strike="noStrike" dirty="0">
                <a:solidFill>
                  <a:srgbClr val="22543D"/>
                </a:solidFill>
                <a:latin typeface="Noto Sans SC"/>
                <a:ea typeface="Noto Sans SC"/>
                <a:cs typeface="Noto Sans SC"/>
                <a:sym typeface="Noto Sans SC"/>
              </a:rPr>
              <a:t>01</a:t>
            </a:r>
            <a:endParaRPr lang="en-US" sz="1100" dirty="0"/>
          </a:p>
          <a:p>
            <a:pPr marL="0" indent="0" algn="l">
              <a:lnSpc>
                <a:spcPct val="100000"/>
              </a:lnSpc>
            </a:pPr>
            <a:r>
              <a:rPr lang="en-US" sz="1200" b="1" i="0" u="none" strike="noStrike" dirty="0">
                <a:solidFill>
                  <a:srgbClr val="1F2937"/>
                </a:solidFill>
                <a:latin typeface="Noto Sans SC"/>
                <a:ea typeface="Noto Sans SC"/>
                <a:cs typeface="Noto Sans SC"/>
                <a:sym typeface="Noto Sans SC"/>
              </a:rPr>
              <a:t>Spruce/Fir</a:t>
            </a:r>
          </a:p>
          <a:p>
            <a:pPr marL="0" indent="0" algn="l">
              <a:lnSpc>
                <a:spcPct val="100000"/>
              </a:lnSpc>
              <a:spcBef>
                <a:spcPts val="400"/>
              </a:spcBef>
            </a:pPr>
            <a:r>
              <a:rPr lang="en-US" sz="1000" b="0" i="0" u="none" strike="noStrike" dirty="0">
                <a:solidFill>
                  <a:srgbClr val="4B5563"/>
                </a:solidFill>
                <a:latin typeface="Noto Sans SC"/>
                <a:ea typeface="Noto Sans SC"/>
                <a:cs typeface="Noto Sans SC"/>
                <a:sym typeface="Noto Sans SC"/>
              </a:rPr>
              <a:t>Cold-hardy evergreen conifers with dense foliage, adapted to cold high-altitude climates, and are dominant species in the boreal forest.</a:t>
            </a:r>
          </a:p>
        </p:txBody>
      </p:sp>
      <p:sp>
        <p:nvSpPr>
          <p:cNvPr id="8" name="AutoShape 8"/>
          <p:cNvSpPr/>
          <p:nvPr/>
        </p:nvSpPr>
        <p:spPr>
          <a:xfrm>
            <a:off x="3492500" y="2286000"/>
            <a:ext cx="26035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4"/>
          <a:srcRect l="14192" r="14192"/>
          <a:stretch>
            <a:fillRect/>
          </a:stretch>
        </p:blipFill>
        <p:spPr>
          <a:xfrm>
            <a:off x="3619500" y="2438400"/>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0" name="AutoShape 10"/>
          <p:cNvSpPr/>
          <p:nvPr/>
        </p:nvSpPr>
        <p:spPr>
          <a:xfrm>
            <a:off x="4826000" y="2413000"/>
            <a:ext cx="12446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600" b="1" i="0" u="none" strike="noStrike" dirty="0">
                <a:solidFill>
                  <a:srgbClr val="22543D"/>
                </a:solidFill>
                <a:latin typeface="Noto Sans SC"/>
                <a:ea typeface="Noto Sans SC"/>
                <a:cs typeface="Noto Sans SC"/>
                <a:sym typeface="Noto Sans SC"/>
              </a:rPr>
              <a:t>02</a:t>
            </a:r>
            <a:endParaRPr lang="en-US" sz="1100" dirty="0"/>
          </a:p>
          <a:p>
            <a:pPr marL="0" indent="0" algn="l">
              <a:lnSpc>
                <a:spcPct val="100000"/>
              </a:lnSpc>
            </a:pPr>
            <a:r>
              <a:rPr lang="en-US" sz="1200" b="1" i="0" u="none" strike="noStrike" dirty="0">
                <a:solidFill>
                  <a:srgbClr val="1F2937"/>
                </a:solidFill>
                <a:latin typeface="Noto Sans SC"/>
                <a:ea typeface="Noto Sans SC"/>
                <a:cs typeface="Noto Sans SC"/>
                <a:sym typeface="Noto Sans SC"/>
              </a:rPr>
              <a:t>Lodgepole Pine</a:t>
            </a:r>
          </a:p>
          <a:p>
            <a:pPr marL="0" indent="0" algn="l">
              <a:lnSpc>
                <a:spcPct val="100000"/>
              </a:lnSpc>
              <a:spcBef>
                <a:spcPts val="400"/>
              </a:spcBef>
            </a:pPr>
            <a:r>
              <a:rPr lang="en-US" sz="1000" b="0" i="0" u="none" strike="noStrike" dirty="0">
                <a:solidFill>
                  <a:srgbClr val="4B5563"/>
                </a:solidFill>
                <a:latin typeface="Noto Sans SC"/>
                <a:ea typeface="Noto Sans SC"/>
                <a:cs typeface="Noto Sans SC"/>
                <a:sym typeface="Noto Sans SC"/>
              </a:rPr>
              <a:t>Tall, straight trunks, often densely distributed, and one of the pioneer species for post-fire forest recovery in western North America.</a:t>
            </a:r>
          </a:p>
        </p:txBody>
      </p:sp>
      <p:sp>
        <p:nvSpPr>
          <p:cNvPr id="11" name="AutoShape 11"/>
          <p:cNvSpPr/>
          <p:nvPr/>
        </p:nvSpPr>
        <p:spPr>
          <a:xfrm>
            <a:off x="6223000" y="2286000"/>
            <a:ext cx="26035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5"/>
          <a:srcRect l="20687" r="20687"/>
          <a:stretch>
            <a:fillRect/>
          </a:stretch>
        </p:blipFill>
        <p:spPr>
          <a:xfrm>
            <a:off x="6350000" y="2438400"/>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3" name="AutoShape 13"/>
          <p:cNvSpPr/>
          <p:nvPr/>
        </p:nvSpPr>
        <p:spPr>
          <a:xfrm>
            <a:off x="7556500" y="2413000"/>
            <a:ext cx="12446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600" b="1" i="0" u="none" strike="noStrike" dirty="0">
                <a:solidFill>
                  <a:srgbClr val="22543D"/>
                </a:solidFill>
                <a:latin typeface="Noto Sans SC"/>
                <a:ea typeface="Noto Sans SC"/>
                <a:cs typeface="Noto Sans SC"/>
                <a:sym typeface="Noto Sans SC"/>
              </a:rPr>
              <a:t>03</a:t>
            </a:r>
            <a:endParaRPr lang="en-US" sz="1100" dirty="0"/>
          </a:p>
          <a:p>
            <a:pPr marL="0" indent="0" algn="l">
              <a:lnSpc>
                <a:spcPct val="100000"/>
              </a:lnSpc>
            </a:pPr>
            <a:r>
              <a:rPr lang="en-US" sz="1200" b="1" i="0" u="none" strike="noStrike" dirty="0">
                <a:solidFill>
                  <a:srgbClr val="1F2937"/>
                </a:solidFill>
                <a:latin typeface="Noto Sans SC"/>
                <a:ea typeface="Noto Sans SC"/>
                <a:cs typeface="Noto Sans SC"/>
                <a:sym typeface="Noto Sans SC"/>
              </a:rPr>
              <a:t>Ponderosa Pine</a:t>
            </a:r>
          </a:p>
          <a:p>
            <a:pPr marL="0" indent="0" algn="l">
              <a:lnSpc>
                <a:spcPct val="100000"/>
              </a:lnSpc>
              <a:spcBef>
                <a:spcPts val="400"/>
              </a:spcBef>
            </a:pPr>
            <a:r>
              <a:rPr lang="en-US" sz="1000" b="0" i="0" u="none" strike="noStrike" dirty="0">
                <a:solidFill>
                  <a:srgbClr val="4B5563"/>
                </a:solidFill>
                <a:latin typeface="Noto Sans SC"/>
                <a:ea typeface="Noto Sans SC"/>
                <a:cs typeface="Noto Sans SC"/>
                <a:sym typeface="Noto Sans SC"/>
              </a:rPr>
              <a:t>Distinctive orange-yellow scaly bark, drought-tolerant, mainly distributed in warm, dry low-altitude mountainous areas.</a:t>
            </a:r>
          </a:p>
        </p:txBody>
      </p:sp>
      <p:sp>
        <p:nvSpPr>
          <p:cNvPr id="14" name="AutoShape 14"/>
          <p:cNvSpPr/>
          <p:nvPr/>
        </p:nvSpPr>
        <p:spPr>
          <a:xfrm>
            <a:off x="8953500" y="2286000"/>
            <a:ext cx="26035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6"/>
          <a:srcRect t="10000" b="10000"/>
          <a:stretch>
            <a:fillRect/>
          </a:stretch>
        </p:blipFill>
        <p:spPr>
          <a:xfrm>
            <a:off x="9080500" y="2438400"/>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6" name="AutoShape 16"/>
          <p:cNvSpPr/>
          <p:nvPr/>
        </p:nvSpPr>
        <p:spPr>
          <a:xfrm>
            <a:off x="10287000" y="2413000"/>
            <a:ext cx="12446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600" b="1" i="0" u="none" strike="noStrike" dirty="0">
                <a:solidFill>
                  <a:srgbClr val="22543D"/>
                </a:solidFill>
                <a:latin typeface="Noto Sans SC"/>
                <a:ea typeface="Noto Sans SC"/>
                <a:cs typeface="Noto Sans SC"/>
                <a:sym typeface="Noto Sans SC"/>
              </a:rPr>
              <a:t>04</a:t>
            </a:r>
            <a:endParaRPr lang="en-US" sz="1100" dirty="0"/>
          </a:p>
          <a:p>
            <a:pPr marL="0" indent="0" algn="l">
              <a:lnSpc>
                <a:spcPct val="100000"/>
              </a:lnSpc>
            </a:pPr>
            <a:r>
              <a:rPr lang="en-US" sz="1200" b="1" i="0" u="none" strike="noStrike" dirty="0">
                <a:solidFill>
                  <a:srgbClr val="1F2937"/>
                </a:solidFill>
                <a:latin typeface="Noto Sans SC"/>
                <a:ea typeface="Noto Sans SC"/>
                <a:cs typeface="Noto Sans SC"/>
                <a:sym typeface="Noto Sans SC"/>
              </a:rPr>
              <a:t>Cottonwood</a:t>
            </a:r>
          </a:p>
          <a:p>
            <a:pPr marL="0" indent="0" algn="l">
              <a:lnSpc>
                <a:spcPct val="100000"/>
              </a:lnSpc>
              <a:spcBef>
                <a:spcPts val="400"/>
              </a:spcBef>
            </a:pPr>
            <a:r>
              <a:rPr lang="en-US" sz="1000" b="0" i="0" u="none" strike="noStrike" dirty="0">
                <a:solidFill>
                  <a:srgbClr val="4B5563"/>
                </a:solidFill>
                <a:latin typeface="Noto Sans SC"/>
                <a:ea typeface="Noto Sans SC"/>
                <a:cs typeface="Noto Sans SC"/>
                <a:sym typeface="Noto Sans SC"/>
              </a:rPr>
              <a:t>Typical riparian deciduous broadleaf forests, fast-growing, highly dependent on water, with unique winter branch morphology.</a:t>
            </a:r>
          </a:p>
        </p:txBody>
      </p:sp>
      <p:sp>
        <p:nvSpPr>
          <p:cNvPr id="17" name="AutoShape 17"/>
          <p:cNvSpPr/>
          <p:nvPr/>
        </p:nvSpPr>
        <p:spPr>
          <a:xfrm>
            <a:off x="762000" y="4381500"/>
            <a:ext cx="33782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7"/>
          <a:srcRect l="16484" r="16484"/>
          <a:stretch>
            <a:fillRect/>
          </a:stretch>
        </p:blipFill>
        <p:spPr>
          <a:xfrm>
            <a:off x="889000" y="4533900"/>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9" name="AutoShape 19"/>
          <p:cNvSpPr/>
          <p:nvPr/>
        </p:nvSpPr>
        <p:spPr>
          <a:xfrm>
            <a:off x="2095500" y="4508500"/>
            <a:ext cx="2032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400" b="1" i="0" u="none" strike="noStrike" dirty="0">
                <a:solidFill>
                  <a:srgbClr val="22543D"/>
                </a:solidFill>
                <a:latin typeface="Noto Sans SC"/>
                <a:ea typeface="Noto Sans SC"/>
                <a:cs typeface="Noto Sans SC"/>
                <a:sym typeface="Noto Sans SC"/>
              </a:rPr>
              <a:t>05 Aspen</a:t>
            </a:r>
            <a:endParaRPr lang="en-US" sz="1100" dirty="0"/>
          </a:p>
          <a:p>
            <a:pPr marL="0" indent="0" algn="l">
              <a:lnSpc>
                <a:spcPct val="100000"/>
              </a:lnSpc>
              <a:spcBef>
                <a:spcPts val="400"/>
              </a:spcBef>
            </a:pPr>
            <a:r>
              <a:rPr lang="en-US" sz="1100" b="0" i="0" u="none" strike="noStrike" dirty="0">
                <a:solidFill>
                  <a:srgbClr val="4B5563"/>
                </a:solidFill>
                <a:latin typeface="Noto Sans SC"/>
                <a:ea typeface="Noto Sans SC"/>
                <a:cs typeface="Noto Sans SC"/>
                <a:sym typeface="Noto Sans SC"/>
              </a:rPr>
              <a:t>Smooth white trunks, golden leaves in autumn, often forming spectacular pure stands. As a fast-growing species, it plays an important role in forest succession.</a:t>
            </a:r>
          </a:p>
        </p:txBody>
      </p:sp>
      <p:sp>
        <p:nvSpPr>
          <p:cNvPr id="20" name="AutoShape 20"/>
          <p:cNvSpPr/>
          <p:nvPr/>
        </p:nvSpPr>
        <p:spPr>
          <a:xfrm>
            <a:off x="4394200" y="4381500"/>
            <a:ext cx="33782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8"/>
          <a:srcRect t="16629" b="16629"/>
          <a:stretch>
            <a:fillRect/>
          </a:stretch>
        </p:blipFill>
        <p:spPr>
          <a:xfrm>
            <a:off x="4489450" y="4575432"/>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2" name="AutoShape 22"/>
          <p:cNvSpPr/>
          <p:nvPr/>
        </p:nvSpPr>
        <p:spPr>
          <a:xfrm>
            <a:off x="5727700" y="4508500"/>
            <a:ext cx="2032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400" b="1" i="0" u="none" strike="noStrike">
                <a:solidFill>
                  <a:srgbClr val="22543D"/>
                </a:solidFill>
                <a:latin typeface="Noto Sans SC"/>
                <a:ea typeface="Noto Sans SC"/>
                <a:cs typeface="Noto Sans SC"/>
                <a:sym typeface="Noto Sans SC"/>
              </a:rPr>
              <a:t>06 Douglas-fir</a:t>
            </a:r>
            <a:endParaRPr lang="en-US" sz="1100"/>
          </a:p>
          <a:p>
            <a:pPr marL="0" indent="0" algn="l">
              <a:lnSpc>
                <a:spcPct val="100000"/>
              </a:lnSpc>
              <a:spcBef>
                <a:spcPts val="400"/>
              </a:spcBef>
            </a:pPr>
            <a:r>
              <a:rPr lang="en-US" sz="1100" b="0" i="0" u="none" strike="noStrike">
                <a:solidFill>
                  <a:srgbClr val="4B5563"/>
                </a:solidFill>
                <a:latin typeface="Noto Sans SC"/>
                <a:ea typeface="Noto Sans SC"/>
                <a:cs typeface="Noto Sans SC"/>
                <a:sym typeface="Noto Sans SC"/>
              </a:rPr>
              <a:t>One of the tallest tree species in the world, with a straight shape and excellent wood quality. It is not only an important commercial timber but also a key component of forest ecosystems.</a:t>
            </a:r>
          </a:p>
        </p:txBody>
      </p:sp>
      <p:sp>
        <p:nvSpPr>
          <p:cNvPr id="23" name="AutoShape 23"/>
          <p:cNvSpPr/>
          <p:nvPr/>
        </p:nvSpPr>
        <p:spPr>
          <a:xfrm>
            <a:off x="8026400" y="4381500"/>
            <a:ext cx="33782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9359900" y="4508500"/>
            <a:ext cx="2032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400" b="1" i="0" u="none" strike="noStrike" dirty="0">
                <a:solidFill>
                  <a:srgbClr val="22543D"/>
                </a:solidFill>
                <a:latin typeface="Noto Sans SC"/>
                <a:ea typeface="Noto Sans SC"/>
                <a:cs typeface="Noto Sans SC"/>
                <a:sym typeface="Noto Sans SC"/>
              </a:rPr>
              <a:t>07 Krummholz</a:t>
            </a:r>
            <a:endParaRPr lang="en-US" sz="1100" dirty="0"/>
          </a:p>
          <a:p>
            <a:pPr marL="0" indent="0" algn="l">
              <a:lnSpc>
                <a:spcPct val="100000"/>
              </a:lnSpc>
              <a:spcBef>
                <a:spcPts val="400"/>
              </a:spcBef>
            </a:pPr>
            <a:r>
              <a:rPr lang="en-US" sz="1100" b="0" i="0" u="none" strike="noStrike" dirty="0">
                <a:solidFill>
                  <a:srgbClr val="4B5563"/>
                </a:solidFill>
                <a:latin typeface="Noto Sans SC"/>
                <a:ea typeface="Noto Sans SC"/>
                <a:cs typeface="Noto Sans SC"/>
                <a:sym typeface="Noto Sans SC"/>
              </a:rPr>
              <a:t>Growing above the alpine tree line, shaped into low, curved shrubs by strong winds and severe cold, it is a unique symbol of high-altitude ecosystems.</a:t>
            </a:r>
          </a:p>
        </p:txBody>
      </p:sp>
      <p:pic>
        <p:nvPicPr>
          <p:cNvPr id="27" name="图片 26" descr="Krummholz: Tough Trees at Timberline | Montana Natural History Center">
            <a:extLst>
              <a:ext uri="{FF2B5EF4-FFF2-40B4-BE49-F238E27FC236}">
                <a16:creationId xmlns:a16="http://schemas.microsoft.com/office/drawing/2014/main" id="{680F4347-152F-02F0-F636-41EDD7DB8732}"/>
              </a:ext>
            </a:extLst>
          </p:cNvPr>
          <p:cNvPicPr>
            <a:picLocks noChangeAspect="1"/>
          </p:cNvPicPr>
          <p:nvPr/>
        </p:nvPicPr>
        <p:blipFill>
          <a:blip r:embed="rId9"/>
          <a:srcRect l="25106" t="7985" r="17393"/>
          <a:stretch>
            <a:fillRect/>
          </a:stretch>
        </p:blipFill>
        <p:spPr>
          <a:xfrm>
            <a:off x="8167509" y="4508500"/>
            <a:ext cx="1065391" cy="127686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2086429" y="4883134"/>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508000"/>
            <a:ext cx="39878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3B82F6"/>
                </a:solidFill>
                <a:latin typeface="Noto Sans SC"/>
                <a:ea typeface="Noto Sans SC"/>
                <a:cs typeface="Noto Sans SC"/>
                <a:sym typeface="Noto Sans SC"/>
              </a:rPr>
              <a:t>02</a:t>
            </a:r>
            <a:r>
              <a:rPr lang="zh-CN" altLang="en-US" sz="3200" b="1" i="0" u="none" strike="noStrike" dirty="0">
                <a:solidFill>
                  <a:srgbClr val="3B82F6"/>
                </a:solidFill>
                <a:latin typeface="Noto Sans SC"/>
                <a:ea typeface="Noto Sans SC"/>
                <a:cs typeface="Noto Sans SC"/>
                <a:sym typeface="Noto Sans SC"/>
              </a:rPr>
              <a:t> </a:t>
            </a:r>
            <a:r>
              <a:rPr lang="en-US" sz="3200" b="1" i="0" u="none" strike="noStrike" dirty="0">
                <a:solidFill>
                  <a:srgbClr val="1F2329"/>
                </a:solidFill>
                <a:latin typeface="Noto Sans SC"/>
                <a:ea typeface="Noto Sans SC"/>
                <a:cs typeface="Noto Sans SC"/>
                <a:sym typeface="Noto Sans SC"/>
              </a:rPr>
              <a:t>Data Preprocessing</a:t>
            </a:r>
            <a:endParaRPr lang="en-US" sz="1100" dirty="0"/>
          </a:p>
        </p:txBody>
      </p:sp>
      <p:sp>
        <p:nvSpPr>
          <p:cNvPr id="5" name="AutoShape 5"/>
          <p:cNvSpPr/>
          <p:nvPr/>
        </p:nvSpPr>
        <p:spPr>
          <a:xfrm>
            <a:off x="4560561" y="508000"/>
            <a:ext cx="3324835" cy="1292650"/>
          </a:xfrm>
          <a:prstGeom prst="roundRect">
            <a:avLst>
              <a:gd name="adj" fmla="val 0"/>
            </a:avLst>
          </a:prstGeom>
          <a:solidFill>
            <a:srgbClr val="F0FDF4">
              <a:alpha val="50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4710395" y="748512"/>
            <a:ext cx="2053417"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1F2329"/>
                </a:solidFill>
                <a:latin typeface="Noto Sans SC"/>
                <a:ea typeface="Noto Sans SC"/>
                <a:cs typeface="Noto Sans SC"/>
                <a:sym typeface="Noto Sans SC"/>
              </a:rPr>
              <a:t>Missing Value Audit</a:t>
            </a:r>
            <a:endParaRPr lang="en-US" sz="1100" dirty="0"/>
          </a:p>
        </p:txBody>
      </p:sp>
      <p:sp>
        <p:nvSpPr>
          <p:cNvPr id="8" name="AutoShape 8"/>
          <p:cNvSpPr/>
          <p:nvPr/>
        </p:nvSpPr>
        <p:spPr>
          <a:xfrm>
            <a:off x="9657851" y="905164"/>
            <a:ext cx="2081567"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10B981"/>
                </a:solidFill>
                <a:latin typeface="Noto Sans SC"/>
                <a:ea typeface="Noto Sans SC"/>
                <a:cs typeface="Noto Sans SC"/>
                <a:sym typeface="Noto Sans SC"/>
              </a:rPr>
              <a:t>100% Complete</a:t>
            </a:r>
            <a:endParaRPr lang="en-US" sz="1100" dirty="0"/>
          </a:p>
        </p:txBody>
      </p:sp>
      <p:sp>
        <p:nvSpPr>
          <p:cNvPr id="9" name="AutoShape 9"/>
          <p:cNvSpPr/>
          <p:nvPr/>
        </p:nvSpPr>
        <p:spPr>
          <a:xfrm>
            <a:off x="4710395" y="1303790"/>
            <a:ext cx="3175001" cy="412224"/>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a:solidFill>
                  <a:srgbClr val="4B5563"/>
                </a:solidFill>
                <a:latin typeface="Noto Sans SC"/>
                <a:ea typeface="Noto Sans SC"/>
                <a:cs typeface="Noto Sans SC"/>
                <a:sym typeface="Noto Sans SC"/>
              </a:rPr>
              <a:t>No null values detected across all 54 features </a:t>
            </a:r>
            <a:endParaRPr lang="en-US" sz="1100" dirty="0"/>
          </a:p>
        </p:txBody>
      </p:sp>
      <p:sp>
        <p:nvSpPr>
          <p:cNvPr id="20" name="AutoShape 20"/>
          <p:cNvSpPr/>
          <p:nvPr/>
        </p:nvSpPr>
        <p:spPr>
          <a:xfrm>
            <a:off x="508000" y="1790652"/>
            <a:ext cx="11176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374151"/>
                </a:solidFill>
                <a:latin typeface="Noto Sans SC"/>
                <a:ea typeface="Noto Sans SC"/>
                <a:cs typeface="Noto Sans SC"/>
                <a:sym typeface="Noto Sans SC"/>
              </a:rPr>
              <a:t>Feature Engineering Summary Matrix</a:t>
            </a:r>
            <a:endParaRPr lang="en-US" sz="1100" dirty="0"/>
          </a:p>
        </p:txBody>
      </p:sp>
      <p:graphicFrame>
        <p:nvGraphicFramePr>
          <p:cNvPr id="21" name="Table 21"/>
          <p:cNvGraphicFramePr>
            <a:graphicFrameLocks noGrp="1"/>
          </p:cNvGraphicFramePr>
          <p:nvPr>
            <p:extLst>
              <p:ext uri="{D42A27DB-BD31-4B8C-83A1-F6EECF244321}">
                <p14:modId xmlns:p14="http://schemas.microsoft.com/office/powerpoint/2010/main" val="2844843717"/>
              </p:ext>
            </p:extLst>
          </p:nvPr>
        </p:nvGraphicFramePr>
        <p:xfrm>
          <a:off x="508000" y="2324387"/>
          <a:ext cx="10911114" cy="1841500"/>
        </p:xfrm>
        <a:graphic>
          <a:graphicData uri="http://schemas.openxmlformats.org/drawingml/2006/table">
            <a:tbl>
              <a:tblPr>
                <a:effectLst/>
              </a:tblPr>
              <a:tblGrid>
                <a:gridCol w="1821543">
                  <a:extLst>
                    <a:ext uri="{9D8B030D-6E8A-4147-A177-3AD203B41FA5}">
                      <a16:colId xmlns:a16="http://schemas.microsoft.com/office/drawing/2014/main" val="20000"/>
                    </a:ext>
                  </a:extLst>
                </a:gridCol>
                <a:gridCol w="1734457">
                  <a:extLst>
                    <a:ext uri="{9D8B030D-6E8A-4147-A177-3AD203B41FA5}">
                      <a16:colId xmlns:a16="http://schemas.microsoft.com/office/drawing/2014/main" val="20001"/>
                    </a:ext>
                  </a:extLst>
                </a:gridCol>
                <a:gridCol w="3947886">
                  <a:extLst>
                    <a:ext uri="{9D8B030D-6E8A-4147-A177-3AD203B41FA5}">
                      <a16:colId xmlns:a16="http://schemas.microsoft.com/office/drawing/2014/main" val="20002"/>
                    </a:ext>
                  </a:extLst>
                </a:gridCol>
                <a:gridCol w="3407228">
                  <a:extLst>
                    <a:ext uri="{9D8B030D-6E8A-4147-A177-3AD203B41FA5}">
                      <a16:colId xmlns:a16="http://schemas.microsoft.com/office/drawing/2014/main" val="20003"/>
                    </a:ext>
                  </a:extLst>
                </a:gridCol>
              </a:tblGrid>
              <a:tr h="444500">
                <a:tc>
                  <a:txBody>
                    <a:bodyPr/>
                    <a:lstStyle/>
                    <a:p>
                      <a:pPr marL="0" indent="0" algn="ctr">
                        <a:lnSpc>
                          <a:spcPct val="100000"/>
                        </a:lnSpc>
                        <a:defRPr/>
                      </a:pPr>
                      <a:r>
                        <a:rPr lang="en-US" sz="1300" b="1" i="0" u="none" strike="noStrike">
                          <a:solidFill>
                            <a:srgbClr val="FFFFFF"/>
                          </a:solidFill>
                          <a:latin typeface="Noto Sans SC"/>
                          <a:ea typeface="Noto Sans SC"/>
                          <a:cs typeface="Noto Sans SC"/>
                          <a:sym typeface="Noto Sans SC"/>
                        </a:rPr>
                        <a:t>Category</a:t>
                      </a:r>
                      <a:endParaRPr lang="en-US" sz="1100"/>
                    </a:p>
                  </a:txBody>
                  <a:tcPr marL="101600" marR="101600" marT="101600" marB="101600" anchor="ctr">
                    <a:lnL>
                      <a:noFill/>
                    </a:lnL>
                    <a:lnR>
                      <a:noFill/>
                    </a:lnR>
                    <a:lnT>
                      <a:noFill/>
                    </a:lnT>
                    <a:lnB>
                      <a:noFill/>
                    </a:lnB>
                    <a:solidFill>
                      <a:srgbClr val="3B82F6">
                        <a:alpha val="100000"/>
                      </a:srgbClr>
                    </a:solidFill>
                  </a:tcPr>
                </a:tc>
                <a:tc>
                  <a:txBody>
                    <a:bodyPr/>
                    <a:lstStyle/>
                    <a:p>
                      <a:pPr marL="0" indent="0" algn="ctr">
                        <a:lnSpc>
                          <a:spcPct val="100000"/>
                        </a:lnSpc>
                        <a:defRPr/>
                      </a:pPr>
                      <a:r>
                        <a:rPr lang="en-US" sz="1300" b="1" i="0" u="none" strike="noStrike">
                          <a:solidFill>
                            <a:srgbClr val="FFFFFF"/>
                          </a:solidFill>
                          <a:latin typeface="Noto Sans SC"/>
                          <a:ea typeface="Noto Sans SC"/>
                          <a:cs typeface="Noto Sans SC"/>
                          <a:sym typeface="Noto Sans SC"/>
                        </a:rPr>
                        <a:t>Count</a:t>
                      </a:r>
                      <a:endParaRPr lang="en-US" sz="1100"/>
                    </a:p>
                  </a:txBody>
                  <a:tcPr marL="101600" marR="101600" marT="101600" marB="101600" anchor="ctr">
                    <a:lnL>
                      <a:noFill/>
                    </a:lnL>
                    <a:lnR>
                      <a:noFill/>
                    </a:lnR>
                    <a:lnT>
                      <a:noFill/>
                    </a:lnT>
                    <a:lnB>
                      <a:noFill/>
                    </a:lnB>
                    <a:solidFill>
                      <a:srgbClr val="3B82F6">
                        <a:alpha val="100000"/>
                      </a:srgbClr>
                    </a:solidFill>
                  </a:tcPr>
                </a:tc>
                <a:tc>
                  <a:txBody>
                    <a:bodyPr/>
                    <a:lstStyle/>
                    <a:p>
                      <a:pPr marL="0" indent="0" algn="ctr">
                        <a:lnSpc>
                          <a:spcPct val="100000"/>
                        </a:lnSpc>
                        <a:defRPr/>
                      </a:pPr>
                      <a:r>
                        <a:rPr lang="en-US" sz="1300" b="1" i="0" u="none" strike="noStrike">
                          <a:solidFill>
                            <a:srgbClr val="FFFFFF"/>
                          </a:solidFill>
                          <a:latin typeface="Noto Sans SC"/>
                          <a:ea typeface="Noto Sans SC"/>
                          <a:cs typeface="Noto Sans SC"/>
                          <a:sym typeface="Noto Sans SC"/>
                        </a:rPr>
                        <a:t>Representative Examples</a:t>
                      </a:r>
                      <a:endParaRPr lang="en-US" sz="1100"/>
                    </a:p>
                  </a:txBody>
                  <a:tcPr marL="101600" marR="101600" marT="101600" marB="101600" anchor="ctr">
                    <a:lnL>
                      <a:noFill/>
                    </a:lnL>
                    <a:lnR>
                      <a:noFill/>
                    </a:lnR>
                    <a:lnT>
                      <a:noFill/>
                    </a:lnT>
                    <a:lnB>
                      <a:noFill/>
                    </a:lnB>
                    <a:solidFill>
                      <a:srgbClr val="3B82F6">
                        <a:alpha val="100000"/>
                      </a:srgbClr>
                    </a:solidFill>
                  </a:tcPr>
                </a:tc>
                <a:tc>
                  <a:txBody>
                    <a:bodyPr/>
                    <a:lstStyle/>
                    <a:p>
                      <a:pPr marL="0" indent="0" algn="ctr">
                        <a:lnSpc>
                          <a:spcPct val="100000"/>
                        </a:lnSpc>
                        <a:defRPr/>
                      </a:pPr>
                      <a:r>
                        <a:rPr lang="en-US" sz="1300" b="1" i="0" u="none" strike="noStrike" dirty="0">
                          <a:solidFill>
                            <a:srgbClr val="FFFFFF"/>
                          </a:solidFill>
                          <a:latin typeface="Noto Sans SC"/>
                          <a:ea typeface="Noto Sans SC"/>
                          <a:cs typeface="Noto Sans SC"/>
                          <a:sym typeface="Noto Sans SC"/>
                        </a:rPr>
                        <a:t>Applied Preprocessing</a:t>
                      </a:r>
                      <a:endParaRPr lang="en-US" sz="1100" dirty="0"/>
                    </a:p>
                  </a:txBody>
                  <a:tcPr marL="101600" marR="101600" marT="101600" marB="101600" anchor="ctr">
                    <a:lnL>
                      <a:noFill/>
                    </a:lnL>
                    <a:lnR>
                      <a:noFill/>
                    </a:lnR>
                    <a:lnT>
                      <a:noFill/>
                    </a:lnT>
                    <a:lnB>
                      <a:noFill/>
                    </a:lnB>
                    <a:solidFill>
                      <a:srgbClr val="3B82F6">
                        <a:alpha val="100000"/>
                      </a:srgbClr>
                    </a:solidFill>
                  </a:tcPr>
                </a:tc>
                <a:extLst>
                  <a:ext uri="{0D108BD9-81ED-4DB2-BD59-A6C34878D82A}">
                    <a16:rowId xmlns:a16="http://schemas.microsoft.com/office/drawing/2014/main" val="10000"/>
                  </a:ext>
                </a:extLst>
              </a:tr>
              <a:tr h="444500">
                <a:tc>
                  <a:txBody>
                    <a:bodyPr/>
                    <a:lstStyle/>
                    <a:p>
                      <a:pPr marL="0" indent="0" algn="ctr">
                        <a:lnSpc>
                          <a:spcPct val="100000"/>
                        </a:lnSpc>
                        <a:defRPr/>
                      </a:pPr>
                      <a:r>
                        <a:rPr lang="en-US" sz="1300" b="0" i="0" u="none" strike="noStrike" dirty="0">
                          <a:solidFill>
                            <a:srgbClr val="1F2329"/>
                          </a:solidFill>
                          <a:latin typeface="Noto Sans SC"/>
                          <a:ea typeface="Noto Sans SC"/>
                          <a:cs typeface="Noto Sans SC"/>
                          <a:sym typeface="Noto Sans SC"/>
                        </a:rPr>
                        <a:t>Continuous</a:t>
                      </a:r>
                      <a:endParaRPr lang="en-US" sz="1100" dirty="0"/>
                    </a:p>
                  </a:txBody>
                  <a:tcPr marL="101600" marR="101600" marT="101600" marB="101600" anchor="ctr">
                    <a:lnL>
                      <a:noFill/>
                    </a:lnL>
                    <a:lnR>
                      <a:noFill/>
                    </a:lnR>
                    <a:lnT>
                      <a:noFill/>
                    </a:lnT>
                    <a:lnB>
                      <a:noFill/>
                    </a:lnB>
                    <a:solidFill>
                      <a:srgbClr val="F3F4F6">
                        <a:alpha val="100000"/>
                      </a:srgbClr>
                    </a:solidFill>
                  </a:tcPr>
                </a:tc>
                <a:tc>
                  <a:txBody>
                    <a:bodyPr/>
                    <a:lstStyle/>
                    <a:p>
                      <a:pPr marL="0" indent="0" algn="ctr">
                        <a:lnSpc>
                          <a:spcPct val="100000"/>
                        </a:lnSpc>
                        <a:defRPr/>
                      </a:pPr>
                      <a:r>
                        <a:rPr lang="en-US" sz="1300" b="0" i="0" u="none" strike="noStrike">
                          <a:solidFill>
                            <a:srgbClr val="1F2329"/>
                          </a:solidFill>
                          <a:latin typeface="Noto Sans SC"/>
                          <a:ea typeface="Noto Sans SC"/>
                          <a:cs typeface="Noto Sans SC"/>
                          <a:sym typeface="Noto Sans SC"/>
                        </a:rPr>
                        <a:t>10</a:t>
                      </a:r>
                      <a:endParaRPr lang="en-US" sz="1100"/>
                    </a:p>
                  </a:txBody>
                  <a:tcPr marL="101600" marR="101600" marT="101600" marB="101600" anchor="ctr">
                    <a:lnL>
                      <a:noFill/>
                    </a:lnL>
                    <a:lnR>
                      <a:noFill/>
                    </a:lnR>
                    <a:lnT>
                      <a:noFill/>
                    </a:lnT>
                    <a:lnB>
                      <a:noFill/>
                    </a:lnB>
                    <a:solidFill>
                      <a:srgbClr val="F3F4F6">
                        <a:alpha val="100000"/>
                      </a:srgbClr>
                    </a:solidFill>
                  </a:tcPr>
                </a:tc>
                <a:tc>
                  <a:txBody>
                    <a:bodyPr/>
                    <a:lstStyle/>
                    <a:p>
                      <a:pPr marL="127000" indent="0" algn="l">
                        <a:lnSpc>
                          <a:spcPct val="100000"/>
                        </a:lnSpc>
                        <a:defRPr/>
                      </a:pPr>
                      <a:r>
                        <a:rPr lang="en-US" sz="1300" b="0" i="0" u="none" strike="noStrike">
                          <a:solidFill>
                            <a:srgbClr val="374151"/>
                          </a:solidFill>
                          <a:latin typeface="Noto Sans SC"/>
                          <a:ea typeface="Noto Sans SC"/>
                          <a:cs typeface="Noto Sans SC"/>
                          <a:sym typeface="Noto Sans SC"/>
                        </a:rPr>
                        <a:t>Elevation, Aspect, Slope, Hillshade (9am/noon/3pm), Distances to Hydrology/Road/Fire</a:t>
                      </a:r>
                      <a:endParaRPr lang="en-US" sz="1100"/>
                    </a:p>
                  </a:txBody>
                  <a:tcPr marL="101600" marR="101600" marT="101600" marB="101600" anchor="ctr">
                    <a:lnL>
                      <a:noFill/>
                    </a:lnL>
                    <a:lnR>
                      <a:noFill/>
                    </a:lnR>
                    <a:lnT>
                      <a:noFill/>
                    </a:lnT>
                    <a:lnB>
                      <a:noFill/>
                    </a:lnB>
                    <a:solidFill>
                      <a:srgbClr val="F3F4F6">
                        <a:alpha val="100000"/>
                      </a:srgbClr>
                    </a:solidFill>
                  </a:tcPr>
                </a:tc>
                <a:tc>
                  <a:txBody>
                    <a:bodyPr/>
                    <a:lstStyle/>
                    <a:p>
                      <a:pPr marL="0" indent="0" algn="ctr">
                        <a:lnSpc>
                          <a:spcPct val="100000"/>
                        </a:lnSpc>
                        <a:defRPr/>
                      </a:pPr>
                      <a:r>
                        <a:rPr lang="en-US" sz="1300" b="0" i="0" u="none" strike="noStrike">
                          <a:solidFill>
                            <a:srgbClr val="1F2329"/>
                          </a:solidFill>
                          <a:latin typeface="Noto Sans SC"/>
                          <a:ea typeface="Noto Sans SC"/>
                          <a:cs typeface="Noto Sans SC"/>
                          <a:sym typeface="Noto Sans SC"/>
                        </a:rPr>
                        <a:t>StandardScaler (Mean=0, Std=1)</a:t>
                      </a:r>
                      <a:endParaRPr lang="en-US" sz="1100"/>
                    </a:p>
                  </a:txBody>
                  <a:tcPr marL="101600" marR="101600" marT="101600" marB="101600" anchor="ctr">
                    <a:lnL>
                      <a:noFill/>
                    </a:lnL>
                    <a:lnR>
                      <a:noFill/>
                    </a:lnR>
                    <a:lnT>
                      <a:noFill/>
                    </a:lnT>
                    <a:lnB>
                      <a:noFill/>
                    </a:lnB>
                    <a:solidFill>
                      <a:srgbClr val="F3F4F6">
                        <a:alpha val="100000"/>
                      </a:srgbClr>
                    </a:solidFill>
                  </a:tcPr>
                </a:tc>
                <a:extLst>
                  <a:ext uri="{0D108BD9-81ED-4DB2-BD59-A6C34878D82A}">
                    <a16:rowId xmlns:a16="http://schemas.microsoft.com/office/drawing/2014/main" val="10001"/>
                  </a:ext>
                </a:extLst>
              </a:tr>
              <a:tr h="444500">
                <a:tc>
                  <a:txBody>
                    <a:bodyPr/>
                    <a:lstStyle/>
                    <a:p>
                      <a:pPr marL="0" indent="0" algn="ctr">
                        <a:lnSpc>
                          <a:spcPct val="100000"/>
                        </a:lnSpc>
                        <a:defRPr/>
                      </a:pPr>
                      <a:r>
                        <a:rPr lang="en-US" sz="1300" b="0" i="0" u="none" strike="noStrike">
                          <a:solidFill>
                            <a:srgbClr val="1F2329"/>
                          </a:solidFill>
                          <a:latin typeface="Noto Sans SC"/>
                          <a:ea typeface="Noto Sans SC"/>
                          <a:cs typeface="Noto Sans SC"/>
                          <a:sym typeface="Noto Sans SC"/>
                        </a:rPr>
                        <a:t>Binary (Wilderness)</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marL="0" indent="0" algn="ctr">
                        <a:lnSpc>
                          <a:spcPct val="100000"/>
                        </a:lnSpc>
                        <a:defRPr/>
                      </a:pPr>
                      <a:r>
                        <a:rPr lang="en-US" sz="1300" b="0" i="0" u="none" strike="noStrike" dirty="0">
                          <a:solidFill>
                            <a:srgbClr val="1F2329"/>
                          </a:solidFill>
                          <a:latin typeface="Noto Sans SC"/>
                          <a:ea typeface="Noto Sans SC"/>
                          <a:cs typeface="Noto Sans SC"/>
                          <a:sym typeface="Noto Sans SC"/>
                        </a:rPr>
                        <a:t>4</a:t>
                      </a:r>
                      <a:r>
                        <a:rPr lang="en-US" altLang="zh-CN" sz="1300" b="0" i="0" u="none" strike="noStrike" dirty="0">
                          <a:solidFill>
                            <a:srgbClr val="1F2329"/>
                          </a:solidFill>
                          <a:latin typeface="Noto Sans SC"/>
                          <a:ea typeface="Noto Sans SC"/>
                          <a:cs typeface="Noto Sans SC"/>
                          <a:sym typeface="Noto Sans SC"/>
                        </a:rPr>
                        <a:t>4</a:t>
                      </a:r>
                      <a:r>
                        <a:rPr lang="zh-CN" altLang="en-US" sz="1300" b="0" i="0" u="none" strike="noStrike" dirty="0">
                          <a:solidFill>
                            <a:srgbClr val="1F2329"/>
                          </a:solidFill>
                          <a:latin typeface="Noto Sans SC"/>
                          <a:ea typeface="Noto Sans SC"/>
                          <a:cs typeface="Noto Sans SC"/>
                          <a:sym typeface="Noto Sans SC"/>
                        </a:rPr>
                        <a:t>（</a:t>
                      </a:r>
                      <a:r>
                        <a:rPr lang="en-US" altLang="zh-CN" sz="1100" b="0" i="0" u="none" strike="noStrike" dirty="0">
                          <a:solidFill>
                            <a:srgbClr val="4B5563"/>
                          </a:solidFill>
                          <a:latin typeface="Noto Sans SC"/>
                          <a:ea typeface="Noto Sans SC"/>
                          <a:cs typeface="Noto Sans SC"/>
                          <a:sym typeface="Noto Sans SC"/>
                        </a:rPr>
                        <a:t>4 Wilderness Areas, 40 Soil Types</a:t>
                      </a:r>
                      <a:r>
                        <a:rPr lang="zh-CN" altLang="en-US" sz="1100" b="0" i="0" u="none" strike="noStrike" dirty="0">
                          <a:solidFill>
                            <a:srgbClr val="4B5563"/>
                          </a:solidFill>
                          <a:latin typeface="Noto Sans SC"/>
                          <a:ea typeface="Noto Sans SC"/>
                          <a:cs typeface="Noto Sans SC"/>
                          <a:sym typeface="Noto Sans SC"/>
                        </a:rPr>
                        <a:t>）</a:t>
                      </a:r>
                      <a:endParaRPr lang="en-US" sz="1100" dirty="0"/>
                    </a:p>
                  </a:txBody>
                  <a:tcPr marL="101600" marR="101600" marT="101600" marB="101600" anchor="ctr">
                    <a:lnL>
                      <a:noFill/>
                    </a:lnL>
                    <a:lnR>
                      <a:noFill/>
                    </a:lnR>
                    <a:lnT>
                      <a:noFill/>
                    </a:lnT>
                    <a:lnB>
                      <a:noFill/>
                    </a:lnB>
                    <a:solidFill>
                      <a:srgbClr val="FFFFFF">
                        <a:alpha val="100000"/>
                      </a:srgbClr>
                    </a:solidFill>
                  </a:tcPr>
                </a:tc>
                <a:tc>
                  <a:txBody>
                    <a:bodyPr/>
                    <a:lstStyle/>
                    <a:p>
                      <a:pPr marL="127000" indent="0" algn="l">
                        <a:lnSpc>
                          <a:spcPct val="100000"/>
                        </a:lnSpc>
                        <a:defRPr/>
                      </a:pPr>
                      <a:r>
                        <a:rPr lang="en-US" sz="1300" b="0" i="0" u="none" strike="noStrike" dirty="0">
                          <a:solidFill>
                            <a:srgbClr val="374151"/>
                          </a:solidFill>
                          <a:latin typeface="Noto Sans SC"/>
                          <a:ea typeface="Noto Sans SC"/>
                          <a:cs typeface="Noto Sans SC"/>
                          <a:sym typeface="Noto Sans SC"/>
                        </a:rPr>
                        <a:t>Rawah, </a:t>
                      </a:r>
                      <a:r>
                        <a:rPr lang="en-US" sz="1300" b="0" i="0" u="none" strike="noStrike" dirty="0" err="1">
                          <a:solidFill>
                            <a:srgbClr val="374151"/>
                          </a:solidFill>
                          <a:latin typeface="Noto Sans SC"/>
                          <a:ea typeface="Noto Sans SC"/>
                          <a:cs typeface="Noto Sans SC"/>
                          <a:sym typeface="Noto Sans SC"/>
                        </a:rPr>
                        <a:t>Neota</a:t>
                      </a:r>
                      <a:r>
                        <a:rPr lang="en-US" sz="1300" b="0" i="0" u="none" strike="noStrike" dirty="0">
                          <a:solidFill>
                            <a:srgbClr val="374151"/>
                          </a:solidFill>
                          <a:latin typeface="Noto Sans SC"/>
                          <a:ea typeface="Noto Sans SC"/>
                          <a:cs typeface="Noto Sans SC"/>
                          <a:sym typeface="Noto Sans SC"/>
                        </a:rPr>
                        <a:t>, Comanche Peak, Cache la Poudre (encoded 0/1)</a:t>
                      </a:r>
                      <a:r>
                        <a:rPr lang="zh-CN" altLang="en-US" sz="1300" b="0" i="0" u="none" strike="noStrike" dirty="0">
                          <a:solidFill>
                            <a:srgbClr val="374151"/>
                          </a:solidFill>
                          <a:latin typeface="Noto Sans SC"/>
                          <a:ea typeface="Noto Sans SC"/>
                          <a:cs typeface="Noto Sans SC"/>
                          <a:sym typeface="Noto Sans SC"/>
                        </a:rPr>
                        <a:t> </a:t>
                      </a:r>
                      <a:r>
                        <a:rPr lang="en-US" altLang="zh-CN" sz="1300" b="0" i="0" u="none" strike="noStrike" dirty="0">
                          <a:solidFill>
                            <a:srgbClr val="374151"/>
                          </a:solidFill>
                          <a:latin typeface="Noto Sans SC"/>
                          <a:ea typeface="Noto Sans SC"/>
                          <a:cs typeface="Noto Sans SC"/>
                          <a:sym typeface="Noto Sans SC"/>
                        </a:rPr>
                        <a:t>....</a:t>
                      </a:r>
                      <a:endParaRPr lang="en-US" sz="1100" dirty="0"/>
                    </a:p>
                  </a:txBody>
                  <a:tcPr marL="101600" marR="101600" marT="101600" marB="101600" anchor="ctr">
                    <a:lnL>
                      <a:noFill/>
                    </a:lnL>
                    <a:lnR>
                      <a:noFill/>
                    </a:lnR>
                    <a:lnT>
                      <a:noFill/>
                    </a:lnT>
                    <a:lnB>
                      <a:noFill/>
                    </a:lnB>
                    <a:solidFill>
                      <a:srgbClr val="FFFFFF">
                        <a:alpha val="100000"/>
                      </a:srgbClr>
                    </a:solidFill>
                  </a:tcPr>
                </a:tc>
                <a:tc>
                  <a:txBody>
                    <a:bodyPr/>
                    <a:lstStyle/>
                    <a:p>
                      <a:pPr marL="0" indent="0" algn="ctr">
                        <a:lnSpc>
                          <a:spcPct val="100000"/>
                        </a:lnSpc>
                        <a:defRPr/>
                      </a:pPr>
                      <a:r>
                        <a:rPr lang="en-US" altLang="zh-CN" sz="1300" b="0" i="0" u="none" strike="noStrike" dirty="0">
                          <a:solidFill>
                            <a:srgbClr val="4B5563"/>
                          </a:solidFill>
                          <a:latin typeface="Noto Sans SC"/>
                          <a:ea typeface="Noto Sans SC"/>
                          <a:cs typeface="Noto Sans SC"/>
                          <a:sym typeface="Noto Sans SC"/>
                        </a:rPr>
                        <a:t>Mode imputation (redundant) + </a:t>
                      </a:r>
                      <a:r>
                        <a:rPr lang="en-US" sz="1300" b="0" i="0" u="none" strike="noStrike" dirty="0">
                          <a:solidFill>
                            <a:srgbClr val="1F2329"/>
                          </a:solidFill>
                          <a:latin typeface="Noto Sans SC"/>
                          <a:ea typeface="Noto Sans SC"/>
                          <a:cs typeface="Noto Sans SC"/>
                          <a:sym typeface="Noto Sans SC"/>
                        </a:rPr>
                        <a:t>No Scaling (Mode Imputation Ready)</a:t>
                      </a:r>
                      <a:endParaRPr lang="en-US" sz="1100" dirty="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bl>
          </a:graphicData>
        </a:graphic>
      </p:graphicFrame>
      <p:pic>
        <p:nvPicPr>
          <p:cNvPr id="22" name="Picture 8">
            <a:extLst>
              <a:ext uri="{FF2B5EF4-FFF2-40B4-BE49-F238E27FC236}">
                <a16:creationId xmlns:a16="http://schemas.microsoft.com/office/drawing/2014/main" id="{F24B5045-1602-BAC1-25CB-DA020C3BDEE4}"/>
              </a:ext>
            </a:extLst>
          </p:cNvPr>
          <p:cNvPicPr>
            <a:picLocks noChangeAspect="1"/>
          </p:cNvPicPr>
          <p:nvPr/>
        </p:nvPicPr>
        <p:blipFill>
          <a:blip r:embed="rId3"/>
          <a:srcRect l="92" r="92"/>
          <a:stretch>
            <a:fillRect/>
          </a:stretch>
        </p:blipFill>
        <p:spPr>
          <a:xfrm>
            <a:off x="8222343" y="519612"/>
            <a:ext cx="3044372" cy="16309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4" name="文本框 23">
            <a:extLst>
              <a:ext uri="{FF2B5EF4-FFF2-40B4-BE49-F238E27FC236}">
                <a16:creationId xmlns:a16="http://schemas.microsoft.com/office/drawing/2014/main" id="{48EF9579-29AA-19E6-F105-99D967529E6B}"/>
              </a:ext>
            </a:extLst>
          </p:cNvPr>
          <p:cNvSpPr txBox="1"/>
          <p:nvPr/>
        </p:nvSpPr>
        <p:spPr>
          <a:xfrm>
            <a:off x="406048" y="2085465"/>
            <a:ext cx="5113010" cy="261610"/>
          </a:xfrm>
          <a:prstGeom prst="rect">
            <a:avLst/>
          </a:prstGeom>
          <a:noFill/>
        </p:spPr>
        <p:txBody>
          <a:bodyPr wrap="square">
            <a:spAutoFit/>
          </a:bodyPr>
          <a:lstStyle/>
          <a:p>
            <a:r>
              <a:rPr lang="en-US" altLang="zh-CN" sz="1100" b="0" i="0" u="none" strike="noStrike" dirty="0">
                <a:solidFill>
                  <a:srgbClr val="4B5563"/>
                </a:solidFill>
                <a:latin typeface="Noto Sans SC"/>
                <a:ea typeface="Noto Sans SC"/>
                <a:cs typeface="Noto Sans SC"/>
                <a:sym typeface="Noto Sans SC"/>
              </a:rPr>
              <a:t>Preserves sparsity in binary features while stabilizing model convergence</a:t>
            </a:r>
            <a:endParaRPr lang="zh-CN" altLang="en-US" sz="1100" dirty="0"/>
          </a:p>
        </p:txBody>
      </p:sp>
      <p:pic>
        <p:nvPicPr>
          <p:cNvPr id="25" name="图片 24">
            <a:extLst>
              <a:ext uri="{FF2B5EF4-FFF2-40B4-BE49-F238E27FC236}">
                <a16:creationId xmlns:a16="http://schemas.microsoft.com/office/drawing/2014/main" id="{171E0D64-C82A-D9D1-9711-FB5F0B9DAA93}"/>
              </a:ext>
            </a:extLst>
          </p:cNvPr>
          <p:cNvPicPr>
            <a:picLocks noChangeAspect="1"/>
          </p:cNvPicPr>
          <p:nvPr/>
        </p:nvPicPr>
        <p:blipFill>
          <a:blip r:embed="rId4"/>
          <a:srcRect b="5117"/>
          <a:stretch>
            <a:fillRect/>
          </a:stretch>
        </p:blipFill>
        <p:spPr>
          <a:xfrm>
            <a:off x="508000" y="4264769"/>
            <a:ext cx="4654948" cy="2177727"/>
          </a:xfrm>
          <a:prstGeom prst="rect">
            <a:avLst/>
          </a:prstGeom>
        </p:spPr>
      </p:pic>
      <p:pic>
        <p:nvPicPr>
          <p:cNvPr id="26" name="图片 25">
            <a:extLst>
              <a:ext uri="{FF2B5EF4-FFF2-40B4-BE49-F238E27FC236}">
                <a16:creationId xmlns:a16="http://schemas.microsoft.com/office/drawing/2014/main" id="{226D7070-C621-CF9C-7E92-FFC92067D192}"/>
              </a:ext>
            </a:extLst>
          </p:cNvPr>
          <p:cNvPicPr>
            <a:picLocks noChangeAspect="1"/>
          </p:cNvPicPr>
          <p:nvPr/>
        </p:nvPicPr>
        <p:blipFill>
          <a:blip r:embed="rId5"/>
          <a:srcRect b="5117"/>
          <a:stretch>
            <a:fillRect/>
          </a:stretch>
        </p:blipFill>
        <p:spPr>
          <a:xfrm>
            <a:off x="6764165" y="4258410"/>
            <a:ext cx="4654949" cy="2177727"/>
          </a:xfrm>
          <a:prstGeom prst="rect">
            <a:avLst/>
          </a:prstGeom>
        </p:spPr>
      </p:pic>
      <p:cxnSp>
        <p:nvCxnSpPr>
          <p:cNvPr id="28" name="直线箭头连接符 27">
            <a:extLst>
              <a:ext uri="{FF2B5EF4-FFF2-40B4-BE49-F238E27FC236}">
                <a16:creationId xmlns:a16="http://schemas.microsoft.com/office/drawing/2014/main" id="{FDB25222-136E-B770-AC4C-B24F78C723DC}"/>
              </a:ext>
            </a:extLst>
          </p:cNvPr>
          <p:cNvCxnSpPr>
            <a:cxnSpLocks/>
          </p:cNvCxnSpPr>
          <p:nvPr/>
        </p:nvCxnSpPr>
        <p:spPr>
          <a:xfrm>
            <a:off x="5350328" y="5521552"/>
            <a:ext cx="132921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D082FD40-8706-9979-4416-BABE8F832CBA}"/>
              </a:ext>
            </a:extLst>
          </p:cNvPr>
          <p:cNvSpPr txBox="1"/>
          <p:nvPr/>
        </p:nvSpPr>
        <p:spPr>
          <a:xfrm>
            <a:off x="5350328" y="5039497"/>
            <a:ext cx="1329210" cy="307777"/>
          </a:xfrm>
          <a:prstGeom prst="rect">
            <a:avLst/>
          </a:prstGeom>
          <a:noFill/>
        </p:spPr>
        <p:txBody>
          <a:bodyPr wrap="none" rtlCol="0">
            <a:spAutoFit/>
          </a:bodyPr>
          <a:lstStyle/>
          <a:p>
            <a:r>
              <a:rPr kumimoji="1" lang="en-US" altLang="zh-CN" dirty="0"/>
              <a:t>Preprocessing</a:t>
            </a:r>
            <a:endParaRPr kumimoji="1"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4" name="AutoShape 17">
            <a:extLst>
              <a:ext uri="{FF2B5EF4-FFF2-40B4-BE49-F238E27FC236}">
                <a16:creationId xmlns:a16="http://schemas.microsoft.com/office/drawing/2014/main" id="{4B25A843-8BFD-1B48-07D1-A076680D9103}"/>
              </a:ext>
            </a:extLst>
          </p:cNvPr>
          <p:cNvSpPr/>
          <p:nvPr/>
        </p:nvSpPr>
        <p:spPr>
          <a:xfrm>
            <a:off x="833701" y="5770275"/>
            <a:ext cx="10639059" cy="637165"/>
          </a:xfrm>
          <a:prstGeom prst="roundRect">
            <a:avLst>
              <a:gd name="adj" fmla="val 0"/>
            </a:avLst>
          </a:prstGeom>
          <a:solidFill>
            <a:schemeClr val="accent6">
              <a:alpha val="8000"/>
            </a:schemeClr>
          </a:solidFill>
          <a:ln w="12700" cap="flat" cmpd="sng">
            <a:solidFill>
              <a:srgbClr val="22543D">
                <a:alpha val="30000"/>
              </a:srgbClr>
            </a:solidFill>
            <a:prstDash val="solid"/>
            <a:round/>
          </a:ln>
        </p:spPr>
        <p:txBody>
          <a:bodyPr vert="horz" wrap="square" lIns="63500" tIns="63500" rIns="63500" bIns="63500" rtlCol="0" anchor="ctr"/>
          <a:lstStyle/>
          <a:p>
            <a:pPr algn="ctr">
              <a:defRPr/>
            </a:pPr>
            <a:endParaRPr dirty="0">
              <a:solidFill>
                <a:schemeClr val="accent6"/>
              </a:solidFill>
            </a:endParaRPr>
          </a:p>
        </p:txBody>
      </p:sp>
      <p:sp>
        <p:nvSpPr>
          <p:cNvPr id="2" name="AutoShape 2"/>
          <p:cNvSpPr/>
          <p:nvPr/>
        </p:nvSpPr>
        <p:spPr>
          <a:xfrm>
            <a:off x="9525000" y="-1270000"/>
            <a:ext cx="3810000" cy="3810000"/>
          </a:xfrm>
          <a:prstGeom prst="ellipse">
            <a:avLst/>
          </a:prstGeom>
          <a:solidFill>
            <a:srgbClr val="3B82F6">
              <a:alpha val="5000"/>
            </a:srgbClr>
          </a:solidFill>
          <a:ln cap="flat" cmpd="sng">
            <a:solidFill>
              <a:srgbClr val="1F67DD">
                <a:alpha val="5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587500" y="5102825"/>
            <a:ext cx="3175000" cy="3175000"/>
          </a:xfrm>
          <a:prstGeom prst="ellipse">
            <a:avLst/>
          </a:prstGeom>
          <a:solidFill>
            <a:srgbClr val="10B981">
              <a:alpha val="5000"/>
            </a:srgbClr>
          </a:solidFill>
          <a:ln cap="flat" cmpd="sng">
            <a:solidFill>
              <a:srgbClr val="00A06B">
                <a:alpha val="5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899511" y="311634"/>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1E293B"/>
                </a:solidFill>
                <a:latin typeface="Noto Sans SC"/>
                <a:ea typeface="Noto Sans SC"/>
                <a:cs typeface="Noto Sans SC"/>
                <a:sym typeface="Noto Sans SC"/>
              </a:rPr>
              <a:t>03 t-SNE Data Visualization</a:t>
            </a:r>
            <a:endParaRPr lang="en-US" sz="1100" dirty="0"/>
          </a:p>
        </p:txBody>
      </p:sp>
      <p:sp>
        <p:nvSpPr>
          <p:cNvPr id="6" name="AutoShape 6"/>
          <p:cNvSpPr/>
          <p:nvPr/>
        </p:nvSpPr>
        <p:spPr>
          <a:xfrm>
            <a:off x="1042220" y="1120980"/>
            <a:ext cx="4064000" cy="508000"/>
          </a:xfrm>
          <a:prstGeom prst="rect">
            <a:avLst/>
          </a:prstGeom>
          <a:noFill/>
          <a:ln w="12700" cap="flat" cmpd="sng">
            <a:noFill/>
            <a:prstDash val="solid"/>
            <a:round/>
          </a:ln>
        </p:spPr>
        <p:txBody>
          <a:bodyPr vert="horz" wrap="square" lIns="0" tIns="0" rIns="0" bIns="0" rtlCol="0" anchor="ctr" anchorCtr="0"/>
          <a:lstStyle/>
          <a:p>
            <a:pPr algn="ctr">
              <a:lnSpc>
                <a:spcPct val="125000"/>
              </a:lnSpc>
              <a:defRPr/>
            </a:pPr>
            <a:r>
              <a:rPr lang="en-US" sz="1200" b="0" i="0" u="none" strike="noStrike" dirty="0">
                <a:solidFill>
                  <a:srgbClr val="64748B"/>
                </a:solidFill>
                <a:latin typeface="Noto Sans SC"/>
                <a:ea typeface="Noto Sans SC"/>
                <a:cs typeface="Noto Sans SC"/>
                <a:sym typeface="Noto Sans SC"/>
              </a:rPr>
              <a:t>Figure: t-SNE 2D Embedding of 7 Forest Cover Types</a:t>
            </a:r>
            <a:endParaRPr lang="en-US" sz="1100" dirty="0"/>
          </a:p>
        </p:txBody>
      </p:sp>
      <p:sp>
        <p:nvSpPr>
          <p:cNvPr id="7" name="AutoShape 7"/>
          <p:cNvSpPr/>
          <p:nvPr/>
        </p:nvSpPr>
        <p:spPr>
          <a:xfrm>
            <a:off x="7085782" y="1260375"/>
            <a:ext cx="380595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334155"/>
                </a:solidFill>
                <a:latin typeface="Noto Sans SC"/>
                <a:ea typeface="Noto Sans SC"/>
                <a:cs typeface="Noto Sans SC"/>
                <a:sym typeface="Noto Sans SC"/>
              </a:rPr>
              <a:t>Key Observations &amp; Interpretations</a:t>
            </a:r>
            <a:endParaRPr lang="en-US" sz="1100" dirty="0"/>
          </a:p>
        </p:txBody>
      </p:sp>
      <p:sp>
        <p:nvSpPr>
          <p:cNvPr id="8" name="AutoShape 8"/>
          <p:cNvSpPr/>
          <p:nvPr/>
        </p:nvSpPr>
        <p:spPr>
          <a:xfrm>
            <a:off x="5726371" y="2029425"/>
            <a:ext cx="6342744" cy="812800"/>
          </a:xfrm>
          <a:prstGeom prst="roundRect">
            <a:avLst>
              <a:gd name="adj" fmla="val 0"/>
            </a:avLst>
          </a:prstGeom>
          <a:solidFill>
            <a:srgbClr val="3B82F6">
              <a:alpha val="6000"/>
            </a:srgbClr>
          </a:solidFill>
          <a:ln cap="flat" cmpd="sng">
            <a:solidFill>
              <a:srgbClr val="1F67DD">
                <a:alpha val="6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78771" y="2232625"/>
            <a:ext cx="390323" cy="406400"/>
          </a:xfrm>
          <a:prstGeom prst="rect">
            <a:avLst/>
          </a:prstGeom>
        </p:spPr>
      </p:pic>
      <p:sp>
        <p:nvSpPr>
          <p:cNvPr id="10" name="AutoShape 10"/>
          <p:cNvSpPr/>
          <p:nvPr/>
        </p:nvSpPr>
        <p:spPr>
          <a:xfrm>
            <a:off x="6437571" y="2105625"/>
            <a:ext cx="5549901" cy="660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E293B"/>
                </a:solidFill>
                <a:latin typeface="Noto Sans SC"/>
                <a:ea typeface="Noto Sans SC"/>
                <a:cs typeface="Noto Sans SC"/>
                <a:sym typeface="Noto Sans SC"/>
              </a:rPr>
              <a:t>Dominant Cluster Formation</a:t>
            </a:r>
            <a:r>
              <a:rPr lang="en-US" sz="1300" b="0" i="0" u="none" strike="noStrike">
                <a:solidFill>
                  <a:srgbClr val="475569"/>
                </a:solidFill>
                <a:latin typeface="Noto Sans SC"/>
                <a:ea typeface="Noto Sans SC"/>
                <a:cs typeface="Noto Sans SC"/>
                <a:sym typeface="Noto Sans SC"/>
              </a:rPr>
              <a:t>— Classes 1 (Spruce/Fir) and 2 (Lodgepole Pine) form the largest and densest clusters, indicating their high prevalence and strong feature similarity within their groups.</a:t>
            </a:r>
            <a:endParaRPr lang="en-US" sz="1100"/>
          </a:p>
        </p:txBody>
      </p:sp>
      <p:sp>
        <p:nvSpPr>
          <p:cNvPr id="11" name="AutoShape 11"/>
          <p:cNvSpPr/>
          <p:nvPr/>
        </p:nvSpPr>
        <p:spPr>
          <a:xfrm>
            <a:off x="5726371" y="2918425"/>
            <a:ext cx="6342744" cy="812800"/>
          </a:xfrm>
          <a:prstGeom prst="roundRect">
            <a:avLst>
              <a:gd name="adj" fmla="val 0"/>
            </a:avLst>
          </a:prstGeom>
          <a:solidFill>
            <a:srgbClr val="10B981">
              <a:alpha val="6000"/>
            </a:srgbClr>
          </a:solidFill>
          <a:ln cap="flat" cmpd="sng">
            <a:solidFill>
              <a:srgbClr val="00A06B">
                <a:alpha val="6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78771" y="3121625"/>
            <a:ext cx="390323" cy="406400"/>
          </a:xfrm>
          <a:prstGeom prst="rect">
            <a:avLst/>
          </a:prstGeom>
        </p:spPr>
      </p:pic>
      <p:sp>
        <p:nvSpPr>
          <p:cNvPr id="13" name="AutoShape 13"/>
          <p:cNvSpPr/>
          <p:nvPr/>
        </p:nvSpPr>
        <p:spPr>
          <a:xfrm>
            <a:off x="6437571" y="2994625"/>
            <a:ext cx="5549901" cy="660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E293B"/>
                </a:solidFill>
                <a:latin typeface="Noto Sans SC"/>
                <a:ea typeface="Noto Sans SC"/>
                <a:cs typeface="Noto Sans SC"/>
                <a:sym typeface="Noto Sans SC"/>
              </a:rPr>
              <a:t>Highly Distinct Class Signature</a:t>
            </a:r>
            <a:r>
              <a:rPr lang="en-US" sz="1300" b="0" i="0" u="none" strike="noStrike">
                <a:solidFill>
                  <a:srgbClr val="475569"/>
                </a:solidFill>
                <a:latin typeface="Noto Sans SC"/>
                <a:ea typeface="Noto Sans SC"/>
                <a:cs typeface="Noto Sans SC"/>
                <a:sym typeface="Noto Sans SC"/>
              </a:rPr>
              <a:t>— Class 4 (Cottonwood/Willow) is spatially isolated, demonstrating a unique ecological fingerprint that separates it clearly from coniferous species.</a:t>
            </a:r>
            <a:endParaRPr lang="en-US" sz="1100"/>
          </a:p>
        </p:txBody>
      </p:sp>
      <p:sp>
        <p:nvSpPr>
          <p:cNvPr id="14" name="AutoShape 14"/>
          <p:cNvSpPr/>
          <p:nvPr/>
        </p:nvSpPr>
        <p:spPr>
          <a:xfrm>
            <a:off x="5726371" y="3807425"/>
            <a:ext cx="6342744" cy="812800"/>
          </a:xfrm>
          <a:prstGeom prst="roundRect">
            <a:avLst>
              <a:gd name="adj" fmla="val 0"/>
            </a:avLst>
          </a:prstGeom>
          <a:solidFill>
            <a:srgbClr val="F59E0B">
              <a:alpha val="6000"/>
            </a:srgbClr>
          </a:solidFill>
          <a:ln cap="flat" cmpd="sng">
            <a:solidFill>
              <a:srgbClr val="DC8A00">
                <a:alpha val="6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78771" y="4010625"/>
            <a:ext cx="390323" cy="406400"/>
          </a:xfrm>
          <a:prstGeom prst="rect">
            <a:avLst/>
          </a:prstGeom>
        </p:spPr>
      </p:pic>
      <p:sp>
        <p:nvSpPr>
          <p:cNvPr id="16" name="AutoShape 16"/>
          <p:cNvSpPr/>
          <p:nvPr/>
        </p:nvSpPr>
        <p:spPr>
          <a:xfrm>
            <a:off x="6437571" y="3883625"/>
            <a:ext cx="5549901" cy="660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E293B"/>
                </a:solidFill>
                <a:latin typeface="Noto Sans SC"/>
                <a:ea typeface="Noto Sans SC"/>
                <a:cs typeface="Noto Sans SC"/>
                <a:sym typeface="Noto Sans SC"/>
              </a:rPr>
              <a:t>Feature Overlap Between Classes</a:t>
            </a:r>
            <a:r>
              <a:rPr lang="en-US" sz="1300" b="0" i="0" u="none" strike="noStrike">
                <a:solidFill>
                  <a:srgbClr val="475569"/>
                </a:solidFill>
                <a:latin typeface="Noto Sans SC"/>
                <a:ea typeface="Noto Sans SC"/>
                <a:cs typeface="Noto Sans SC"/>
                <a:sym typeface="Noto Sans SC"/>
              </a:rPr>
              <a:t>— Classes 5 (Aspen) and 6 (Douglas-fir) show significant overlap, suggesting these deciduous and coniferous types share similar environmental covariates.</a:t>
            </a:r>
            <a:endParaRPr lang="en-US" sz="1100"/>
          </a:p>
        </p:txBody>
      </p:sp>
      <p:sp>
        <p:nvSpPr>
          <p:cNvPr id="17" name="AutoShape 17"/>
          <p:cNvSpPr/>
          <p:nvPr/>
        </p:nvSpPr>
        <p:spPr>
          <a:xfrm>
            <a:off x="5726371" y="4696425"/>
            <a:ext cx="6342744" cy="812800"/>
          </a:xfrm>
          <a:prstGeom prst="roundRect">
            <a:avLst>
              <a:gd name="adj" fmla="val 0"/>
            </a:avLst>
          </a:prstGeom>
          <a:solidFill>
            <a:srgbClr val="8B5CF6">
              <a:alpha val="6000"/>
            </a:srgbClr>
          </a:solidFill>
          <a:ln cap="flat" cmpd="sng">
            <a:solidFill>
              <a:srgbClr val="6D3CDD">
                <a:alpha val="6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78771" y="4899625"/>
            <a:ext cx="390323" cy="406400"/>
          </a:xfrm>
          <a:prstGeom prst="rect">
            <a:avLst/>
          </a:prstGeom>
        </p:spPr>
      </p:pic>
      <p:sp>
        <p:nvSpPr>
          <p:cNvPr id="19" name="AutoShape 19"/>
          <p:cNvSpPr/>
          <p:nvPr/>
        </p:nvSpPr>
        <p:spPr>
          <a:xfrm>
            <a:off x="6437571" y="4772625"/>
            <a:ext cx="5549901" cy="660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E293B"/>
                </a:solidFill>
                <a:latin typeface="Noto Sans SC"/>
                <a:ea typeface="Noto Sans SC"/>
                <a:cs typeface="Noto Sans SC"/>
                <a:sym typeface="Noto Sans SC"/>
              </a:rPr>
              <a:t>Non-Linear Separability</a:t>
            </a:r>
            <a:r>
              <a:rPr lang="en-US" sz="1300" b="0" i="0" u="none" strike="noStrike">
                <a:solidFill>
                  <a:srgbClr val="475569"/>
                </a:solidFill>
                <a:latin typeface="Noto Sans SC"/>
                <a:ea typeface="Noto Sans SC"/>
                <a:cs typeface="Noto Sans SC"/>
                <a:sym typeface="Noto Sans SC"/>
              </a:rPr>
              <a:t>— The observed grouping and partial overlap confirm the need for non-linear classification models to accurately distinguish between these forest cover types.</a:t>
            </a:r>
            <a:endParaRPr lang="en-US" sz="1100"/>
          </a:p>
        </p:txBody>
      </p:sp>
      <p:pic>
        <p:nvPicPr>
          <p:cNvPr id="20" name="图片 19">
            <a:extLst>
              <a:ext uri="{FF2B5EF4-FFF2-40B4-BE49-F238E27FC236}">
                <a16:creationId xmlns:a16="http://schemas.microsoft.com/office/drawing/2014/main" id="{E949F789-C05C-183D-B61A-B4E76E9C245F}"/>
              </a:ext>
            </a:extLst>
          </p:cNvPr>
          <p:cNvPicPr>
            <a:picLocks noChangeAspect="1"/>
          </p:cNvPicPr>
          <p:nvPr/>
        </p:nvPicPr>
        <p:blipFill>
          <a:blip r:embed="rId7"/>
          <a:stretch>
            <a:fillRect/>
          </a:stretch>
        </p:blipFill>
        <p:spPr>
          <a:xfrm>
            <a:off x="638542" y="1646544"/>
            <a:ext cx="4811238" cy="38626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3" name="文本框 22">
            <a:extLst>
              <a:ext uri="{FF2B5EF4-FFF2-40B4-BE49-F238E27FC236}">
                <a16:creationId xmlns:a16="http://schemas.microsoft.com/office/drawing/2014/main" id="{8352F348-4C15-4DB2-5CF7-AB5887FB5615}"/>
              </a:ext>
            </a:extLst>
          </p:cNvPr>
          <p:cNvSpPr txBox="1"/>
          <p:nvPr/>
        </p:nvSpPr>
        <p:spPr>
          <a:xfrm>
            <a:off x="947336" y="5880177"/>
            <a:ext cx="10253191" cy="461665"/>
          </a:xfrm>
          <a:prstGeom prst="rect">
            <a:avLst/>
          </a:prstGeom>
          <a:noFill/>
        </p:spPr>
        <p:txBody>
          <a:bodyPr wrap="square">
            <a:spAutoFit/>
          </a:bodyPr>
          <a:lstStyle/>
          <a:p>
            <a:r>
              <a:rPr lang="zh-CN" altLang="en-US" sz="1200" dirty="0"/>
              <a:t>We use stratified sampling</a:t>
            </a:r>
            <a:r>
              <a:rPr lang="en-US" altLang="zh-CN" sz="1200" dirty="0"/>
              <a:t> (</a:t>
            </a:r>
            <a:r>
              <a:rPr lang="en-US" altLang="zh-CN" sz="1200" dirty="0">
                <a:solidFill>
                  <a:srgbClr val="64748B"/>
                </a:solidFill>
                <a:latin typeface="Noto Sans SC"/>
                <a:ea typeface="Noto Sans SC"/>
                <a:cs typeface="Noto Sans SC"/>
                <a:sym typeface="Noto Sans SC"/>
              </a:rPr>
              <a:t>t-SNE sample size is 5999, 857 samples for each cover types)</a:t>
            </a:r>
            <a:r>
              <a:rPr lang="zh-CN" altLang="en-US" sz="1200" dirty="0"/>
              <a:t> to balance class representation and control computational cost, followed by PCA to reduce noise while preserving full information, then t-SNE for an interpretable 2D visualization of the data structure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EDB84-D814-8F55-65FC-CA267F6722E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A8D4002-0378-C26C-7737-FD4E038ACD97}"/>
              </a:ext>
            </a:extLst>
          </p:cNvPr>
          <p:cNvSpPr/>
          <p:nvPr/>
        </p:nvSpPr>
        <p:spPr>
          <a:xfrm>
            <a:off x="381000" y="144462"/>
            <a:ext cx="11176000" cy="762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3200" b="1" dirty="0">
                <a:solidFill>
                  <a:srgbClr val="1F2329"/>
                </a:solidFill>
                <a:latin typeface="Noto Sans SC"/>
                <a:ea typeface="Noto Sans SC"/>
                <a:cs typeface="Noto Sans SC"/>
                <a:sym typeface="Noto Sans SC"/>
              </a:rPr>
              <a:t>03</a:t>
            </a:r>
            <a:r>
              <a:rPr lang="zh-CN" altLang="en-US" sz="3200" b="1" dirty="0">
                <a:solidFill>
                  <a:srgbClr val="1F2329"/>
                </a:solidFill>
                <a:latin typeface="Noto Sans SC"/>
                <a:ea typeface="Noto Sans SC"/>
                <a:cs typeface="Noto Sans SC"/>
                <a:sym typeface="Noto Sans SC"/>
              </a:rPr>
              <a:t> </a:t>
            </a:r>
            <a:r>
              <a:rPr lang="en-US" altLang="zh-CN" sz="3200" b="1" dirty="0">
                <a:solidFill>
                  <a:srgbClr val="1F2329"/>
                </a:solidFill>
                <a:latin typeface="Noto Sans SC"/>
                <a:ea typeface="Noto Sans SC"/>
                <a:cs typeface="Noto Sans SC"/>
                <a:sym typeface="Noto Sans SC"/>
              </a:rPr>
              <a:t>Clustering Results on t-SNE Projection</a:t>
            </a:r>
            <a:endParaRPr lang="en-US" sz="1100" dirty="0"/>
          </a:p>
        </p:txBody>
      </p:sp>
      <p:pic>
        <p:nvPicPr>
          <p:cNvPr id="3" name="Picture 3">
            <a:extLst>
              <a:ext uri="{FF2B5EF4-FFF2-40B4-BE49-F238E27FC236}">
                <a16:creationId xmlns:a16="http://schemas.microsoft.com/office/drawing/2014/main" id="{F138C15F-D077-6D8F-3B94-BAA61531AF5F}"/>
              </a:ext>
            </a:extLst>
          </p:cNvPr>
          <p:cNvPicPr>
            <a:picLocks noChangeAspect="1"/>
          </p:cNvPicPr>
          <p:nvPr/>
        </p:nvPicPr>
        <p:blipFill>
          <a:blip r:embed="rId3"/>
          <a:srcRect l="47" r="47"/>
          <a:stretch>
            <a:fillRect/>
          </a:stretch>
        </p:blipFill>
        <p:spPr>
          <a:xfrm>
            <a:off x="1945821" y="1001712"/>
            <a:ext cx="7792357" cy="3225800"/>
          </a:xfrm>
          <a:prstGeom prst="rect">
            <a:avLst/>
          </a:prstGeom>
          <a:noFill/>
          <a:ln w="25400" cap="flat" cmpd="sng">
            <a:noFill/>
            <a:prstDash val="solid"/>
            <a:round/>
          </a:ln>
        </p:spPr>
      </p:pic>
      <p:sp>
        <p:nvSpPr>
          <p:cNvPr id="4" name="AutoShape 4">
            <a:extLst>
              <a:ext uri="{FF2B5EF4-FFF2-40B4-BE49-F238E27FC236}">
                <a16:creationId xmlns:a16="http://schemas.microsoft.com/office/drawing/2014/main" id="{07003C31-E8AA-9141-1DF8-72987E794D20}"/>
              </a:ext>
            </a:extLst>
          </p:cNvPr>
          <p:cNvSpPr/>
          <p:nvPr/>
        </p:nvSpPr>
        <p:spPr>
          <a:xfrm>
            <a:off x="73152" y="4114800"/>
            <a:ext cx="12042648" cy="530352"/>
          </a:xfrm>
          <a:prstGeom prst="rect">
            <a:avLst/>
          </a:prstGeom>
          <a:noFill/>
          <a:ln w="12700" cap="flat" cmpd="sng">
            <a:noFill/>
            <a:prstDash val="solid"/>
            <a:round/>
          </a:ln>
        </p:spPr>
        <p:txBody>
          <a:bodyPr vert="horz" wrap="square" lIns="0" tIns="0" rIns="0" bIns="0" rtlCol="0" anchor="ctr" anchorCtr="0"/>
          <a:lstStyle/>
          <a:p>
            <a:pPr algn="ctr">
              <a:spcAft>
                <a:spcPts val="100"/>
              </a:spcAft>
            </a:pPr>
            <a:r>
              <a:rPr lang="en-US" sz="920" b="0" i="0" u="none" strike="noStrike" dirty="0">
                <a:solidFill>
                  <a:srgbClr val="64748B"/>
                </a:solidFill>
                <a:latin typeface="Noto Sans SC"/>
                <a:ea typeface="Noto Sans SC"/>
                <a:cs typeface="Noto Sans SC"/>
                <a:sym typeface="Noto Sans SC"/>
              </a:rPr>
              <a:t>Figure 1: MiniBatchKMeans (K=3, left) and Ward Hierarchical Clustering (K=4, right).</a:t>
            </a:r>
            <a:endParaRPr lang="en-US" sz="920" b="0" i="0" u="none" strike="noStrike" dirty="0">
              <a:solidFill>
                <a:srgbClr val="64748B"/>
              </a:solidFill>
              <a:latin typeface="Noto Sans SC"/>
              <a:ea typeface="Noto Sans SC"/>
              <a:cs typeface="Noto Sans SC"/>
              <a:sym typeface="Noto Sans SC"/>
            </a:endParaRPr>
          </a:p>
          <a:p>
            <a:pPr algn="ctr"/>
            <a:r>
              <a:rPr lang="en-US" sz="720" b="0" i="0" u="none" strike="noStrike" dirty="0">
                <a:solidFill>
                  <a:srgbClr val="B45309"/>
                </a:solidFill>
                <a:latin typeface="Noto Sans SC"/>
                <a:ea typeface="Noto Sans SC"/>
                <a:cs typeface="Noto Sans SC"/>
                <a:sym typeface="Noto Sans SC"/>
              </a:rPr>
              <a:t>⚠ t-SNE distorts global distances. ARI computed in original 54-D space is the rigorous metric. PCA-space verification plots provided in notebook.</a:t>
            </a:r>
            <a:endParaRPr lang="en-US" sz="720" b="0" i="0" u="none" strike="noStrike" dirty="0">
              <a:solidFill>
                <a:srgbClr val="B45309"/>
              </a:solidFill>
              <a:latin typeface="Noto Sans SC"/>
              <a:ea typeface="Noto Sans SC"/>
              <a:cs typeface="Noto Sans SC"/>
              <a:sym typeface="Noto Sans SC"/>
            </a:endParaRPr>
          </a:p>
        </p:txBody>
      </p:sp>
      <p:sp>
        <p:nvSpPr>
          <p:cNvPr id="5" name="AutoShape 5">
            <a:extLst>
              <a:ext uri="{FF2B5EF4-FFF2-40B4-BE49-F238E27FC236}">
                <a16:creationId xmlns:a16="http://schemas.microsoft.com/office/drawing/2014/main" id="{235E87A3-B1EB-FB68-210D-0D6EFC03EB8C}"/>
              </a:ext>
            </a:extLst>
          </p:cNvPr>
          <p:cNvSpPr/>
          <p:nvPr/>
        </p:nvSpPr>
        <p:spPr>
          <a:xfrm>
            <a:off x="508000" y="4699000"/>
            <a:ext cx="5461000" cy="889000"/>
          </a:xfrm>
          <a:prstGeom prst="roundRect">
            <a:avLst>
              <a:gd name="adj" fmla="val 0"/>
            </a:avLst>
          </a:prstGeom>
          <a:solidFill>
            <a:srgbClr val="3B82F6">
              <a:alpha val="8000"/>
            </a:srgbClr>
          </a:solidFill>
          <a:ln cap="flat" cmpd="sng">
            <a:solidFill>
              <a:srgbClr val="1F67DD">
                <a:alpha val="8000"/>
              </a:srgbClr>
            </a:solidFill>
            <a:prstDash val="solid"/>
            <a:round/>
          </a:ln>
        </p:spPr>
        <p:txBody>
          <a:bodyPr vert="horz" wrap="square" lIns="63500" tIns="63500" rIns="63500" bIns="63500" rtlCol="0" anchor="ctr"/>
          <a:lstStyle/>
          <a:p>
            <a:pPr algn="ctr">
              <a:defRPr/>
            </a:pPr>
            <a:endParaRPr/>
          </a:p>
        </p:txBody>
      </p:sp>
      <p:pic>
        <p:nvPicPr>
          <p:cNvPr id="6" name="Picture 6">
            <a:extLst>
              <a:ext uri="{FF2B5EF4-FFF2-40B4-BE49-F238E27FC236}">
                <a16:creationId xmlns:a16="http://schemas.microsoft.com/office/drawing/2014/main" id="{3B4CE610-4787-31E5-EC9A-76B74300F1D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4889500"/>
            <a:ext cx="304800" cy="304800"/>
          </a:xfrm>
          <a:prstGeom prst="rect">
            <a:avLst/>
          </a:prstGeom>
        </p:spPr>
      </p:pic>
      <p:sp>
        <p:nvSpPr>
          <p:cNvPr id="7" name="AutoShape 7">
            <a:extLst>
              <a:ext uri="{FF2B5EF4-FFF2-40B4-BE49-F238E27FC236}">
                <a16:creationId xmlns:a16="http://schemas.microsoft.com/office/drawing/2014/main" id="{D3524D9B-21FC-1816-873C-A77FAE2561BB}"/>
              </a:ext>
            </a:extLst>
          </p:cNvPr>
          <p:cNvSpPr/>
          <p:nvPr/>
        </p:nvSpPr>
        <p:spPr>
          <a:xfrm>
            <a:off x="1022350" y="4762500"/>
            <a:ext cx="4953000" cy="762000"/>
          </a:xfrm>
          <a:prstGeom prst="rect">
            <a:avLst/>
          </a:prstGeom>
          <a:noFill/>
          <a:ln w="12700" cap="flat" cmpd="sng">
            <a:noFill/>
            <a:prstDash val="solid"/>
            <a:round/>
          </a:ln>
        </p:spPr>
        <p:txBody>
          <a:bodyPr vert="horz" wrap="square" lIns="0" tIns="0" rIns="0" bIns="0" rtlCol="0" anchor="ctr" anchorCtr="0"/>
          <a:lstStyle/>
          <a:p>
            <a:pPr>
              <a:spcAft>
                <a:spcPts val="100"/>
              </a:spcAft>
            </a:pPr>
            <a:r>
              <a:rPr lang="en-US" sz="1250" b="1" i="0" u="none" strike="noStrike" dirty="0" err="1">
                <a:solidFill>
                  <a:srgbClr val="111827"/>
                </a:solidFill>
                <a:latin typeface="Noto Sans SC"/>
                <a:ea typeface="Noto Sans SC"/>
                <a:cs typeface="Noto Sans SC"/>
                <a:sym typeface="Noto Sans SC"/>
              </a:rPr>
              <a:t>MiniBatchKMeans (K=3, sil=0.182)</a:t>
            </a:r>
            <a:endParaRPr lang="en-US" sz="1250" b="1" i="0" u="none" strike="noStrike" dirty="0" err="1">
              <a:solidFill>
                <a:srgbClr val="111827"/>
              </a:solidFill>
              <a:latin typeface="Noto Sans SC"/>
              <a:ea typeface="Noto Sans SC"/>
              <a:cs typeface="Noto Sans SC"/>
              <a:sym typeface="Noto Sans SC"/>
            </a:endParaRPr>
          </a:p>
          <a:p>
            <a:pPr/>
            <a:r>
              <a:rPr lang="en-US" sz="940" b="1" i="0" u="none" strike="noStrike" dirty="0" err="1">
                <a:solidFill>
                  <a:srgbClr val="475569"/>
                </a:solidFill>
                <a:latin typeface="Noto Sans SC"/>
                <a:ea typeface="Noto Sans SC"/>
                <a:cs typeface="Noto Sans SC"/>
                <a:sym typeface="Noto Sans SC"/>
              </a:rPr>
              <a:t>Identifies Natural Groupings. The algorithm partitions the data into three distinct clusters, revealing density-based groupings in the t-SNE embedding.</a:t>
            </a:r>
            <a:endParaRPr lang="en-US" sz="940" b="1" i="0" u="none" strike="noStrike" dirty="0" err="1">
              <a:solidFill>
                <a:srgbClr val="475569"/>
              </a:solidFill>
              <a:latin typeface="Noto Sans SC"/>
              <a:ea typeface="Noto Sans SC"/>
              <a:cs typeface="Noto Sans SC"/>
              <a:sym typeface="Noto Sans SC"/>
            </a:endParaRPr>
          </a:p>
        </p:txBody>
      </p:sp>
      <p:sp>
        <p:nvSpPr>
          <p:cNvPr id="8" name="AutoShape 8">
            <a:extLst>
              <a:ext uri="{FF2B5EF4-FFF2-40B4-BE49-F238E27FC236}">
                <a16:creationId xmlns:a16="http://schemas.microsoft.com/office/drawing/2014/main" id="{03C2BF30-EF02-97F6-226D-CB9763CC387F}"/>
              </a:ext>
            </a:extLst>
          </p:cNvPr>
          <p:cNvSpPr/>
          <p:nvPr/>
        </p:nvSpPr>
        <p:spPr>
          <a:xfrm>
            <a:off x="6216652" y="4705350"/>
            <a:ext cx="5461000" cy="889000"/>
          </a:xfrm>
          <a:prstGeom prst="roundRect">
            <a:avLst>
              <a:gd name="adj" fmla="val 0"/>
            </a:avLst>
          </a:prstGeom>
          <a:solidFill>
            <a:srgbClr val="10B981">
              <a:alpha val="8000"/>
            </a:srgbClr>
          </a:solidFill>
          <a:ln cap="flat" cmpd="sng">
            <a:solidFill>
              <a:srgbClr val="00A06B">
                <a:alpha val="8000"/>
              </a:srgbClr>
            </a:solidFill>
            <a:prstDash val="solid"/>
            <a:round/>
          </a:ln>
        </p:spPr>
        <p:txBody>
          <a:bodyPr vert="horz" wrap="square" lIns="63500" tIns="63500" rIns="63500" bIns="63500" rtlCol="0" anchor="ctr"/>
          <a:lstStyle/>
          <a:p>
            <a:pPr algn="ctr">
              <a:defRPr/>
            </a:pPr>
            <a:endParaRPr/>
          </a:p>
        </p:txBody>
      </p:sp>
      <p:pic>
        <p:nvPicPr>
          <p:cNvPr id="9" name="Picture 9">
            <a:extLst>
              <a:ext uri="{FF2B5EF4-FFF2-40B4-BE49-F238E27FC236}">
                <a16:creationId xmlns:a16="http://schemas.microsoft.com/office/drawing/2014/main" id="{B530A30C-8313-825C-EBAA-BC4905F57EE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3500" y="4889500"/>
            <a:ext cx="304800" cy="304800"/>
          </a:xfrm>
          <a:prstGeom prst="rect">
            <a:avLst/>
          </a:prstGeom>
        </p:spPr>
      </p:pic>
      <p:sp>
        <p:nvSpPr>
          <p:cNvPr id="10" name="AutoShape 10">
            <a:extLst>
              <a:ext uri="{FF2B5EF4-FFF2-40B4-BE49-F238E27FC236}">
                <a16:creationId xmlns:a16="http://schemas.microsoft.com/office/drawing/2014/main" id="{C5EAB968-3F1E-FB7C-A79B-7A95B6BB5CAA}"/>
              </a:ext>
            </a:extLst>
          </p:cNvPr>
          <p:cNvSpPr/>
          <p:nvPr/>
        </p:nvSpPr>
        <p:spPr>
          <a:xfrm>
            <a:off x="6718300" y="4762500"/>
            <a:ext cx="4699000" cy="762000"/>
          </a:xfrm>
          <a:prstGeom prst="rect">
            <a:avLst/>
          </a:prstGeom>
          <a:noFill/>
          <a:ln w="12700" cap="flat" cmpd="sng">
            <a:noFill/>
            <a:prstDash val="solid"/>
            <a:round/>
          </a:ln>
        </p:spPr>
        <p:txBody>
          <a:bodyPr vert="horz" wrap="square" lIns="0" tIns="0" rIns="0" bIns="0" rtlCol="0" anchor="ctr" anchorCtr="0"/>
          <a:lstStyle/>
          <a:p>
            <a:pPr>
              <a:spcAft>
                <a:spcPts val="100"/>
              </a:spcAft>
            </a:pPr>
            <a:r>
              <a:rPr lang="en-US" sz="1250" b="1" i="0" u="none" strike="noStrike" dirty="0">
                <a:solidFill>
                  <a:srgbClr val="111827"/>
                </a:solidFill>
                <a:latin typeface="Noto Sans SC"/>
                <a:ea typeface="Noto Sans SC"/>
                <a:cs typeface="Noto Sans SC"/>
                <a:sym typeface="Noto Sans SC"/>
              </a:rPr>
              <a:t>Ward Hierarchical (K=4, sil=0.156)</a:t>
            </a:r>
            <a:endParaRPr lang="en-US" sz="1250" b="1" i="0" u="none" strike="noStrike" dirty="0">
              <a:solidFill>
                <a:srgbClr val="111827"/>
              </a:solidFill>
              <a:latin typeface="Noto Sans SC"/>
              <a:ea typeface="Noto Sans SC"/>
              <a:cs typeface="Noto Sans SC"/>
              <a:sym typeface="Noto Sans SC"/>
            </a:endParaRPr>
          </a:p>
          <a:p>
            <a:pPr/>
            <a:r>
              <a:rPr lang="en-US" sz="940" b="1" i="0" u="none" strike="noStrike" dirty="0">
                <a:solidFill>
                  <a:srgbClr val="475569"/>
                </a:solidFill>
                <a:latin typeface="Noto Sans SC"/>
                <a:ea typeface="Noto Sans SC"/>
                <a:cs typeface="Noto Sans SC"/>
                <a:sym typeface="Noto Sans SC"/>
              </a:rPr>
              <a:t>Ward linkage merges local structures into four broad clusters, emphasizing higher-level similarities over fine granularity.</a:t>
            </a:r>
            <a:endParaRPr lang="en-US" sz="940" b="1" i="0" u="none" strike="noStrike" dirty="0">
              <a:solidFill>
                <a:srgbClr val="475569"/>
              </a:solidFill>
              <a:latin typeface="Noto Sans SC"/>
              <a:ea typeface="Noto Sans SC"/>
              <a:cs typeface="Noto Sans SC"/>
              <a:sym typeface="Noto Sans SC"/>
            </a:endParaRPr>
          </a:p>
        </p:txBody>
      </p:sp>
      <p:sp>
        <p:nvSpPr>
          <p:cNvPr id="11" name="AutoShape 11">
            <a:extLst>
              <a:ext uri="{FF2B5EF4-FFF2-40B4-BE49-F238E27FC236}">
                <a16:creationId xmlns:a16="http://schemas.microsoft.com/office/drawing/2014/main" id="{CFECB1FD-1524-4780-DE98-BB6491944425}"/>
              </a:ext>
            </a:extLst>
          </p:cNvPr>
          <p:cNvSpPr/>
          <p:nvPr/>
        </p:nvSpPr>
        <p:spPr>
          <a:xfrm>
            <a:off x="508000" y="5651500"/>
            <a:ext cx="5461000" cy="889000"/>
          </a:xfrm>
          <a:prstGeom prst="roundRect">
            <a:avLst>
              <a:gd name="adj" fmla="val 0"/>
            </a:avLst>
          </a:prstGeom>
          <a:solidFill>
            <a:srgbClr val="F59E0B">
              <a:alpha val="8000"/>
            </a:srgbClr>
          </a:solidFill>
          <a:ln cap="flat" cmpd="sng">
            <a:solidFill>
              <a:srgbClr val="DC8A00">
                <a:alpha val="8000"/>
              </a:srgbClr>
            </a:solidFill>
            <a:prstDash val="solid"/>
            <a:round/>
          </a:ln>
        </p:spPr>
        <p:txBody>
          <a:bodyPr vert="horz" wrap="square" lIns="63500" tIns="63500" rIns="63500" bIns="63500" rtlCol="0" anchor="ctr"/>
          <a:lstStyle/>
          <a:p>
            <a:pPr algn="ctr">
              <a:defRPr/>
            </a:pPr>
            <a:endParaRPr/>
          </a:p>
        </p:txBody>
      </p:sp>
      <p:pic>
        <p:nvPicPr>
          <p:cNvPr id="12" name="Picture 12">
            <a:extLst>
              <a:ext uri="{FF2B5EF4-FFF2-40B4-BE49-F238E27FC236}">
                <a16:creationId xmlns:a16="http://schemas.microsoft.com/office/drawing/2014/main" id="{234F2488-6680-E174-C322-AE31FC26931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500" y="5842000"/>
            <a:ext cx="304800" cy="304800"/>
          </a:xfrm>
          <a:prstGeom prst="rect">
            <a:avLst/>
          </a:prstGeom>
        </p:spPr>
      </p:pic>
      <p:sp>
        <p:nvSpPr>
          <p:cNvPr id="13" name="AutoShape 13">
            <a:extLst>
              <a:ext uri="{FF2B5EF4-FFF2-40B4-BE49-F238E27FC236}">
                <a16:creationId xmlns:a16="http://schemas.microsoft.com/office/drawing/2014/main" id="{03E3E60B-31C2-7759-FE42-F3FC76344AC4}"/>
              </a:ext>
            </a:extLst>
          </p:cNvPr>
          <p:cNvSpPr/>
          <p:nvPr/>
        </p:nvSpPr>
        <p:spPr>
          <a:xfrm>
            <a:off x="1022350" y="5715000"/>
            <a:ext cx="4699000" cy="762000"/>
          </a:xfrm>
          <a:prstGeom prst="rect">
            <a:avLst/>
          </a:prstGeom>
          <a:noFill/>
          <a:ln w="12700" cap="flat" cmpd="sng">
            <a:noFill/>
            <a:prstDash val="solid"/>
            <a:round/>
          </a:ln>
        </p:spPr>
        <p:txBody>
          <a:bodyPr vert="horz" wrap="square" lIns="0" tIns="0" rIns="0" bIns="0" rtlCol="0" anchor="ctr" anchorCtr="0"/>
          <a:lstStyle/>
          <a:p>
            <a:pPr>
              <a:spcAft>
                <a:spcPts val="100"/>
              </a:spcAft>
            </a:pPr>
            <a:r>
              <a:rPr lang="en-US" sz="1150" b="1" i="0" u="none" strike="noStrike" dirty="0">
                <a:solidFill>
                  <a:srgbClr val="111827"/>
                </a:solidFill>
                <a:latin typeface="Noto Sans SC"/>
                <a:ea typeface="Noto Sans SC"/>
                <a:cs typeface="Noto Sans SC"/>
                <a:sym typeface="Noto Sans SC"/>
              </a:rPr>
              <a:t>Limitations for Fine-Grained Classification</a:t>
            </a:r>
            <a:endParaRPr lang="en-US" sz="1150" b="1" i="0" u="none" strike="noStrike" dirty="0">
              <a:solidFill>
                <a:srgbClr val="111827"/>
              </a:solidFill>
              <a:latin typeface="Noto Sans SC"/>
              <a:ea typeface="Noto Sans SC"/>
              <a:cs typeface="Noto Sans SC"/>
              <a:sym typeface="Noto Sans SC"/>
            </a:endParaRPr>
          </a:p>
          <a:p>
            <a:pPr/>
            <a:r>
              <a:rPr lang="en-US" sz="880" b="1" i="0" u="none" strike="noStrike" dirty="0">
                <a:solidFill>
                  <a:srgbClr val="475569"/>
                </a:solidFill>
                <a:latin typeface="Noto Sans SC"/>
                <a:ea typeface="Noto Sans SC"/>
                <a:cs typeface="Noto Sans SC"/>
                <a:sym typeface="Noto Sans SC"/>
              </a:rPr>
              <a:t>Neither method recovers the true 7-class structure. ARI=0.075 (K-Means) and 0.061 (Ward) vs. true labels — far below supervised models (0.908).</a:t>
            </a:r>
            <a:endParaRPr lang="en-US" sz="880" b="1" i="0" u="none" strike="noStrike" dirty="0">
              <a:solidFill>
                <a:srgbClr val="475569"/>
              </a:solidFill>
              <a:latin typeface="Noto Sans SC"/>
              <a:ea typeface="Noto Sans SC"/>
              <a:cs typeface="Noto Sans SC"/>
              <a:sym typeface="Noto Sans SC"/>
            </a:endParaRPr>
          </a:p>
        </p:txBody>
      </p:sp>
      <p:sp>
        <p:nvSpPr>
          <p:cNvPr id="14" name="AutoShape 14">
            <a:extLst>
              <a:ext uri="{FF2B5EF4-FFF2-40B4-BE49-F238E27FC236}">
                <a16:creationId xmlns:a16="http://schemas.microsoft.com/office/drawing/2014/main" id="{EFED215B-D4A9-221E-8BF7-65AB568E62DB}"/>
              </a:ext>
            </a:extLst>
          </p:cNvPr>
          <p:cNvSpPr/>
          <p:nvPr/>
        </p:nvSpPr>
        <p:spPr>
          <a:xfrm>
            <a:off x="6223000" y="5651500"/>
            <a:ext cx="5461000" cy="889000"/>
          </a:xfrm>
          <a:prstGeom prst="roundRect">
            <a:avLst>
              <a:gd name="adj" fmla="val 0"/>
            </a:avLst>
          </a:prstGeom>
          <a:solidFill>
            <a:srgbClr val="8B5CF6">
              <a:alpha val="8000"/>
            </a:srgbClr>
          </a:solidFill>
          <a:ln cap="flat" cmpd="sng">
            <a:solidFill>
              <a:srgbClr val="6D3CDD">
                <a:alpha val="8000"/>
              </a:srgbClr>
            </a:solidFill>
            <a:prstDash val="solid"/>
            <a:round/>
          </a:ln>
        </p:spPr>
        <p:txBody>
          <a:bodyPr vert="horz" wrap="square" lIns="63500" tIns="63500" rIns="63500" bIns="63500" rtlCol="0" anchor="ctr"/>
          <a:lstStyle/>
          <a:p>
            <a:pPr algn="ctr">
              <a:defRPr/>
            </a:pPr>
            <a:endParaRPr/>
          </a:p>
        </p:txBody>
      </p:sp>
      <p:pic>
        <p:nvPicPr>
          <p:cNvPr id="15" name="Picture 15">
            <a:extLst>
              <a:ext uri="{FF2B5EF4-FFF2-40B4-BE49-F238E27FC236}">
                <a16:creationId xmlns:a16="http://schemas.microsoft.com/office/drawing/2014/main" id="{AC3B73A0-EA76-3F7A-563A-68AB28740C9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13500" y="5842000"/>
            <a:ext cx="304800" cy="304800"/>
          </a:xfrm>
          <a:prstGeom prst="rect">
            <a:avLst/>
          </a:prstGeom>
        </p:spPr>
      </p:pic>
      <p:sp>
        <p:nvSpPr>
          <p:cNvPr id="16" name="AutoShape 16">
            <a:extLst>
              <a:ext uri="{FF2B5EF4-FFF2-40B4-BE49-F238E27FC236}">
                <a16:creationId xmlns:a16="http://schemas.microsoft.com/office/drawing/2014/main" id="{F3037DC4-4D1E-174A-1A98-971DF725C990}"/>
              </a:ext>
            </a:extLst>
          </p:cNvPr>
          <p:cNvSpPr/>
          <p:nvPr/>
        </p:nvSpPr>
        <p:spPr>
          <a:xfrm>
            <a:off x="6851650" y="5712031"/>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dirty="0">
                <a:solidFill>
                  <a:srgbClr val="1F2329"/>
                </a:solidFill>
                <a:latin typeface="Noto Sans SC"/>
                <a:ea typeface="Noto Sans SC"/>
                <a:cs typeface="Noto Sans SC"/>
                <a:sym typeface="Noto Sans SC"/>
              </a:rPr>
              <a:t>Ecological Zone Correlation</a:t>
            </a:r>
            <a:endParaRPr lang="en-US" sz="1100" dirty="0"/>
          </a:p>
          <a:p>
            <a:pPr marL="0" indent="0" algn="l">
              <a:lnSpc>
                <a:spcPct val="100000"/>
              </a:lnSpc>
            </a:pPr>
            <a:r>
              <a:rPr lang="en-US" sz="1300" b="0" i="0" u="none" strike="noStrike" dirty="0">
                <a:solidFill>
                  <a:srgbClr val="4B5563"/>
                </a:solidFill>
                <a:latin typeface="Noto Sans SC"/>
                <a:ea typeface="Noto Sans SC"/>
                <a:cs typeface="Noto Sans SC"/>
                <a:sym typeface="Noto Sans SC"/>
              </a:rPr>
              <a:t>The derived cluster boundaries align closely with elevation gradients and known ecological zones, validating the biological relevance of the unsupervised partitions.</a:t>
            </a:r>
          </a:p>
        </p:txBody>
      </p:sp>
      <p:sp>
        <p:nvSpPr>
          <p:cNvPr id="17" name="Ward K4 plot title overlay"/>
          <p:cNvSpPr/>
          <p:nvPr/>
        </p:nvSpPr>
        <p:spPr>
          <a:xfrm>
            <a:off x="7013448" y="1014984"/>
            <a:ext cx="2121408" cy="164592"/>
          </a:xfrm>
          <a:prstGeom prst="rect">
            <a:avLst/>
          </a:prstGeom>
          <a:solidFill>
            <a:srgbClr val="FFFFFF"/>
          </a:solidFill>
          <a:ln w="12700" cap="flat" cmpd="sng">
            <a:noFill/>
            <a:prstDash val="solid"/>
            <a:round/>
          </a:ln>
        </p:spPr>
        <p:txBody>
          <a:bodyPr vert="horz" wrap="square" lIns="0" tIns="0" rIns="0" bIns="0" rtlCol="0" anchor="ctr" anchorCtr="0"/>
          <a:lstStyle/>
          <a:p>
            <a:pPr algn="ctr"/>
            <a:r>
              <a:rPr sz="720" b="0"/>
              <a:t>Ward Hierarchical Clusters (K=4)</a:t>
            </a:r>
            <a:endParaRPr sz="720" b="0"/>
          </a:p>
        </p:txBody>
      </p:sp>
    </p:spTree>
    <p:extLst>
      <p:ext uri="{BB962C8B-B14F-4D97-AF65-F5344CB8AC3E}">
        <p14:creationId xmlns:p14="http://schemas.microsoft.com/office/powerpoint/2010/main" val="1477859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0" y="-635000"/>
            <a:ext cx="2540000" cy="254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35000" y="5080000"/>
            <a:ext cx="1905000" cy="1905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143674"/>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1E293B"/>
                </a:solidFill>
                <a:latin typeface="Noto Sans SC"/>
                <a:ea typeface="Noto Sans SC"/>
                <a:cs typeface="Noto Sans SC"/>
                <a:sym typeface="Noto Sans SC"/>
              </a:rPr>
              <a:t>04 Predictive Model Training</a:t>
            </a:r>
            <a:endParaRPr lang="en-US" sz="1100" dirty="0"/>
          </a:p>
        </p:txBody>
      </p:sp>
      <p:sp>
        <p:nvSpPr>
          <p:cNvPr id="5" name="AutoShape 5"/>
          <p:cNvSpPr/>
          <p:nvPr/>
        </p:nvSpPr>
        <p:spPr>
          <a:xfrm>
            <a:off x="610720" y="1046280"/>
            <a:ext cx="5461000" cy="2159000"/>
          </a:xfrm>
          <a:prstGeom prst="roundRect">
            <a:avLst>
              <a:gd name="adj" fmla="val 0"/>
            </a:avLst>
          </a:prstGeom>
          <a:solidFill>
            <a:srgbClr val="3B82F6">
              <a:alpha val="6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64720" y="1236780"/>
            <a:ext cx="508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2563EB"/>
                </a:solidFill>
                <a:latin typeface="Noto Sans SC"/>
                <a:ea typeface="Noto Sans SC"/>
                <a:cs typeface="Noto Sans SC"/>
                <a:sym typeface="Noto Sans SC"/>
              </a:rPr>
              <a:t>Logistic Regression (Baseline)</a:t>
            </a:r>
            <a:endParaRPr lang="en-US" sz="1100" dirty="0"/>
          </a:p>
        </p:txBody>
      </p:sp>
      <p:cxnSp>
        <p:nvCxnSpPr>
          <p:cNvPr id="7" name="Connector 7"/>
          <p:cNvCxnSpPr/>
          <p:nvPr/>
        </p:nvCxnSpPr>
        <p:spPr>
          <a:xfrm rot="-8814">
            <a:off x="864728" y="1738430"/>
            <a:ext cx="4953000" cy="12700"/>
          </a:xfrm>
          <a:prstGeom prst="line">
            <a:avLst/>
          </a:prstGeom>
          <a:solidFill>
            <a:srgbClr val="DEE0E3">
              <a:alpha val="100000"/>
            </a:srgbClr>
          </a:solidFill>
          <a:ln w="12700" cap="flat" cmpd="sng">
            <a:solidFill>
              <a:srgbClr val="3B82F6">
                <a:alpha val="20000"/>
              </a:srgbClr>
            </a:solidFill>
            <a:prstDash val="solid"/>
            <a:round/>
            <a:headEnd type="none" w="med" len="med"/>
            <a:tailEnd type="none" w="med" len="med"/>
          </a:ln>
        </p:spPr>
      </p:cxnSp>
      <p:sp>
        <p:nvSpPr>
          <p:cNvPr id="8" name="AutoShape 8"/>
          <p:cNvSpPr/>
          <p:nvPr/>
        </p:nvSpPr>
        <p:spPr>
          <a:xfrm>
            <a:off x="864719" y="1681280"/>
            <a:ext cx="241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dirty="0">
                <a:solidFill>
                  <a:srgbClr val="64748B"/>
                </a:solidFill>
                <a:latin typeface="Noto Sans SC"/>
                <a:ea typeface="Noto Sans SC"/>
                <a:cs typeface="Noto Sans SC"/>
                <a:sym typeface="Noto Sans SC"/>
              </a:rPr>
              <a:t>Test Accuracy</a:t>
            </a:r>
            <a:br>
              <a:rPr lang="en-US" sz="1600" b="0" i="0" u="none" strike="noStrike" dirty="0">
                <a:solidFill>
                  <a:srgbClr val="1F2329"/>
                </a:solidFill>
                <a:latin typeface="Noto Sans SC"/>
                <a:ea typeface="Noto Sans SC"/>
                <a:cs typeface="Noto Sans SC"/>
                <a:sym typeface="Noto Sans SC"/>
              </a:rPr>
            </a:br>
            <a:r>
              <a:rPr lang="en-US" sz="2400" b="1" i="0" u="none" strike="noStrike" dirty="0">
                <a:solidFill>
                  <a:srgbClr val="2563EB"/>
                </a:solidFill>
                <a:latin typeface="Noto Sans SC"/>
                <a:ea typeface="Noto Sans SC"/>
                <a:cs typeface="Noto Sans SC"/>
                <a:sym typeface="Noto Sans SC"/>
              </a:rPr>
              <a:t>0.676</a:t>
            </a:r>
            <a:endParaRPr lang="en-US" sz="1100" dirty="0"/>
          </a:p>
        </p:txBody>
      </p:sp>
      <p:sp>
        <p:nvSpPr>
          <p:cNvPr id="9" name="AutoShape 9"/>
          <p:cNvSpPr/>
          <p:nvPr/>
        </p:nvSpPr>
        <p:spPr>
          <a:xfrm>
            <a:off x="2553820" y="1685363"/>
            <a:ext cx="241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dirty="0">
                <a:solidFill>
                  <a:srgbClr val="64748B"/>
                </a:solidFill>
                <a:latin typeface="Noto Sans SC"/>
                <a:ea typeface="Noto Sans SC"/>
                <a:cs typeface="Noto Sans SC"/>
                <a:sym typeface="Noto Sans SC"/>
              </a:rPr>
              <a:t>Macro F1 Score</a:t>
            </a:r>
            <a:br>
              <a:rPr lang="en-US" sz="1600" b="0" i="0" u="none" strike="noStrike" dirty="0">
                <a:solidFill>
                  <a:srgbClr val="1F2329"/>
                </a:solidFill>
                <a:latin typeface="Noto Sans SC"/>
                <a:ea typeface="Noto Sans SC"/>
                <a:cs typeface="Noto Sans SC"/>
                <a:sym typeface="Noto Sans SC"/>
              </a:rPr>
            </a:br>
            <a:r>
              <a:rPr lang="en-US" sz="2400" b="1" i="0" u="none" strike="noStrike" dirty="0">
                <a:solidFill>
                  <a:srgbClr val="2563EB"/>
                </a:solidFill>
                <a:latin typeface="Noto Sans SC"/>
                <a:ea typeface="Noto Sans SC"/>
                <a:cs typeface="Noto Sans SC"/>
                <a:sym typeface="Noto Sans SC"/>
              </a:rPr>
              <a:t>0.660</a:t>
            </a:r>
            <a:endParaRPr lang="en-US" sz="1100" dirty="0"/>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821" y="2497709"/>
            <a:ext cx="254000" cy="254000"/>
          </a:xfrm>
          <a:prstGeom prst="rect">
            <a:avLst/>
          </a:prstGeom>
        </p:spPr>
      </p:pic>
      <p:sp>
        <p:nvSpPr>
          <p:cNvPr id="11" name="AutoShape 11"/>
          <p:cNvSpPr/>
          <p:nvPr/>
        </p:nvSpPr>
        <p:spPr>
          <a:xfrm>
            <a:off x="1118737" y="2374868"/>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475569"/>
                </a:solidFill>
                <a:latin typeface="Noto Sans SC"/>
                <a:ea typeface="Noto Sans SC"/>
                <a:cs typeface="Noto Sans SC"/>
                <a:sym typeface="Noto Sans SC"/>
              </a:rPr>
              <a:t>Speed:</a:t>
            </a:r>
            <a:r>
              <a:rPr lang="zh-CN" altLang="en-US" sz="1400" b="1" i="0" u="none" strike="noStrike" dirty="0">
                <a:solidFill>
                  <a:srgbClr val="475569"/>
                </a:solidFill>
                <a:latin typeface="Noto Sans SC"/>
                <a:ea typeface="Noto Sans SC"/>
                <a:cs typeface="Noto Sans SC"/>
                <a:sym typeface="Noto Sans SC"/>
              </a:rPr>
              <a:t> </a:t>
            </a:r>
            <a:endParaRPr lang="en-US" altLang="zh-CN" sz="1400" b="1" i="0" u="none" strike="noStrike" dirty="0">
              <a:solidFill>
                <a:srgbClr val="475569"/>
              </a:solidFill>
              <a:latin typeface="Noto Sans SC"/>
              <a:ea typeface="Noto Sans SC"/>
              <a:cs typeface="Noto Sans SC"/>
              <a:sym typeface="Noto Sans SC"/>
            </a:endParaRPr>
          </a:p>
          <a:p>
            <a:pPr marL="0" indent="0" algn="l">
              <a:lnSpc>
                <a:spcPct val="125000"/>
              </a:lnSpc>
              <a:defRPr/>
            </a:pPr>
            <a:r>
              <a:rPr lang="en-US" sz="1400" b="0" i="0" u="none" strike="noStrike" dirty="0">
                <a:solidFill>
                  <a:srgbClr val="475569"/>
                </a:solidFill>
                <a:latin typeface="Noto Sans SC"/>
                <a:ea typeface="Noto Sans SC"/>
                <a:cs typeface="Noto Sans SC"/>
                <a:sym typeface="Noto Sans SC"/>
              </a:rPr>
              <a:t>Fast training (linear complexity), low inference latency</a:t>
            </a:r>
            <a:endParaRPr lang="en-US" sz="1100" dirty="0"/>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5821" y="2810674"/>
            <a:ext cx="254000" cy="254000"/>
          </a:xfrm>
          <a:prstGeom prst="rect">
            <a:avLst/>
          </a:prstGeom>
        </p:spPr>
      </p:pic>
      <p:sp>
        <p:nvSpPr>
          <p:cNvPr id="13" name="AutoShape 13"/>
          <p:cNvSpPr/>
          <p:nvPr/>
        </p:nvSpPr>
        <p:spPr>
          <a:xfrm>
            <a:off x="1118737" y="2804742"/>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475569"/>
                </a:solidFill>
                <a:latin typeface="Noto Sans SC"/>
                <a:ea typeface="Noto Sans SC"/>
                <a:cs typeface="Noto Sans SC"/>
                <a:sym typeface="Noto Sans SC"/>
              </a:rPr>
              <a:t>Stability:</a:t>
            </a:r>
            <a:r>
              <a:rPr lang="zh-CN" altLang="en-US" sz="1400" b="1" i="0" u="none" strike="noStrike" dirty="0">
                <a:solidFill>
                  <a:srgbClr val="475569"/>
                </a:solidFill>
                <a:latin typeface="Noto Sans SC"/>
                <a:ea typeface="Noto Sans SC"/>
                <a:cs typeface="Noto Sans SC"/>
                <a:sym typeface="Noto Sans SC"/>
              </a:rPr>
              <a:t> </a:t>
            </a:r>
            <a:endParaRPr lang="en-US" altLang="zh-CN" sz="1400" b="1" i="0" u="none" strike="noStrike" dirty="0">
              <a:solidFill>
                <a:srgbClr val="475569"/>
              </a:solidFill>
              <a:latin typeface="Noto Sans SC"/>
              <a:ea typeface="Noto Sans SC"/>
              <a:cs typeface="Noto Sans SC"/>
              <a:sym typeface="Noto Sans SC"/>
            </a:endParaRPr>
          </a:p>
          <a:p>
            <a:pPr marL="0" indent="0" algn="l">
              <a:lnSpc>
                <a:spcPct val="125000"/>
              </a:lnSpc>
              <a:defRPr/>
            </a:pPr>
            <a:r>
              <a:rPr lang="en-US" sz="1400" b="0" i="0" u="none" strike="noStrike" dirty="0">
                <a:solidFill>
                  <a:srgbClr val="475569"/>
                </a:solidFill>
                <a:latin typeface="Noto Sans SC"/>
                <a:ea typeface="Noto Sans SC"/>
                <a:cs typeface="Noto Sans SC"/>
                <a:sym typeface="Noto Sans SC"/>
              </a:rPr>
              <a:t>No overfitting (ΔF1 = 0.002), very robust to noise</a:t>
            </a:r>
            <a:endParaRPr lang="en-US" sz="1100" dirty="0"/>
          </a:p>
        </p:txBody>
      </p:sp>
      <p:sp>
        <p:nvSpPr>
          <p:cNvPr id="14" name="AutoShape 14"/>
          <p:cNvSpPr/>
          <p:nvPr/>
        </p:nvSpPr>
        <p:spPr>
          <a:xfrm>
            <a:off x="6313020" y="1046280"/>
            <a:ext cx="5219700" cy="2159000"/>
          </a:xfrm>
          <a:prstGeom prst="roundRect">
            <a:avLst>
              <a:gd name="adj" fmla="val 0"/>
            </a:avLst>
          </a:prstGeom>
          <a:solidFill>
            <a:srgbClr val="10B981">
              <a:alpha val="6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579720" y="1236780"/>
            <a:ext cx="508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16A34A"/>
                </a:solidFill>
                <a:latin typeface="Noto Sans SC"/>
                <a:ea typeface="Noto Sans SC"/>
                <a:cs typeface="Noto Sans SC"/>
                <a:sym typeface="Noto Sans SC"/>
              </a:rPr>
              <a:t>Decision Tree (Optimized)</a:t>
            </a:r>
            <a:endParaRPr lang="en-US" sz="1100" dirty="0"/>
          </a:p>
        </p:txBody>
      </p:sp>
      <p:cxnSp>
        <p:nvCxnSpPr>
          <p:cNvPr id="16" name="Connector 16"/>
          <p:cNvCxnSpPr/>
          <p:nvPr/>
        </p:nvCxnSpPr>
        <p:spPr>
          <a:xfrm rot="-8814">
            <a:off x="6579728" y="1738430"/>
            <a:ext cx="4953000" cy="12700"/>
          </a:xfrm>
          <a:prstGeom prst="line">
            <a:avLst/>
          </a:prstGeom>
          <a:solidFill>
            <a:srgbClr val="DEE0E3">
              <a:alpha val="100000"/>
            </a:srgbClr>
          </a:solidFill>
          <a:ln w="12700" cap="flat" cmpd="sng">
            <a:solidFill>
              <a:srgbClr val="10B981">
                <a:alpha val="20000"/>
              </a:srgbClr>
            </a:solidFill>
            <a:prstDash val="solid"/>
            <a:round/>
            <a:headEnd type="none" w="med" len="med"/>
            <a:tailEnd type="none" w="med" len="med"/>
          </a:ln>
        </p:spPr>
      </p:cxnSp>
      <p:sp>
        <p:nvSpPr>
          <p:cNvPr id="17" name="AutoShape 17"/>
          <p:cNvSpPr/>
          <p:nvPr/>
        </p:nvSpPr>
        <p:spPr>
          <a:xfrm>
            <a:off x="6579719" y="1681280"/>
            <a:ext cx="241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dirty="0">
                <a:solidFill>
                  <a:srgbClr val="64748B"/>
                </a:solidFill>
                <a:latin typeface="Noto Sans SC"/>
                <a:ea typeface="Noto Sans SC"/>
                <a:cs typeface="Noto Sans SC"/>
                <a:sym typeface="Noto Sans SC"/>
              </a:rPr>
              <a:t>Test Accuracy</a:t>
            </a:r>
            <a:br>
              <a:rPr lang="en-US" sz="1600" b="0" i="0" u="none" strike="noStrike" dirty="0">
                <a:solidFill>
                  <a:srgbClr val="1F2329"/>
                </a:solidFill>
                <a:latin typeface="Noto Sans SC"/>
                <a:ea typeface="Noto Sans SC"/>
                <a:cs typeface="Noto Sans SC"/>
                <a:sym typeface="Noto Sans SC"/>
              </a:rPr>
            </a:br>
            <a:r>
              <a:rPr lang="en-US" sz="2400" b="1" i="0" u="none" strike="noStrike" dirty="0">
                <a:solidFill>
                  <a:srgbClr val="16A34A"/>
                </a:solidFill>
                <a:latin typeface="Noto Sans SC"/>
                <a:ea typeface="Noto Sans SC"/>
                <a:cs typeface="Noto Sans SC"/>
                <a:sym typeface="Noto Sans SC"/>
              </a:rPr>
              <a:t>0.823</a:t>
            </a:r>
            <a:endParaRPr lang="en-US" sz="1100" dirty="0"/>
          </a:p>
        </p:txBody>
      </p:sp>
      <p:sp>
        <p:nvSpPr>
          <p:cNvPr id="18" name="AutoShape 18"/>
          <p:cNvSpPr/>
          <p:nvPr/>
        </p:nvSpPr>
        <p:spPr>
          <a:xfrm>
            <a:off x="8268821" y="1683395"/>
            <a:ext cx="241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dirty="0">
                <a:solidFill>
                  <a:srgbClr val="64748B"/>
                </a:solidFill>
                <a:latin typeface="Noto Sans SC"/>
                <a:ea typeface="Noto Sans SC"/>
                <a:cs typeface="Noto Sans SC"/>
                <a:sym typeface="Noto Sans SC"/>
              </a:rPr>
              <a:t>Macro F1 Score</a:t>
            </a:r>
            <a:br>
              <a:rPr lang="en-US" sz="1600" b="0" i="0" u="none" strike="noStrike" dirty="0">
                <a:solidFill>
                  <a:srgbClr val="1F2329"/>
                </a:solidFill>
                <a:latin typeface="Noto Sans SC"/>
                <a:ea typeface="Noto Sans SC"/>
                <a:cs typeface="Noto Sans SC"/>
                <a:sym typeface="Noto Sans SC"/>
              </a:rPr>
            </a:br>
            <a:r>
              <a:rPr lang="en-US" sz="2400" b="1" i="0" u="none" strike="noStrike" dirty="0">
                <a:solidFill>
                  <a:srgbClr val="16A34A"/>
                </a:solidFill>
                <a:latin typeface="Noto Sans SC"/>
                <a:ea typeface="Noto Sans SC"/>
                <a:cs typeface="Noto Sans SC"/>
                <a:sym typeface="Noto Sans SC"/>
              </a:rPr>
              <a:t>0.819</a:t>
            </a:r>
            <a:endParaRPr lang="en-US" sz="1100" dirty="0"/>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62270" y="2505874"/>
            <a:ext cx="254000" cy="254000"/>
          </a:xfrm>
          <a:prstGeom prst="rect">
            <a:avLst/>
          </a:prstGeom>
        </p:spPr>
      </p:pic>
      <p:sp>
        <p:nvSpPr>
          <p:cNvPr id="20" name="AutoShape 20"/>
          <p:cNvSpPr/>
          <p:nvPr/>
        </p:nvSpPr>
        <p:spPr>
          <a:xfrm>
            <a:off x="7036920" y="2458703"/>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475569"/>
                </a:solidFill>
                <a:latin typeface="Noto Sans SC"/>
                <a:ea typeface="Noto Sans SC"/>
                <a:cs typeface="Noto Sans SC"/>
                <a:sym typeface="Noto Sans SC"/>
              </a:rPr>
              <a:t>Config:</a:t>
            </a:r>
            <a:r>
              <a:rPr lang="zh-CN" altLang="en-US" sz="1400" b="1" i="0" u="none" strike="noStrike" dirty="0">
                <a:solidFill>
                  <a:srgbClr val="475569"/>
                </a:solidFill>
                <a:latin typeface="Noto Sans SC"/>
                <a:ea typeface="Noto Sans SC"/>
                <a:cs typeface="Noto Sans SC"/>
                <a:sym typeface="Noto Sans SC"/>
              </a:rPr>
              <a:t> </a:t>
            </a:r>
            <a:r>
              <a:rPr lang="en-US" sz="1400" b="0" i="0" u="none" strike="noStrike" dirty="0">
                <a:solidFill>
                  <a:srgbClr val="475569"/>
                </a:solidFill>
                <a:latin typeface="Noto Sans SC"/>
                <a:ea typeface="Noto Sans SC"/>
                <a:cs typeface="Noto Sans SC"/>
                <a:sym typeface="Noto Sans SC"/>
              </a:rPr>
              <a:t>Max Depth=24, Min Samples Leaf=15 (fine-tuned)</a:t>
            </a:r>
            <a:endParaRPr lang="en-US" sz="1100" dirty="0"/>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62270" y="2824280"/>
            <a:ext cx="254000" cy="254000"/>
          </a:xfrm>
          <a:prstGeom prst="rect">
            <a:avLst/>
          </a:prstGeom>
        </p:spPr>
      </p:pic>
      <p:sp>
        <p:nvSpPr>
          <p:cNvPr id="22" name="AutoShape 22"/>
          <p:cNvSpPr/>
          <p:nvPr/>
        </p:nvSpPr>
        <p:spPr>
          <a:xfrm>
            <a:off x="7036920" y="2759874"/>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475569"/>
                </a:solidFill>
                <a:latin typeface="Noto Sans SC"/>
                <a:ea typeface="Noto Sans SC"/>
                <a:cs typeface="Noto Sans SC"/>
                <a:sym typeface="Noto Sans SC"/>
              </a:rPr>
              <a:t>Fit:</a:t>
            </a:r>
            <a:r>
              <a:rPr lang="zh-CN" altLang="en-US" sz="1400" b="1" i="0" u="none" strike="noStrike" dirty="0">
                <a:solidFill>
                  <a:srgbClr val="475569"/>
                </a:solidFill>
                <a:latin typeface="Noto Sans SC"/>
                <a:ea typeface="Noto Sans SC"/>
                <a:cs typeface="Noto Sans SC"/>
                <a:sym typeface="Noto Sans SC"/>
              </a:rPr>
              <a:t> </a:t>
            </a:r>
            <a:r>
              <a:rPr lang="en-US" sz="1400" b="0" i="0" u="none" strike="noStrike" dirty="0">
                <a:solidFill>
                  <a:srgbClr val="475569"/>
                </a:solidFill>
                <a:latin typeface="Noto Sans SC"/>
                <a:ea typeface="Noto Sans SC"/>
                <a:cs typeface="Noto Sans SC"/>
                <a:sym typeface="Noto Sans SC"/>
              </a:rPr>
              <a:t>Mild overfitting (ΔF1 = 0.046), high predictive power</a:t>
            </a:r>
            <a:endParaRPr lang="en-US" sz="1100" dirty="0"/>
          </a:p>
        </p:txBody>
      </p:sp>
      <p:sp>
        <p:nvSpPr>
          <p:cNvPr id="23" name="AutoShape 23"/>
          <p:cNvSpPr/>
          <p:nvPr/>
        </p:nvSpPr>
        <p:spPr>
          <a:xfrm>
            <a:off x="702981" y="5225351"/>
            <a:ext cx="5080001" cy="15240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7931" y="5311980"/>
            <a:ext cx="304800" cy="304800"/>
          </a:xfrm>
          <a:prstGeom prst="rect">
            <a:avLst/>
          </a:prstGeom>
        </p:spPr>
      </p:pic>
      <p:sp>
        <p:nvSpPr>
          <p:cNvPr id="25" name="AutoShape 25"/>
          <p:cNvSpPr/>
          <p:nvPr/>
        </p:nvSpPr>
        <p:spPr>
          <a:xfrm>
            <a:off x="1318931" y="5311980"/>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4155"/>
                </a:solidFill>
                <a:latin typeface="Noto Sans SC"/>
                <a:ea typeface="Noto Sans SC"/>
                <a:cs typeface="Noto Sans SC"/>
                <a:sym typeface="Noto Sans SC"/>
              </a:rPr>
              <a:t>Dataset Partitioning Strategy</a:t>
            </a:r>
            <a:endParaRPr lang="en-US" sz="1100"/>
          </a:p>
        </p:txBody>
      </p:sp>
      <p:sp>
        <p:nvSpPr>
          <p:cNvPr id="26" name="AutoShape 26"/>
          <p:cNvSpPr/>
          <p:nvPr/>
        </p:nvSpPr>
        <p:spPr>
          <a:xfrm>
            <a:off x="937932" y="5756480"/>
            <a:ext cx="457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dirty="0">
                <a:solidFill>
                  <a:srgbClr val="64748B"/>
                </a:solidFill>
                <a:latin typeface="Noto Sans SC"/>
                <a:ea typeface="Noto Sans SC"/>
                <a:cs typeface="Noto Sans SC"/>
                <a:sym typeface="Noto Sans SC"/>
              </a:rPr>
              <a:t>Split: 70% Training (68,565 samples) / 30% Test (29,385 samples).</a:t>
            </a:r>
            <a:br>
              <a:rPr lang="en-US" sz="1300" b="0" i="0" u="none" strike="noStrike" dirty="0">
                <a:solidFill>
                  <a:srgbClr val="64748B"/>
                </a:solidFill>
                <a:latin typeface="Noto Sans SC"/>
                <a:ea typeface="Noto Sans SC"/>
                <a:cs typeface="Noto Sans SC"/>
                <a:sym typeface="Noto Sans SC"/>
              </a:rPr>
            </a:br>
            <a:r>
              <a:rPr lang="en-US" sz="1300" b="0" i="0" u="none" strike="noStrike" dirty="0">
                <a:solidFill>
                  <a:srgbClr val="64748B"/>
                </a:solidFill>
                <a:latin typeface="Noto Sans SC"/>
                <a:ea typeface="Noto Sans SC"/>
                <a:cs typeface="Noto Sans SC"/>
                <a:sym typeface="Noto Sans SC"/>
              </a:rPr>
              <a:t>Used stratified random split to maintain the original class distribution in both sets, ensuring the test set is representative of real-world proportions.</a:t>
            </a:r>
            <a:endParaRPr lang="en-US" sz="1100" dirty="0"/>
          </a:p>
        </p:txBody>
      </p:sp>
      <p:sp>
        <p:nvSpPr>
          <p:cNvPr id="27" name="AutoShape 27"/>
          <p:cNvSpPr/>
          <p:nvPr/>
        </p:nvSpPr>
        <p:spPr>
          <a:xfrm>
            <a:off x="6325720" y="5225351"/>
            <a:ext cx="5080001" cy="15240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79720" y="5297015"/>
            <a:ext cx="304800" cy="304800"/>
          </a:xfrm>
          <a:prstGeom prst="rect">
            <a:avLst/>
          </a:prstGeom>
        </p:spPr>
      </p:pic>
      <p:sp>
        <p:nvSpPr>
          <p:cNvPr id="29" name="AutoShape 29"/>
          <p:cNvSpPr/>
          <p:nvPr/>
        </p:nvSpPr>
        <p:spPr>
          <a:xfrm>
            <a:off x="6960720" y="5297015"/>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4155"/>
                </a:solidFill>
                <a:latin typeface="Noto Sans SC"/>
                <a:ea typeface="Noto Sans SC"/>
                <a:cs typeface="Noto Sans SC"/>
                <a:sym typeface="Noto Sans SC"/>
              </a:rPr>
              <a:t>Class Imbalance Mitigation</a:t>
            </a:r>
            <a:endParaRPr lang="en-US" sz="1100"/>
          </a:p>
        </p:txBody>
      </p:sp>
      <p:sp>
        <p:nvSpPr>
          <p:cNvPr id="30" name="AutoShape 30"/>
          <p:cNvSpPr/>
          <p:nvPr/>
        </p:nvSpPr>
        <p:spPr>
          <a:xfrm>
            <a:off x="6579720" y="5741515"/>
            <a:ext cx="4691156"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dirty="0">
                <a:solidFill>
                  <a:srgbClr val="64748B"/>
                </a:solidFill>
                <a:latin typeface="Noto Sans SC"/>
                <a:ea typeface="Noto Sans SC"/>
                <a:cs typeface="Noto Sans SC"/>
                <a:sym typeface="Noto Sans SC"/>
              </a:rPr>
              <a:t>Applied class-weighted training to adjust the loss function, assigning higher penalties to misclassifications of underrepresented classes. This technique improved minority class recall without significantly sacrificing overall precision.</a:t>
            </a:r>
            <a:endParaRPr lang="en-US" sz="1100" dirty="0"/>
          </a:p>
        </p:txBody>
      </p:sp>
      <p:pic>
        <p:nvPicPr>
          <p:cNvPr id="32" name="图片 31">
            <a:extLst>
              <a:ext uri="{FF2B5EF4-FFF2-40B4-BE49-F238E27FC236}">
                <a16:creationId xmlns:a16="http://schemas.microsoft.com/office/drawing/2014/main" id="{70660823-D632-2FB9-961A-C012952C98CB}"/>
              </a:ext>
            </a:extLst>
          </p:cNvPr>
          <p:cNvPicPr>
            <a:picLocks noChangeAspect="1"/>
          </p:cNvPicPr>
          <p:nvPr/>
        </p:nvPicPr>
        <p:blipFill>
          <a:blip r:embed="rId9"/>
          <a:stretch>
            <a:fillRect/>
          </a:stretch>
        </p:blipFill>
        <p:spPr>
          <a:xfrm>
            <a:off x="610719" y="3374085"/>
            <a:ext cx="5425201" cy="1685817"/>
          </a:xfrm>
          <a:prstGeom prst="rect">
            <a:avLst/>
          </a:prstGeom>
        </p:spPr>
      </p:pic>
      <p:pic>
        <p:nvPicPr>
          <p:cNvPr id="33" name="图片 32">
            <a:extLst>
              <a:ext uri="{FF2B5EF4-FFF2-40B4-BE49-F238E27FC236}">
                <a16:creationId xmlns:a16="http://schemas.microsoft.com/office/drawing/2014/main" id="{55C6769C-2A76-4104-316B-1B1CDB9B8077}"/>
              </a:ext>
            </a:extLst>
          </p:cNvPr>
          <p:cNvPicPr>
            <a:picLocks noChangeAspect="1"/>
          </p:cNvPicPr>
          <p:nvPr/>
        </p:nvPicPr>
        <p:blipFill>
          <a:blip r:embed="rId10"/>
          <a:stretch>
            <a:fillRect/>
          </a:stretch>
        </p:blipFill>
        <p:spPr>
          <a:xfrm>
            <a:off x="6096001" y="3417763"/>
            <a:ext cx="5436720" cy="168939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AutoShape 14">
            <a:extLst>
              <a:ext uri="{FF2B5EF4-FFF2-40B4-BE49-F238E27FC236}">
                <a16:creationId xmlns:a16="http://schemas.microsoft.com/office/drawing/2014/main" id="{08E553C6-13C2-A887-C3B9-8A9495CE6B32}"/>
              </a:ext>
            </a:extLst>
          </p:cNvPr>
          <p:cNvSpPr/>
          <p:nvPr/>
        </p:nvSpPr>
        <p:spPr>
          <a:xfrm>
            <a:off x="7874129" y="5547155"/>
            <a:ext cx="3969528" cy="1227582"/>
          </a:xfrm>
          <a:prstGeom prst="roundRect">
            <a:avLst>
              <a:gd name="adj" fmla="val 0"/>
            </a:avLst>
          </a:prstGeom>
          <a:solidFill>
            <a:srgbClr val="10B981">
              <a:alpha val="6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endParaRPr/>
          </a:p>
        </p:txBody>
      </p:sp>
      <p:sp>
        <p:nvSpPr>
          <p:cNvPr id="12" name="AutoShape 5">
            <a:extLst>
              <a:ext uri="{FF2B5EF4-FFF2-40B4-BE49-F238E27FC236}">
                <a16:creationId xmlns:a16="http://schemas.microsoft.com/office/drawing/2014/main" id="{C58AD933-1291-089C-A859-014190F2ED20}"/>
              </a:ext>
            </a:extLst>
          </p:cNvPr>
          <p:cNvSpPr/>
          <p:nvPr/>
        </p:nvSpPr>
        <p:spPr>
          <a:xfrm>
            <a:off x="841248" y="4242816"/>
            <a:ext cx="6601968" cy="960120"/>
          </a:xfrm>
          <a:prstGeom prst="roundRect">
            <a:avLst>
              <a:gd name="adj" fmla="val 0"/>
            </a:avLst>
          </a:prstGeom>
          <a:solidFill>
            <a:srgbClr val="3B82F6">
              <a:alpha val="6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a:p>
        </p:txBody>
      </p:sp>
      <p:pic>
        <p:nvPicPr>
          <p:cNvPr id="2" name="图片 1">
            <a:extLst>
              <a:ext uri="{FF2B5EF4-FFF2-40B4-BE49-F238E27FC236}">
                <a16:creationId xmlns:a16="http://schemas.microsoft.com/office/drawing/2014/main" id="{607E9C3F-2CC6-8DB2-8F58-F4646803C681}"/>
              </a:ext>
            </a:extLst>
          </p:cNvPr>
          <p:cNvPicPr>
            <a:picLocks noChangeAspect="1"/>
          </p:cNvPicPr>
          <p:nvPr/>
        </p:nvPicPr>
        <p:blipFill>
          <a:blip r:embed="rId3"/>
          <a:stretch>
            <a:fillRect/>
          </a:stretch>
        </p:blipFill>
        <p:spPr>
          <a:xfrm>
            <a:off x="8075642" y="267853"/>
            <a:ext cx="3604768" cy="2692168"/>
          </a:xfrm>
          <a:prstGeom prst="rect">
            <a:avLst/>
          </a:prstGeom>
        </p:spPr>
      </p:pic>
      <p:pic>
        <p:nvPicPr>
          <p:cNvPr id="3" name="图片 2">
            <a:extLst>
              <a:ext uri="{FF2B5EF4-FFF2-40B4-BE49-F238E27FC236}">
                <a16:creationId xmlns:a16="http://schemas.microsoft.com/office/drawing/2014/main" id="{CF28DA52-A9CF-9E65-DF3E-B8841BBFC494}"/>
              </a:ext>
            </a:extLst>
          </p:cNvPr>
          <p:cNvPicPr>
            <a:picLocks noChangeAspect="1"/>
          </p:cNvPicPr>
          <p:nvPr/>
        </p:nvPicPr>
        <p:blipFill>
          <a:blip r:embed="rId4"/>
          <a:stretch>
            <a:fillRect/>
          </a:stretch>
        </p:blipFill>
        <p:spPr>
          <a:xfrm>
            <a:off x="8075642" y="2906937"/>
            <a:ext cx="3507157" cy="2619269"/>
          </a:xfrm>
          <a:prstGeom prst="rect">
            <a:avLst/>
          </a:prstGeom>
        </p:spPr>
      </p:pic>
      <p:sp>
        <p:nvSpPr>
          <p:cNvPr id="4" name="AutoShape 4">
            <a:extLst>
              <a:ext uri="{FF2B5EF4-FFF2-40B4-BE49-F238E27FC236}">
                <a16:creationId xmlns:a16="http://schemas.microsoft.com/office/drawing/2014/main" id="{02C64AFD-34FC-26DC-B73D-2571E88E4046}"/>
              </a:ext>
            </a:extLst>
          </p:cNvPr>
          <p:cNvSpPr/>
          <p:nvPr/>
        </p:nvSpPr>
        <p:spPr>
          <a:xfrm>
            <a:off x="297505" y="29322"/>
            <a:ext cx="10160000" cy="635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3200" b="1" i="0" u="none" strike="noStrike" dirty="0">
                <a:solidFill>
                  <a:srgbClr val="111827"/>
                </a:solidFill>
                <a:latin typeface="Noto Sans SC"/>
                <a:ea typeface="Noto Sans SC"/>
                <a:cs typeface="Noto Sans SC"/>
                <a:sym typeface="Noto Sans SC"/>
              </a:rPr>
              <a:t>0</a:t>
            </a:r>
            <a:r>
              <a:rPr lang="en-US" altLang="zh-CN" sz="3200" b="1" i="0" u="none" strike="noStrike" dirty="0">
                <a:solidFill>
                  <a:srgbClr val="111827"/>
                </a:solidFill>
                <a:latin typeface="Noto Sans SC"/>
                <a:ea typeface="Noto Sans SC"/>
                <a:cs typeface="Noto Sans SC"/>
                <a:sym typeface="Noto Sans SC"/>
              </a:rPr>
              <a:t>5</a:t>
            </a:r>
            <a:r>
              <a:rPr lang="en-US" sz="3200" b="1" dirty="0">
                <a:solidFill>
                  <a:srgbClr val="111827"/>
                </a:solidFill>
                <a:latin typeface="Noto Sans SC"/>
                <a:ea typeface="Noto Sans SC"/>
                <a:cs typeface="Noto Sans SC"/>
                <a:sym typeface="Noto Sans SC"/>
              </a:rPr>
              <a:t> .Evaluation and Choice of Prediction Model</a:t>
            </a:r>
            <a:endParaRPr lang="en-US" sz="1100" dirty="0"/>
          </a:p>
        </p:txBody>
      </p:sp>
      <p:sp>
        <p:nvSpPr>
          <p:cNvPr id="9" name="文本框 8">
            <a:extLst>
              <a:ext uri="{FF2B5EF4-FFF2-40B4-BE49-F238E27FC236}">
                <a16:creationId xmlns:a16="http://schemas.microsoft.com/office/drawing/2014/main" id="{C568A5BB-563E-AE54-A489-334CE9AA3E2E}"/>
              </a:ext>
            </a:extLst>
          </p:cNvPr>
          <p:cNvSpPr txBox="1"/>
          <p:nvPr/>
        </p:nvSpPr>
        <p:spPr>
          <a:xfrm>
            <a:off x="8000767" y="5589053"/>
            <a:ext cx="3656906" cy="1142877"/>
          </a:xfrm>
          <a:prstGeom prst="rect">
            <a:avLst/>
          </a:prstGeom>
          <a:noFill/>
        </p:spPr>
        <p:txBody>
          <a:bodyPr wrap="square">
            <a:spAutoFit/>
          </a:bodyPr>
          <a:lstStyle/>
          <a:p>
            <a:pPr marL="0" marR="0" indent="0" algn="l">
              <a:lnSpc>
                <a:spcPts val="2100"/>
              </a:lnSpc>
              <a:spcBef>
                <a:spcPts val="1200"/>
              </a:spcBef>
              <a:buNone/>
            </a:pPr>
            <a:r>
              <a:rPr lang="zh-CN" altLang="zh-CN" sz="1200" b="0" i="0" dirty="0">
                <a:solidFill>
                  <a:srgbClr val="0F1115"/>
                </a:solidFill>
                <a:effectLst/>
                <a:latin typeface="quote-cjk-patch"/>
              </a:rPr>
              <a:t>The high AUC scores confirm that cartographic features provide strong predictive signals for forest cover type classification, with non-linear models capturing slightly more discriminative information.</a:t>
            </a:r>
          </a:p>
        </p:txBody>
      </p:sp>
      <p:graphicFrame>
        <p:nvGraphicFramePr>
          <p:cNvPr id="20" name="表格 19">
            <a:extLst>
              <a:ext uri="{FF2B5EF4-FFF2-40B4-BE49-F238E27FC236}">
                <a16:creationId xmlns:a16="http://schemas.microsoft.com/office/drawing/2014/main" id="{B2D88E78-9568-91BC-B676-674873601ADD}"/>
              </a:ext>
            </a:extLst>
          </p:cNvPr>
          <p:cNvGraphicFramePr>
            <a:graphicFrameLocks noGrp="1"/>
          </p:cNvGraphicFramePr>
          <p:nvPr>
            <p:extLst>
              <p:ext uri="{D42A27DB-BD31-4B8C-83A1-F6EECF244321}">
                <p14:modId xmlns:p14="http://schemas.microsoft.com/office/powerpoint/2010/main" val="2617121873"/>
              </p:ext>
            </p:extLst>
          </p:nvPr>
        </p:nvGraphicFramePr>
        <p:xfrm>
          <a:off x="841248" y="5266944"/>
          <a:ext cx="6419088" cy="13716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1152871121"/>
                    </a:ext>
                  </a:extLst>
                </a:gridCol>
                <a:gridCol w="868680">
                  <a:extLst>
                    <a:ext uri="{9D8B030D-6E8A-4147-A177-3AD203B41FA5}">
                      <a16:colId xmlns:a16="http://schemas.microsoft.com/office/drawing/2014/main" val="2796215731"/>
                    </a:ext>
                  </a:extLst>
                </a:gridCol>
                <a:gridCol w="868680">
                  <a:extLst>
                    <a:ext uri="{9D8B030D-6E8A-4147-A177-3AD203B41FA5}">
                      <a16:colId xmlns:a16="http://schemas.microsoft.com/office/drawing/2014/main" val="3479411399"/>
                    </a:ext>
                  </a:extLst>
                </a:gridCol>
                <a:gridCol w="868680">
                  <a:extLst>
                    <a:ext uri="{9D8B030D-6E8A-4147-A177-3AD203B41FA5}">
                      <a16:colId xmlns:a16="http://schemas.microsoft.com/office/drawing/2014/main" val="3916368010"/>
                    </a:ext>
                  </a:extLst>
                </a:gridCol>
                <a:gridCol w="2212848">
                  <a:extLst>
                    <a:ext uri="{9D8B030D-6E8A-4147-A177-3AD203B41FA5}">
                      <a16:colId xmlns:a16="http://schemas.microsoft.com/office/drawing/2014/main" val="3260727088"/>
                    </a:ext>
                  </a:extLst>
                </a:gridCol>
              </a:tblGrid>
              <a:tr h="329184">
                <a:tc>
                  <a:txBody>
                    <a:bodyPr/>
                    <a:lstStyle/>
                    <a:p>
                      <a:pPr algn="l">
                        <a:lnSpc>
                          <a:spcPts val="1875"/>
                        </a:lnSpc>
                        <a:buNone/>
                      </a:pPr>
                      <a:r>
                        <a:rPr lang="zh-CN" sz="900" b="0" i="0">
                          <a:solidFill>
                            <a:srgbClr val="F9FAFB"/>
                          </a:solidFill>
                          <a:effectLst/>
                          <a:latin typeface="quote-cjk-patch"/>
                        </a:rPr>
                        <a:t>Model</a:t>
                      </a:r>
                    </a:p>
                  </a:txBody>
                  <a:tcPr marR="18000" marT="18000" marB="18000" anchor="ctr" marL="18000"/>
                </a:tc>
                <a:tc>
                  <a:txBody>
                    <a:bodyPr/>
                    <a:lstStyle/>
                    <a:p>
                      <a:pPr algn="l">
                        <a:lnSpc>
                          <a:spcPts val="1875"/>
                        </a:lnSpc>
                        <a:buNone/>
                      </a:pPr>
                      <a:r>
                        <a:rPr lang="zh-CN" sz="900" b="0" i="0">
                          <a:solidFill>
                            <a:srgbClr val="F9FAFB"/>
                          </a:solidFill>
                          <a:effectLst/>
                          <a:latin typeface="quote-cjk-patch"/>
                        </a:rPr>
                        <a:t>Train F1</a:t>
                      </a:r>
                    </a:p>
                  </a:txBody>
                  <a:tcPr marL="18000" marR="18000" marT="18000" marB="18000" anchor="ctr"/>
                </a:tc>
                <a:tc>
                  <a:txBody>
                    <a:bodyPr/>
                    <a:lstStyle/>
                    <a:p>
                      <a:pPr algn="l">
                        <a:lnSpc>
                          <a:spcPts val="1875"/>
                        </a:lnSpc>
                        <a:buNone/>
                      </a:pPr>
                      <a:r>
                        <a:rPr lang="zh-CN" sz="900" b="0" i="0">
                          <a:solidFill>
                            <a:srgbClr val="F9FAFB"/>
                          </a:solidFill>
                          <a:effectLst/>
                          <a:latin typeface="quote-cjk-patch"/>
                        </a:rPr>
                        <a:t>Test F1</a:t>
                      </a:r>
                    </a:p>
                  </a:txBody>
                  <a:tcPr marL="18000" marR="18000" marT="18000" marB="18000" anchor="ctr"/>
                </a:tc>
                <a:tc>
                  <a:txBody>
                    <a:bodyPr/>
                    <a:lstStyle/>
                    <a:p>
                      <a:pPr algn="l">
                        <a:lnSpc>
                          <a:spcPts val="1875"/>
                        </a:lnSpc>
                        <a:buNone/>
                      </a:pPr>
                      <a:r>
                        <a:rPr lang="zh-CN" sz="900" b="0" i="0" dirty="0">
                          <a:solidFill>
                            <a:srgbClr val="F9FAFB"/>
                          </a:solidFill>
                          <a:effectLst/>
                          <a:latin typeface="quote-cjk-patch"/>
                        </a:rPr>
                        <a:t>Gap</a:t>
                      </a:r>
                    </a:p>
                  </a:txBody>
                  <a:tcPr marL="18000" marR="18000" marT="18000" marB="18000" anchor="ctr"/>
                </a:tc>
                <a:tc>
                  <a:txBody>
                    <a:bodyPr/>
                    <a:lstStyle/>
                    <a:p>
                      <a:pPr algn="l">
                        <a:lnSpc>
                          <a:spcPts val="1875"/>
                        </a:lnSpc>
                        <a:buNone/>
                      </a:pPr>
                      <a:r>
                        <a:rPr lang="zh-CN" sz="900" b="0" i="0" dirty="0">
                          <a:solidFill>
                            <a:srgbClr val="F9FAFB"/>
                          </a:solidFill>
                          <a:effectLst/>
                          <a:latin typeface="quote-cjk-patch"/>
                        </a:rPr>
                        <a:t>Status</a:t>
                      </a:r>
                    </a:p>
                  </a:txBody>
                  <a:tcPr marL="18000" marR="18000" marT="18000" marB="18000" anchor="ctr"/>
                </a:tc>
                <a:extLst>
                  <a:ext uri="{0D108BD9-81ED-4DB2-BD59-A6C34878D82A}">
                    <a16:rowId xmlns:a16="http://schemas.microsoft.com/office/drawing/2014/main" val="1745023025"/>
                  </a:ext>
                </a:extLst>
              </a:tr>
              <a:tr h="260604">
                <a:tc>
                  <a:txBody>
                    <a:bodyPr/>
                    <a:lstStyle/>
                    <a:p>
                      <a:pPr algn="l">
                        <a:lnSpc>
                          <a:spcPts val="1875"/>
                        </a:lnSpc>
                        <a:buNone/>
                      </a:pPr>
                      <a:r>
                        <a:rPr lang="zh-CN" sz="820" b="0" i="0" dirty="0">
                          <a:solidFill>
                            <a:schemeClr val="tx1"/>
                          </a:solidFill>
                          <a:effectLst/>
                          <a:latin typeface="quote-cjk-patch"/>
                        </a:rPr>
                        <a:t>Logistic Regression</a:t>
                      </a:r>
                    </a:p>
                  </a:txBody>
                  <a:tcPr marR="18000" marT="18000" marB="18000" anchor="ctr" marL="18000"/>
                </a:tc>
                <a:tc>
                  <a:txBody>
                    <a:bodyPr/>
                    <a:lstStyle/>
                    <a:p>
                      <a:pPr algn="l">
                        <a:lnSpc>
                          <a:spcPts val="1875"/>
                        </a:lnSpc>
                        <a:buNone/>
                      </a:pPr>
                      <a:r>
                        <a:rPr lang="zh-CN" sz="820" b="0" i="0">
                          <a:solidFill>
                            <a:schemeClr val="tx1"/>
                          </a:solidFill>
                          <a:effectLst/>
                          <a:latin typeface="quote-cjk-patch"/>
                        </a:rPr>
                        <a:t>0.6620</a:t>
                      </a:r>
                    </a:p>
                  </a:txBody>
                  <a:tcPr marL="18000" marR="18000" marT="18000" marB="18000" anchor="ctr"/>
                </a:tc>
                <a:tc>
                  <a:txBody>
                    <a:bodyPr/>
                    <a:lstStyle/>
                    <a:p>
                      <a:pPr algn="l">
                        <a:lnSpc>
                          <a:spcPts val="1875"/>
                        </a:lnSpc>
                        <a:buNone/>
                      </a:pPr>
                      <a:r>
                        <a:rPr lang="zh-CN" sz="820" b="0" i="0">
                          <a:solidFill>
                            <a:schemeClr val="tx1"/>
                          </a:solidFill>
                          <a:effectLst/>
                          <a:latin typeface="quote-cjk-patch"/>
                        </a:rPr>
                        <a:t>0.6597</a:t>
                      </a:r>
                    </a:p>
                  </a:txBody>
                  <a:tcPr marL="18000" marR="18000" marT="18000" marB="18000" anchor="ctr"/>
                </a:tc>
                <a:tc>
                  <a:txBody>
                    <a:bodyPr/>
                    <a:lstStyle/>
                    <a:p>
                      <a:pPr algn="l">
                        <a:lnSpc>
                          <a:spcPts val="1875"/>
                        </a:lnSpc>
                        <a:buNone/>
                      </a:pPr>
                      <a:r>
                        <a:rPr lang="zh-CN" sz="820" b="1" i="0">
                          <a:solidFill>
                            <a:schemeClr val="tx1"/>
                          </a:solidFill>
                          <a:effectLst/>
                          <a:latin typeface="quote-cjk-patch"/>
                        </a:rPr>
                        <a:t>0.0023</a:t>
                      </a:r>
                      <a:endParaRPr lang="zh-CN" sz="820" b="0" i="0">
                        <a:solidFill>
                          <a:schemeClr val="tx1"/>
                        </a:solidFill>
                        <a:effectLst/>
                        <a:latin typeface="quote-cjk-patch"/>
                      </a:endParaRPr>
                    </a:p>
                  </a:txBody>
                  <a:tcPr marL="18000" marR="18000" marT="18000" marB="18000" anchor="ctr"/>
                </a:tc>
                <a:tc>
                  <a:txBody>
                    <a:bodyPr/>
                    <a:lstStyle/>
                    <a:p>
                      <a:pPr algn="l">
                        <a:lnSpc>
                          <a:spcPts val="1875"/>
                        </a:lnSpc>
                        <a:buNone/>
                      </a:pPr>
                      <a:r>
                        <a:rPr lang="zh-CN" sz="820" b="0" i="0" dirty="0">
                          <a:solidFill>
                            <a:schemeClr val="accent6"/>
                          </a:solidFill>
                          <a:effectLst/>
                          <a:latin typeface="quote-cjk-patch"/>
                        </a:rPr>
                        <a:t>No overfitting</a:t>
                      </a:r>
                    </a:p>
                  </a:txBody>
                  <a:tcPr marL="18000" marT="18000" marB="18000" anchor="ctr" marR="18000"/>
                </a:tc>
                <a:extLst>
                  <a:ext uri="{0D108BD9-81ED-4DB2-BD59-A6C34878D82A}">
                    <a16:rowId xmlns:a16="http://schemas.microsoft.com/office/drawing/2014/main" val="1188895389"/>
                  </a:ext>
                </a:extLst>
              </a:tr>
              <a:tr h="260604">
                <a:tc>
                  <a:txBody>
                    <a:bodyPr/>
                    <a:lstStyle/>
                    <a:p>
                      <a:pPr algn="l"/>
                      <a:r>
                        <a:rPr lang="zh-CN" sz="820" b="0" i="0">
                          <a:solidFill>
                            <a:schemeClr val="tx1"/>
                          </a:solidFill>
                          <a:effectLst/>
                          <a:latin typeface="quote-cjk-patch"/>
                        </a:rPr>
                        <a:t>Decision Tree</a:t>
                      </a:r>
                      <a:endParaRPr lang="zh-CN" sz="820" b="0" i="0">
                        <a:solidFill>
                          <a:schemeClr val="tx1"/>
                        </a:solidFill>
                        <a:effectLst/>
                        <a:latin typeface="quote-cjk-patch"/>
                      </a:endParaRPr>
                    </a:p>
                  </a:txBody>
                  <a:tcPr marR="18000" marT="18000" marB="18000" anchor="ctr" marL="18000"/>
                </a:tc>
                <a:tc>
                  <a:txBody>
                    <a:bodyPr/>
                    <a:lstStyle/>
                    <a:p>
                      <a:pPr algn="ctr"/>
                      <a:r>
                        <a:rPr lang="zh-CN" sz="820" b="0" i="0" dirty="0">
                          <a:solidFill>
                            <a:schemeClr val="tx1"/>
                          </a:solidFill>
                          <a:effectLst/>
                          <a:latin typeface="quote-cjk-patch"/>
                        </a:rPr>
                        <a:t>0.8649</a:t>
                      </a:r>
                      <a:endParaRPr lang="zh-CN" sz="820" b="0" i="0" dirty="0">
                        <a:solidFill>
                          <a:schemeClr val="tx1"/>
                        </a:solidFill>
                        <a:effectLst/>
                        <a:latin typeface="quote-cjk-patch"/>
                      </a:endParaRPr>
                    </a:p>
                  </a:txBody>
                  <a:tcPr marL="18000" marR="18000" marT="18000" marB="18000" anchor="ctr"/>
                </a:tc>
                <a:tc>
                  <a:txBody>
                    <a:bodyPr/>
                    <a:lstStyle/>
                    <a:p>
                      <a:pPr algn="ctr"/>
                      <a:r>
                        <a:rPr lang="zh-CN" sz="820" b="0" i="0" dirty="0">
                          <a:solidFill>
                            <a:schemeClr val="tx1"/>
                          </a:solidFill>
                          <a:effectLst/>
                          <a:latin typeface="quote-cjk-patch"/>
                        </a:rPr>
                        <a:t>0.8194</a:t>
                      </a:r>
                      <a:endParaRPr lang="zh-CN" sz="820" b="0" i="0" dirty="0">
                        <a:solidFill>
                          <a:schemeClr val="tx1"/>
                        </a:solidFill>
                        <a:effectLst/>
                        <a:latin typeface="quote-cjk-patch"/>
                      </a:endParaRPr>
                    </a:p>
                  </a:txBody>
                  <a:tcPr marL="18000" marR="18000" marT="18000" marB="18000" anchor="ctr"/>
                </a:tc>
                <a:tc>
                  <a:txBody>
                    <a:bodyPr/>
                    <a:lstStyle/>
                    <a:p>
                      <a:pPr algn="ctr"/>
                      <a:r>
                        <a:rPr lang="zh-CN" sz="820" b="0" i="0" dirty="0">
                          <a:solidFill>
                            <a:schemeClr val="tx1"/>
                          </a:solidFill>
                          <a:effectLst/>
                          <a:latin typeface="quote-cjk-patch"/>
                        </a:rPr>
                        <a:t>0.0455</a:t>
                      </a:r>
                      <a:endParaRPr lang="zh-CN" sz="820" b="0" i="0" dirty="0">
                        <a:solidFill>
                          <a:schemeClr val="tx1"/>
                        </a:solidFill>
                        <a:effectLst/>
                        <a:latin typeface="quote-cjk-patch"/>
                      </a:endParaRPr>
                    </a:p>
                  </a:txBody>
                  <a:tcPr marL="18000" marR="18000" marT="18000" marB="18000" anchor="ctr"/>
                </a:tc>
                <a:tc>
                  <a:txBody>
                    <a:bodyPr/>
                    <a:lstStyle/>
                    <a:p>
                      <a:pPr algn="ctr"/>
                      <a:r>
                        <a:rPr lang="zh-CN" sz="820" b="0" i="0" dirty="0">
                          <a:solidFill>
                            <a:schemeClr val="accent6"/>
                          </a:solidFill>
                          <a:effectLst/>
                          <a:latin typeface="quote-cjk-patch"/>
                        </a:rPr>
                        <a:t>Mild overfitting</a:t>
                      </a:r>
                      <a:endParaRPr lang="zh-CN" sz="820" b="0" i="0" dirty="0">
                        <a:solidFill>
                          <a:schemeClr val="accent6"/>
                        </a:solidFill>
                        <a:effectLst/>
                        <a:latin typeface="quote-cjk-patch"/>
                      </a:endParaRPr>
                    </a:p>
                  </a:txBody>
                  <a:tcPr marL="18000" marT="18000" marB="18000" anchor="ctr" marR="18000"/>
                </a:tc>
                <a:extLst>
                  <a:ext uri="{0D108BD9-81ED-4DB2-BD59-A6C34878D82A}">
                    <a16:rowId xmlns:a16="http://schemas.microsoft.com/office/drawing/2014/main" val="2400621513"/>
                  </a:ext>
                </a:extLst>
              </a:tr>
              <a:tr h="260604">
                <a:tc>
                  <a:txBody>
                    <a:bodyPr/>
                    <a:lstStyle/>
                    <a:p>
                      <a:pPr algn="l"/>
                      <a:r>
                        <a:rPr sz="820" b="1"/>
                        <a:t>Random Forest</a:t>
                      </a:r>
                      <a:endParaRPr sz="820" b="1"/>
                    </a:p>
                  </a:txBody>
                  <a:tcPr marR="18000" marT="18000" marB="18000" anchor="ctr" marL="18000"/>
                </a:tc>
                <a:tc>
                  <a:txBody>
                    <a:bodyPr/>
                    <a:lstStyle/>
                    <a:p>
                      <a:pPr algn="ctr"/>
                      <a:r>
                        <a:rPr sz="820" b="1"/>
                        <a:t>0.9864</a:t>
                      </a:r>
                      <a:endParaRPr sz="820" b="1"/>
                    </a:p>
                  </a:txBody>
                  <a:tcPr marL="18000" marR="18000" marT="18000" marB="18000" anchor="ctr"/>
                </a:tc>
                <a:tc>
                  <a:txBody>
                    <a:bodyPr/>
                    <a:lstStyle/>
                    <a:p>
                      <a:pPr algn="ctr"/>
                      <a:r>
                        <a:rPr sz="820" b="1"/>
                        <a:t>0.9076</a:t>
                      </a:r>
                      <a:endParaRPr sz="820" b="1"/>
                    </a:p>
                  </a:txBody>
                  <a:tcPr marL="18000" marR="18000" marT="18000" marB="18000" anchor="ctr"/>
                </a:tc>
                <a:tc>
                  <a:txBody>
                    <a:bodyPr/>
                    <a:lstStyle/>
                    <a:p>
                      <a:pPr algn="ctr"/>
                      <a:r>
                        <a:rPr sz="820" b="1"/>
                        <a:t>0.0788</a:t>
                      </a:r>
                      <a:endParaRPr sz="820" b="1"/>
                    </a:p>
                  </a:txBody>
                  <a:tcPr marL="18000" marR="18000" marT="18000" marB="18000" anchor="ctr"/>
                </a:tc>
                <a:tc>
                  <a:txBody>
                    <a:bodyPr/>
                    <a:lstStyle/>
                    <a:p>
                      <a:pPr algn="ctr"/>
                      <a:r>
                        <a:rPr sz="820" b="1"/>
                        <a:t>Mild overfitting</a:t>
                      </a:r>
                      <a:endParaRPr sz="820" b="1"/>
                    </a:p>
                  </a:txBody>
                  <a:tcPr marL="18000" marT="18000" marB="18000" anchor="ctr" marR="18000"/>
                </a:tc>
                <a:extLst>
                  <a:ext uri="{0D108BD9-81ED-4DB2-BD59-A6C34878D82A}">
                    <a16:rowId xmlns:a16="http://schemas.microsoft.com/office/drawing/2014/main" val="2400621513"/>
                  </a:ext>
                </a:extLst>
              </a:tr>
              <a:tr h="260604">
                <a:tc>
                  <a:txBody>
                    <a:bodyPr/>
                    <a:lstStyle/>
                    <a:p>
                      <a:pPr algn="l"/>
                      <a:r>
                        <a:rPr sz="820" b="1"/>
                        <a:t>HistGradientBoosting</a:t>
                      </a:r>
                      <a:endParaRPr sz="820" b="1"/>
                    </a:p>
                  </a:txBody>
                  <a:tcPr marR="18000" marT="18000" marB="18000" anchor="ctr" marL="18000"/>
                </a:tc>
                <a:tc>
                  <a:txBody>
                    <a:bodyPr/>
                    <a:lstStyle/>
                    <a:p>
                      <a:pPr algn="ctr"/>
                      <a:r>
                        <a:rPr sz="820" b="1"/>
                        <a:t>0.9449</a:t>
                      </a:r>
                      <a:endParaRPr sz="820" b="1"/>
                    </a:p>
                  </a:txBody>
                  <a:tcPr marL="18000" marR="18000" marT="18000" marB="18000" anchor="ctr"/>
                </a:tc>
                <a:tc>
                  <a:txBody>
                    <a:bodyPr/>
                    <a:lstStyle/>
                    <a:p>
                      <a:pPr algn="ctr"/>
                      <a:r>
                        <a:rPr sz="820" b="1"/>
                        <a:t>0.8982</a:t>
                      </a:r>
                      <a:endParaRPr sz="820" b="1"/>
                    </a:p>
                  </a:txBody>
                  <a:tcPr marL="18000" marR="18000" marT="18000" marB="18000" anchor="ctr"/>
                </a:tc>
                <a:tc>
                  <a:txBody>
                    <a:bodyPr/>
                    <a:lstStyle/>
                    <a:p>
                      <a:pPr algn="ctr"/>
                      <a:r>
                        <a:rPr sz="820" b="1"/>
                        <a:t>0.0467</a:t>
                      </a:r>
                      <a:endParaRPr sz="820" b="1"/>
                    </a:p>
                  </a:txBody>
                  <a:tcPr marL="18000" marR="18000" marT="18000" marB="18000" anchor="ctr"/>
                </a:tc>
                <a:tc>
                  <a:txBody>
                    <a:bodyPr/>
                    <a:lstStyle/>
                    <a:p>
                      <a:pPr algn="ctr"/>
                      <a:r>
                        <a:rPr sz="820" b="1"/>
                        <a:t>Mild overfitting</a:t>
                      </a:r>
                      <a:endParaRPr sz="820" b="1"/>
                    </a:p>
                  </a:txBody>
                  <a:tcPr marL="18000" marT="18000" marB="18000" anchor="ctr" marR="18000"/>
                </a:tc>
                <a:extLst>
                  <a:ext uri="{0D108BD9-81ED-4DB2-BD59-A6C34878D82A}">
                    <a16:rowId xmlns:a16="http://schemas.microsoft.com/office/drawing/2014/main" val="2400621513"/>
                  </a:ext>
                </a:extLst>
              </a:tr>
            </a:tbl>
          </a:graphicData>
        </a:graphic>
      </p:graphicFrame>
      <p:sp>
        <p:nvSpPr>
          <p:cNvPr id="22" name="文本框 21">
            <a:extLst>
              <a:ext uri="{FF2B5EF4-FFF2-40B4-BE49-F238E27FC236}">
                <a16:creationId xmlns:a16="http://schemas.microsoft.com/office/drawing/2014/main" id="{5CCE3E7A-54FB-54A6-DA9A-33931E955C05}"/>
              </a:ext>
            </a:extLst>
          </p:cNvPr>
          <p:cNvSpPr txBox="1"/>
          <p:nvPr/>
        </p:nvSpPr>
        <p:spPr>
          <a:xfrm>
            <a:off x="2873970" y="746007"/>
            <a:ext cx="6826826" cy="364331"/>
          </a:xfrm>
          <a:prstGeom prst="rect">
            <a:avLst/>
          </a:prstGeom>
          <a:noFill/>
        </p:spPr>
        <p:txBody>
          <a:bodyPr wrap="square">
            <a:spAutoFit/>
          </a:bodyPr>
          <a:lstStyle/>
          <a:p>
            <a:pPr marL="0" marR="0" indent="0" algn="l">
              <a:lnSpc>
                <a:spcPts val="2250"/>
              </a:lnSpc>
              <a:spcBef>
                <a:spcPts val="2400"/>
              </a:spcBef>
              <a:spcAft>
                <a:spcPts val="1200"/>
              </a:spcAft>
              <a:buNone/>
            </a:pPr>
            <a:r>
              <a:rPr lang="zh-CN" altLang="zh-CN" sz="1500" b="1" dirty="0">
                <a:solidFill>
                  <a:schemeClr val="tx1"/>
                </a:solidFill>
                <a:effectLst/>
                <a:latin typeface="quote-cjk-patch"/>
              </a:rPr>
              <a:t>Performance Metrics Comparison</a:t>
            </a:r>
          </a:p>
        </p:txBody>
      </p:sp>
      <p:sp>
        <p:nvSpPr>
          <p:cNvPr id="24" name="文本框 23">
            <a:extLst>
              <a:ext uri="{FF2B5EF4-FFF2-40B4-BE49-F238E27FC236}">
                <a16:creationId xmlns:a16="http://schemas.microsoft.com/office/drawing/2014/main" id="{82F62E57-C7BA-5C7E-F02B-D6672AC1225B}"/>
              </a:ext>
            </a:extLst>
          </p:cNvPr>
          <p:cNvSpPr txBox="1"/>
          <p:nvPr/>
        </p:nvSpPr>
        <p:spPr>
          <a:xfrm>
            <a:off x="987552" y="4315968"/>
            <a:ext cx="6199632" cy="768096"/>
          </a:xfrm>
          <a:prstGeom prst="rect">
            <a:avLst/>
          </a:prstGeom>
          <a:noFill/>
        </p:spPr>
        <p:txBody>
          <a:bodyPr wrap="square">
            <a:spAutoFit/>
          </a:bodyPr>
          <a:lstStyle/>
          <a:p>
            <a:pPr/>
            <a:r>
              <a:rPr lang="zh-CN" altLang="zh-CN" b="1" i="0" dirty="0" sz="1020">
                <a:solidFill>
                  <a:schemeClr val="tx1"/>
                </a:solidFill>
                <a:effectLst/>
                <a:latin typeface="quote-cjk-patch"/>
              </a:rPr>
              <a:t xml:space="preserve">Random Forest is the recommended model (F1=0.908, AUC=0.992). </a:t>
            </a:r>
            <a:r>
              <a:rPr lang="zh-CN" altLang="zh-CN" b="0" i="0" dirty="0" sz="1020">
                <a:solidFill>
                  <a:schemeClr val="tx1"/>
                </a:solidFill>
                <a:effectLst/>
                <a:latin typeface="quote-cjk-patch"/>
              </a:rPr>
              <a:t>Bootstrap 95% CIs do not overlap (RF: [0.904, 0.911] vs HGB: [0.894, 0.902]), and a McNemar test confirms RF is significantly better (χ²=41.5, p&lt;0.001).</a:t>
            </a:r>
            <a:endParaRPr lang="zh-CN" altLang="zh-CN" b="1" i="0" dirty="0" sz="1020">
              <a:solidFill>
                <a:schemeClr val="tx1"/>
              </a:solidFill>
              <a:effectLst/>
              <a:latin typeface="quote-cjk-patch"/>
            </a:endParaRPr>
          </a:p>
        </p:txBody>
      </p:sp>
      <p:sp>
        <p:nvSpPr>
          <p:cNvPr id="25" name="AutoShape 3">
            <a:extLst>
              <a:ext uri="{FF2B5EF4-FFF2-40B4-BE49-F238E27FC236}">
                <a16:creationId xmlns:a16="http://schemas.microsoft.com/office/drawing/2014/main" id="{A867E4FD-D80D-BA6D-464C-1108A721C071}"/>
              </a:ext>
            </a:extLst>
          </p:cNvPr>
          <p:cNvSpPr/>
          <p:nvPr/>
        </p:nvSpPr>
        <p:spPr>
          <a:xfrm>
            <a:off x="-1869047" y="5147914"/>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graphicFrame>
        <p:nvGraphicFramePr>
          <p:cNvPr id="27" name="表格 26">
            <a:extLst>
              <a:ext uri="{FF2B5EF4-FFF2-40B4-BE49-F238E27FC236}">
                <a16:creationId xmlns:a16="http://schemas.microsoft.com/office/drawing/2014/main" id="{439C0928-687F-AC84-AB6D-5685B23B7604}"/>
              </a:ext>
            </a:extLst>
          </p:cNvPr>
          <p:cNvGraphicFramePr>
            <a:graphicFrameLocks noGrp="1"/>
          </p:cNvGraphicFramePr>
          <p:nvPr>
            <p:extLst>
              <p:ext uri="{D42A27DB-BD31-4B8C-83A1-F6EECF244321}">
                <p14:modId xmlns:p14="http://schemas.microsoft.com/office/powerpoint/2010/main" val="374991341"/>
              </p:ext>
            </p:extLst>
          </p:nvPr>
        </p:nvGraphicFramePr>
        <p:xfrm>
          <a:off x="310896" y="1078992"/>
          <a:ext cx="7562088" cy="3063240"/>
        </p:xfrm>
        <a:graphic>
          <a:graphicData uri="http://schemas.openxmlformats.org/drawingml/2006/table">
            <a:tbl>
              <a:tblPr firstRow="1" bandRow="1">
                <a:tableStyleId>{5C22544A-7EE6-4342-B048-85BDC9FD1C3A}</a:tableStyleId>
              </a:tblPr>
              <a:tblGrid>
                <a:gridCol w="1234440">
                  <a:extLst>
                    <a:ext uri="{9D8B030D-6E8A-4147-A177-3AD203B41FA5}">
                      <a16:colId xmlns:a16="http://schemas.microsoft.com/office/drawing/2014/main" val="3479256633"/>
                    </a:ext>
                  </a:extLst>
                </a:gridCol>
                <a:gridCol w="548640">
                  <a:extLst>
                    <a:ext uri="{9D8B030D-6E8A-4147-A177-3AD203B41FA5}">
                      <a16:colId xmlns:a16="http://schemas.microsoft.com/office/drawing/2014/main" val="3434296135"/>
                    </a:ext>
                  </a:extLst>
                </a:gridCol>
                <a:gridCol w="868680">
                  <a:extLst>
                    <a:ext uri="{9D8B030D-6E8A-4147-A177-3AD203B41FA5}">
                      <a16:colId xmlns:a16="http://schemas.microsoft.com/office/drawing/2014/main" val="3099120836"/>
                    </a:ext>
                  </a:extLst>
                </a:gridCol>
                <a:gridCol w="987552">
                  <a:extLst>
                    <a:ext uri="{9D8B030D-6E8A-4147-A177-3AD203B41FA5}">
                      <a16:colId xmlns:a16="http://schemas.microsoft.com/office/drawing/2014/main" val="1071853305"/>
                    </a:ext>
                  </a:extLst>
                </a:gridCol>
                <a:gridCol w="896112">
                  <a:extLst>
                    <a:ext uri="{9D8B030D-6E8A-4147-A177-3AD203B41FA5}">
                      <a16:colId xmlns:a16="http://schemas.microsoft.com/office/drawing/2014/main" val="1641957214"/>
                    </a:ext>
                  </a:extLst>
                </a:gridCol>
                <a:gridCol w="868680">
                  <a:extLst>
                    <a:ext uri="{9D8B030D-6E8A-4147-A177-3AD203B41FA5}">
                      <a16:colId xmlns:a16="http://schemas.microsoft.com/office/drawing/2014/main" val="208190481"/>
                    </a:ext>
                  </a:extLst>
                </a:gridCol>
                <a:gridCol w="1143000">
                  <a:extLst>
                    <a:ext uri="{9D8B030D-6E8A-4147-A177-3AD203B41FA5}">
                      <a16:colId xmlns:a16="http://schemas.microsoft.com/office/drawing/2014/main" val="3599110277"/>
                    </a:ext>
                  </a:extLst>
                </a:gridCol>
                <a:gridCol w="1014984">
                  <a:extLst>
                    <a:ext uri="{9D8B030D-6E8A-4147-A177-3AD203B41FA5}">
                      <a16:colId xmlns:a16="http://schemas.microsoft.com/office/drawing/2014/main" val="3684723988"/>
                    </a:ext>
                  </a:extLst>
                </a:gridCol>
              </a:tblGrid>
              <a:tr h="429768">
                <a:tc>
                  <a:txBody>
                    <a:bodyPr/>
                    <a:lstStyle/>
                    <a:p>
                      <a:pPr algn="l">
                        <a:lnSpc>
                          <a:spcPts val="1875"/>
                        </a:lnSpc>
                        <a:buNone/>
                      </a:pPr>
                      <a:r>
                        <a:rPr lang="zh-CN" sz="820" b="0" i="0">
                          <a:solidFill>
                            <a:srgbClr val="F9FAFB"/>
                          </a:solidFill>
                          <a:effectLst/>
                          <a:latin typeface="quote-cjk-patch"/>
                        </a:rPr>
                        <a:t>Model</a:t>
                      </a:r>
                    </a:p>
                  </a:txBody>
                  <a:tcPr marR="18000" marT="18000" marB="18000" anchor="ctr" marL="18000"/>
                </a:tc>
                <a:tc>
                  <a:txBody>
                    <a:bodyPr/>
                    <a:lstStyle/>
                    <a:p>
                      <a:pPr algn="l">
                        <a:lnSpc>
                          <a:spcPts val="1875"/>
                        </a:lnSpc>
                        <a:buNone/>
                      </a:pPr>
                      <a:r>
                        <a:rPr lang="zh-CN" sz="820" b="0" i="0">
                          <a:solidFill>
                            <a:srgbClr val="F9FAFB"/>
                          </a:solidFill>
                          <a:effectLst/>
                          <a:latin typeface="quote-cjk-patch"/>
                        </a:rPr>
                        <a:t>Dataset</a:t>
                      </a:r>
                    </a:p>
                  </a:txBody>
                  <a:tcPr marL="18000" marR="18000" marT="18000" marB="18000" anchor="ctr"/>
                </a:tc>
                <a:tc>
                  <a:txBody>
                    <a:bodyPr/>
                    <a:lstStyle/>
                    <a:p>
                      <a:pPr algn="l">
                        <a:lnSpc>
                          <a:spcPts val="1875"/>
                        </a:lnSpc>
                        <a:buNone/>
                      </a:pPr>
                      <a:r>
                        <a:rPr lang="zh-CN" sz="820" b="0" i="0" dirty="0">
                          <a:solidFill>
                            <a:srgbClr val="F9FAFB"/>
                          </a:solidFill>
                          <a:effectLst/>
                          <a:latin typeface="quote-cjk-patch"/>
                        </a:rPr>
                        <a:t>Accuracy</a:t>
                      </a:r>
                    </a:p>
                  </a:txBody>
                  <a:tcPr marL="18000" marR="18000" marT="18000" marB="18000" anchor="ctr"/>
                </a:tc>
                <a:tc>
                  <a:txBody>
                    <a:bodyPr/>
                    <a:lstStyle/>
                    <a:p>
                      <a:pPr algn="l">
                        <a:lnSpc>
                          <a:spcPts val="1875"/>
                        </a:lnSpc>
                        <a:buNone/>
                      </a:pPr>
                      <a:r>
                        <a:rPr lang="zh-CN" sz="820" b="0" i="0">
                          <a:solidFill>
                            <a:srgbClr val="F9FAFB"/>
                          </a:solidFill>
                          <a:effectLst/>
                          <a:latin typeface="quote-cjk-patch"/>
                        </a:rPr>
                        <a:t>Precision (Macro)</a:t>
                      </a:r>
                    </a:p>
                  </a:txBody>
                  <a:tcPr marL="18000" marR="18000" marT="18000" marB="18000" anchor="ctr"/>
                </a:tc>
                <a:tc>
                  <a:txBody>
                    <a:bodyPr/>
                    <a:lstStyle/>
                    <a:p>
                      <a:pPr algn="l">
                        <a:lnSpc>
                          <a:spcPts val="1875"/>
                        </a:lnSpc>
                        <a:buNone/>
                      </a:pPr>
                      <a:r>
                        <a:rPr lang="zh-CN" sz="820" b="0" i="0" dirty="0">
                          <a:solidFill>
                            <a:srgbClr val="F9FAFB"/>
                          </a:solidFill>
                          <a:effectLst/>
                          <a:latin typeface="quote-cjk-patch"/>
                        </a:rPr>
                        <a:t>Recall (Macro)</a:t>
                      </a:r>
                    </a:p>
                  </a:txBody>
                  <a:tcPr marL="18000" marR="18000" marT="18000" marB="18000" anchor="ctr"/>
                </a:tc>
                <a:tc>
                  <a:txBody>
                    <a:bodyPr/>
                    <a:lstStyle/>
                    <a:p>
                      <a:pPr algn="l">
                        <a:lnSpc>
                          <a:spcPts val="1875"/>
                        </a:lnSpc>
                        <a:buNone/>
                      </a:pPr>
                      <a:r>
                        <a:rPr lang="zh-CN" sz="820" b="0" i="0" dirty="0">
                          <a:solidFill>
                            <a:srgbClr val="F9FAFB"/>
                          </a:solidFill>
                          <a:effectLst/>
                          <a:latin typeface="quote-cjk-patch"/>
                        </a:rPr>
                        <a:t>F1 (Macro)</a:t>
                      </a:r>
                    </a:p>
                  </a:txBody>
                  <a:tcPr marL="18000" marR="18000" marT="18000" marB="18000" anchor="ctr"/>
                </a:tc>
                <a:tc>
                  <a:txBody>
                    <a:bodyPr/>
                    <a:lstStyle/>
                    <a:p>
                      <a:pPr algn="l">
                        <a:lnSpc>
                          <a:spcPts val="1875"/>
                        </a:lnSpc>
                        <a:buNone/>
                      </a:pPr>
                      <a:r>
                        <a:rPr lang="zh-CN" sz="820" b="0" i="0" dirty="0">
                          <a:solidFill>
                            <a:srgbClr val="F9FAFB"/>
                          </a:solidFill>
                          <a:effectLst/>
                          <a:latin typeface="quote-cjk-patch"/>
                        </a:rPr>
                        <a:t>CV F1 (Macro)</a:t>
                      </a:r>
                    </a:p>
                  </a:txBody>
                  <a:tcPr marL="18000" marR="18000" marT="18000" marB="18000" anchor="ctr"/>
                </a:tc>
                <a:tc>
                  <a:txBody>
                    <a:bodyPr/>
                    <a:lstStyle/>
                    <a:p>
                      <a:pPr algn="l">
                        <a:lnSpc>
                          <a:spcPts val="1875"/>
                        </a:lnSpc>
                        <a:buNone/>
                      </a:pPr>
                      <a:r>
                        <a:rPr lang="zh-CN" sz="820" b="0" i="0">
                          <a:solidFill>
                            <a:srgbClr val="F9FAFB"/>
                          </a:solidFill>
                          <a:effectLst/>
                          <a:latin typeface="quote-cjk-patch"/>
                        </a:rPr>
                        <a:t>Macro AUC</a:t>
                      </a:r>
                    </a:p>
                  </a:txBody>
                  <a:tcPr marL="18000" marR="18000" marT="18000" marB="18000" anchor="ctr"/>
                </a:tc>
                <a:extLst>
                  <a:ext uri="{0D108BD9-81ED-4DB2-BD59-A6C34878D82A}">
                    <a16:rowId xmlns:a16="http://schemas.microsoft.com/office/drawing/2014/main" val="3090880847"/>
                  </a:ext>
                </a:extLst>
              </a:tr>
              <a:tr h="329184">
                <a:tc>
                  <a:txBody>
                    <a:bodyPr/>
                    <a:lstStyle/>
                    <a:p>
                      <a:pPr algn="l">
                        <a:lnSpc>
                          <a:spcPts val="1875"/>
                        </a:lnSpc>
                        <a:buNone/>
                      </a:pPr>
                      <a:r>
                        <a:rPr lang="zh-CN" sz="720" b="1" i="0">
                          <a:solidFill>
                            <a:schemeClr val="tx1"/>
                          </a:solidFill>
                          <a:effectLst/>
                          <a:latin typeface="quote-cjk-patch"/>
                        </a:rPr>
                        <a:t>Logistic Regression</a:t>
                      </a:r>
                      <a:endParaRPr lang="zh-CN" sz="720" b="0" i="0">
                        <a:solidFill>
                          <a:schemeClr val="tx1"/>
                        </a:solidFill>
                        <a:effectLst/>
                        <a:latin typeface="quote-cjk-patch"/>
                      </a:endParaRPr>
                    </a:p>
                  </a:txBody>
                  <a:tcPr marR="18000" marT="18000" marB="18000" anchor="ctr" marL="18000"/>
                </a:tc>
                <a:tc>
                  <a:txBody>
                    <a:bodyPr/>
                    <a:lstStyle/>
                    <a:p>
                      <a:pPr algn="l">
                        <a:lnSpc>
                          <a:spcPts val="1875"/>
                        </a:lnSpc>
                        <a:buNone/>
                      </a:pPr>
                      <a:r>
                        <a:rPr lang="zh-CN" sz="720" b="0" i="0">
                          <a:solidFill>
                            <a:schemeClr val="tx1"/>
                          </a:solidFill>
                          <a:effectLst/>
                          <a:latin typeface="quote-cjk-patch"/>
                        </a:rPr>
                        <a:t>Train</a:t>
                      </a:r>
                    </a:p>
                  </a:txBody>
                  <a:tcPr marL="18000" marR="18000" marT="18000" marB="18000" anchor="ctr"/>
                </a:tc>
                <a:tc>
                  <a:txBody>
                    <a:bodyPr/>
                    <a:lstStyle/>
                    <a:p>
                      <a:pPr algn="l">
                        <a:lnSpc>
                          <a:spcPts val="1875"/>
                        </a:lnSpc>
                        <a:buNone/>
                      </a:pPr>
                      <a:r>
                        <a:rPr lang="zh-CN" sz="720" b="0" i="0">
                          <a:solidFill>
                            <a:schemeClr val="tx1"/>
                          </a:solidFill>
                          <a:effectLst/>
                          <a:latin typeface="quote-cjk-patch"/>
                        </a:rPr>
                        <a:t>0.6786</a:t>
                      </a:r>
                    </a:p>
                  </a:txBody>
                  <a:tcPr marL="18000" marR="18000" marT="18000" marB="18000" anchor="ctr"/>
                </a:tc>
                <a:tc>
                  <a:txBody>
                    <a:bodyPr/>
                    <a:lstStyle/>
                    <a:p>
                      <a:pPr algn="l">
                        <a:lnSpc>
                          <a:spcPts val="1875"/>
                        </a:lnSpc>
                        <a:buNone/>
                      </a:pPr>
                      <a:r>
                        <a:rPr lang="zh-CN" sz="720" b="0" i="0">
                          <a:solidFill>
                            <a:schemeClr val="tx1"/>
                          </a:solidFill>
                          <a:effectLst/>
                          <a:latin typeface="quote-cjk-patch"/>
                        </a:rPr>
                        <a:t>0.6487</a:t>
                      </a:r>
                    </a:p>
                  </a:txBody>
                  <a:tcPr marL="18000" marR="18000" marT="18000" marB="18000" anchor="ctr"/>
                </a:tc>
                <a:tc>
                  <a:txBody>
                    <a:bodyPr/>
                    <a:lstStyle/>
                    <a:p>
                      <a:pPr algn="l">
                        <a:lnSpc>
                          <a:spcPts val="1875"/>
                        </a:lnSpc>
                        <a:buNone/>
                      </a:pPr>
                      <a:r>
                        <a:rPr lang="zh-CN" sz="720" b="0" i="0">
                          <a:solidFill>
                            <a:schemeClr val="tx1"/>
                          </a:solidFill>
                          <a:effectLst/>
                          <a:latin typeface="quote-cjk-patch"/>
                        </a:rPr>
                        <a:t>0.7092</a:t>
                      </a:r>
                    </a:p>
                  </a:txBody>
                  <a:tcPr marL="18000" marR="18000" marT="18000" marB="18000" anchor="ctr"/>
                </a:tc>
                <a:tc>
                  <a:txBody>
                    <a:bodyPr/>
                    <a:lstStyle/>
                    <a:p>
                      <a:pPr algn="l">
                        <a:lnSpc>
                          <a:spcPts val="1875"/>
                        </a:lnSpc>
                        <a:buNone/>
                      </a:pPr>
                      <a:r>
                        <a:rPr lang="zh-CN" sz="720" b="0" i="0">
                          <a:solidFill>
                            <a:schemeClr val="tx1"/>
                          </a:solidFill>
                          <a:effectLst/>
                          <a:latin typeface="quote-cjk-patch"/>
                        </a:rPr>
                        <a:t>0.6620</a:t>
                      </a:r>
                    </a:p>
                  </a:txBody>
                  <a:tcPr marL="18000" marR="18000" marT="18000" marB="18000" anchor="ctr"/>
                </a:tc>
                <a:tc>
                  <a:txBody>
                    <a:bodyPr/>
                    <a:lstStyle/>
                    <a:p>
                      <a:pPr algn="l">
                        <a:lnSpc>
                          <a:spcPts val="1875"/>
                        </a:lnSpc>
                        <a:buNone/>
                      </a:pPr>
                      <a:r>
                        <a:rPr lang="zh-CN" sz="720" b="0" i="0">
                          <a:solidFill>
                            <a:schemeClr val="tx1"/>
                          </a:solidFill>
                          <a:effectLst/>
                          <a:latin typeface="quote-cjk-patch"/>
                        </a:rPr>
                        <a:t>0.6608 ± 0.0025</a:t>
                      </a:r>
                    </a:p>
                  </a:txBody>
                  <a:tcPr marL="18000" marR="18000" marT="18000" marB="18000" anchor="ctr"/>
                </a:tc>
                <a:tc>
                  <a:txBody>
                    <a:bodyPr/>
                    <a:lstStyle/>
                    <a:p>
                      <a:pPr algn="l">
                        <a:lnSpc>
                          <a:spcPts val="1875"/>
                        </a:lnSpc>
                        <a:buNone/>
                      </a:pPr>
                      <a:r>
                        <a:rPr lang="zh-CN" sz="720" b="1" i="0" dirty="0">
                          <a:solidFill>
                            <a:schemeClr val="tx1"/>
                          </a:solidFill>
                          <a:effectLst/>
                          <a:latin typeface="quote-cjk-patch"/>
                        </a:rPr>
                        <a:t>0.9468</a:t>
                      </a:r>
                      <a:endParaRPr lang="zh-CN" sz="720" b="0" i="0" dirty="0">
                        <a:solidFill>
                          <a:schemeClr val="tx1"/>
                        </a:solidFill>
                        <a:effectLst/>
                        <a:latin typeface="quote-cjk-patch"/>
                      </a:endParaRPr>
                    </a:p>
                  </a:txBody>
                  <a:tcPr marL="18000" marT="18000" marB="18000" anchor="ctr" marR="18000"/>
                </a:tc>
                <a:extLst>
                  <a:ext uri="{0D108BD9-81ED-4DB2-BD59-A6C34878D82A}">
                    <a16:rowId xmlns:a16="http://schemas.microsoft.com/office/drawing/2014/main" val="2568613006"/>
                  </a:ext>
                </a:extLst>
              </a:tr>
              <a:tr h="329184">
                <a:tc>
                  <a:txBody>
                    <a:bodyPr/>
                    <a:lstStyle/>
                    <a:p>
                      <a:pPr algn="l">
                        <a:lnSpc>
                          <a:spcPts val="1875"/>
                        </a:lnSpc>
                        <a:buNone/>
                      </a:pPr>
                      <a:endParaRPr lang="zh-CN" sz="720" b="0" i="0">
                        <a:solidFill>
                          <a:schemeClr val="tx1"/>
                        </a:solidFill>
                        <a:effectLst/>
                        <a:latin typeface="quote-cjk-patch"/>
                      </a:endParaRPr>
                    </a:p>
                  </a:txBody>
                  <a:tcPr marR="18000" marT="18000" marB="18000" anchor="ctr" marL="18000"/>
                </a:tc>
                <a:tc>
                  <a:txBody>
                    <a:bodyPr/>
                    <a:lstStyle/>
                    <a:p>
                      <a:pPr algn="l">
                        <a:lnSpc>
                          <a:spcPts val="1875"/>
                        </a:lnSpc>
                        <a:buNone/>
                      </a:pPr>
                      <a:r>
                        <a:rPr lang="zh-CN" sz="720" b="0" i="0">
                          <a:solidFill>
                            <a:schemeClr val="tx1"/>
                          </a:solidFill>
                          <a:effectLst/>
                          <a:latin typeface="quote-cjk-patch"/>
                        </a:rPr>
                        <a:t>Test</a:t>
                      </a:r>
                    </a:p>
                  </a:txBody>
                  <a:tcPr marL="18000" marR="18000" marT="18000" marB="18000" anchor="ctr"/>
                </a:tc>
                <a:tc>
                  <a:txBody>
                    <a:bodyPr/>
                    <a:lstStyle/>
                    <a:p>
                      <a:pPr algn="l">
                        <a:lnSpc>
                          <a:spcPts val="1875"/>
                        </a:lnSpc>
                        <a:buNone/>
                      </a:pPr>
                      <a:r>
                        <a:rPr lang="zh-CN" sz="720" b="0" i="0">
                          <a:solidFill>
                            <a:schemeClr val="tx1"/>
                          </a:solidFill>
                          <a:effectLst/>
                          <a:latin typeface="quote-cjk-patch"/>
                        </a:rPr>
                        <a:t>0.6756</a:t>
                      </a:r>
                    </a:p>
                  </a:txBody>
                  <a:tcPr marL="18000" marR="18000" marT="18000" marB="18000" anchor="ctr"/>
                </a:tc>
                <a:tc>
                  <a:txBody>
                    <a:bodyPr/>
                    <a:lstStyle/>
                    <a:p>
                      <a:pPr algn="l">
                        <a:lnSpc>
                          <a:spcPts val="1875"/>
                        </a:lnSpc>
                        <a:buNone/>
                      </a:pPr>
                      <a:r>
                        <a:rPr lang="zh-CN" sz="720" b="0" i="0">
                          <a:solidFill>
                            <a:schemeClr val="tx1"/>
                          </a:solidFill>
                          <a:effectLst/>
                          <a:latin typeface="quote-cjk-patch"/>
                        </a:rPr>
                        <a:t>0.6460</a:t>
                      </a:r>
                    </a:p>
                  </a:txBody>
                  <a:tcPr marL="18000" marR="18000" marT="18000" marB="18000" anchor="ctr"/>
                </a:tc>
                <a:tc>
                  <a:txBody>
                    <a:bodyPr/>
                    <a:lstStyle/>
                    <a:p>
                      <a:pPr algn="l">
                        <a:lnSpc>
                          <a:spcPts val="1875"/>
                        </a:lnSpc>
                        <a:buNone/>
                      </a:pPr>
                      <a:r>
                        <a:rPr lang="zh-CN" sz="720" b="0" i="0">
                          <a:solidFill>
                            <a:schemeClr val="tx1"/>
                          </a:solidFill>
                          <a:effectLst/>
                          <a:latin typeface="quote-cjk-patch"/>
                        </a:rPr>
                        <a:t>0.7062</a:t>
                      </a:r>
                    </a:p>
                  </a:txBody>
                  <a:tcPr marL="18000" marR="18000" marT="18000" marB="18000" anchor="ctr"/>
                </a:tc>
                <a:tc>
                  <a:txBody>
                    <a:bodyPr/>
                    <a:lstStyle/>
                    <a:p>
                      <a:pPr algn="l">
                        <a:lnSpc>
                          <a:spcPts val="1875"/>
                        </a:lnSpc>
                        <a:buNone/>
                      </a:pPr>
                      <a:r>
                        <a:rPr lang="zh-CN" sz="720" b="0" i="0">
                          <a:solidFill>
                            <a:schemeClr val="tx1"/>
                          </a:solidFill>
                          <a:effectLst/>
                          <a:latin typeface="quote-cjk-patch"/>
                        </a:rPr>
                        <a:t>0.6597</a:t>
                      </a:r>
                    </a:p>
                  </a:txBody>
                  <a:tcPr marL="18000" marR="18000" marT="18000" marB="18000" anchor="ctr"/>
                </a:tc>
                <a:tc>
                  <a:txBody>
                    <a:bodyPr/>
                    <a:lstStyle/>
                    <a:p>
                      <a:pPr algn="l">
                        <a:lnSpc>
                          <a:spcPts val="1875"/>
                        </a:lnSpc>
                        <a:buNone/>
                      </a:pPr>
                      <a:endParaRPr lang="zh-CN" sz="720" b="0" i="0">
                        <a:solidFill>
                          <a:schemeClr val="tx1"/>
                        </a:solidFill>
                        <a:effectLst/>
                        <a:latin typeface="quote-cjk-patch"/>
                      </a:endParaRPr>
                    </a:p>
                  </a:txBody>
                  <a:tcPr marL="18000" marR="18000" marT="18000" marB="18000" anchor="ctr"/>
                </a:tc>
                <a:tc>
                  <a:txBody>
                    <a:bodyPr/>
                    <a:lstStyle/>
                    <a:p>
                      <a:pPr algn="l">
                        <a:lnSpc>
                          <a:spcPts val="1875"/>
                        </a:lnSpc>
                        <a:buNone/>
                      </a:pPr>
                      <a:endParaRPr lang="zh-CN" sz="720" b="0" i="0">
                        <a:solidFill>
                          <a:schemeClr val="tx1"/>
                        </a:solidFill>
                        <a:effectLst/>
                        <a:latin typeface="quote-cjk-patch"/>
                      </a:endParaRPr>
                    </a:p>
                  </a:txBody>
                  <a:tcPr marL="18000" marT="18000" marB="18000" anchor="ctr" marR="18000"/>
                </a:tc>
                <a:extLst>
                  <a:ext uri="{0D108BD9-81ED-4DB2-BD59-A6C34878D82A}">
                    <a16:rowId xmlns:a16="http://schemas.microsoft.com/office/drawing/2014/main" val="2451104699"/>
                  </a:ext>
                </a:extLst>
              </a:tr>
              <a:tr h="329184">
                <a:tc>
                  <a:txBody>
                    <a:bodyPr/>
                    <a:lstStyle/>
                    <a:p>
                      <a:pPr algn="l">
                        <a:lnSpc>
                          <a:spcPts val="1875"/>
                        </a:lnSpc>
                        <a:buNone/>
                      </a:pPr>
                      <a:r>
                        <a:rPr lang="zh-CN" sz="720" b="1" i="0">
                          <a:solidFill>
                            <a:schemeClr val="tx1"/>
                          </a:solidFill>
                          <a:effectLst/>
                          <a:latin typeface="quote-cjk-patch"/>
                        </a:rPr>
                        <a:t>Decision Tree</a:t>
                      </a:r>
                      <a:endParaRPr lang="zh-CN" sz="720" b="0" i="0">
                        <a:solidFill>
                          <a:schemeClr val="tx1"/>
                        </a:solidFill>
                        <a:effectLst/>
                        <a:latin typeface="quote-cjk-patch"/>
                      </a:endParaRPr>
                    </a:p>
                  </a:txBody>
                  <a:tcPr marR="18000" marT="18000" marB="18000" anchor="ctr" marL="18000"/>
                </a:tc>
                <a:tc>
                  <a:txBody>
                    <a:bodyPr/>
                    <a:lstStyle/>
                    <a:p>
                      <a:pPr algn="l">
                        <a:lnSpc>
                          <a:spcPts val="1875"/>
                        </a:lnSpc>
                        <a:buNone/>
                      </a:pPr>
                      <a:r>
                        <a:rPr lang="zh-CN" sz="720" b="0" i="0">
                          <a:solidFill>
                            <a:schemeClr val="tx1"/>
                          </a:solidFill>
                          <a:effectLst/>
                          <a:latin typeface="quote-cjk-patch"/>
                        </a:rPr>
                        <a:t>Train</a:t>
                      </a:r>
                    </a:p>
                  </a:txBody>
                  <a:tcPr marL="18000" marR="18000" marT="18000" marB="18000" anchor="ctr"/>
                </a:tc>
                <a:tc>
                  <a:txBody>
                    <a:bodyPr/>
                    <a:lstStyle/>
                    <a:p>
                      <a:pPr algn="l">
                        <a:lnSpc>
                          <a:spcPts val="1875"/>
                        </a:lnSpc>
                        <a:buNone/>
                      </a:pPr>
                      <a:r>
                        <a:rPr lang="zh-CN" sz="720" b="0" i="0">
                          <a:solidFill>
                            <a:schemeClr val="tx1"/>
                          </a:solidFill>
                          <a:effectLst/>
                          <a:latin typeface="quote-cjk-patch"/>
                        </a:rPr>
                        <a:t>0.8720</a:t>
                      </a:r>
                    </a:p>
                  </a:txBody>
                  <a:tcPr marL="18000" marR="18000" marT="18000" marB="18000" anchor="ctr"/>
                </a:tc>
                <a:tc>
                  <a:txBody>
                    <a:bodyPr/>
                    <a:lstStyle/>
                    <a:p>
                      <a:pPr algn="l">
                        <a:lnSpc>
                          <a:spcPts val="1875"/>
                        </a:lnSpc>
                        <a:buNone/>
                      </a:pPr>
                      <a:r>
                        <a:rPr lang="zh-CN" sz="720" b="0" i="0">
                          <a:solidFill>
                            <a:schemeClr val="tx1"/>
                          </a:solidFill>
                          <a:effectLst/>
                          <a:latin typeface="quote-cjk-patch"/>
                        </a:rPr>
                        <a:t>0.8488</a:t>
                      </a:r>
                    </a:p>
                  </a:txBody>
                  <a:tcPr marL="18000" marR="18000" marT="18000" marB="18000" anchor="ctr"/>
                </a:tc>
                <a:tc>
                  <a:txBody>
                    <a:bodyPr/>
                    <a:lstStyle/>
                    <a:p>
                      <a:pPr algn="l">
                        <a:lnSpc>
                          <a:spcPts val="1875"/>
                        </a:lnSpc>
                        <a:buNone/>
                      </a:pPr>
                      <a:r>
                        <a:rPr lang="zh-CN" sz="720" b="0" i="0">
                          <a:solidFill>
                            <a:schemeClr val="tx1"/>
                          </a:solidFill>
                          <a:effectLst/>
                          <a:latin typeface="quote-cjk-patch"/>
                        </a:rPr>
                        <a:t>0.8906</a:t>
                      </a:r>
                    </a:p>
                  </a:txBody>
                  <a:tcPr marL="18000" marR="18000" marT="18000" marB="18000" anchor="ctr"/>
                </a:tc>
                <a:tc>
                  <a:txBody>
                    <a:bodyPr/>
                    <a:lstStyle/>
                    <a:p>
                      <a:pPr algn="l">
                        <a:lnSpc>
                          <a:spcPts val="1875"/>
                        </a:lnSpc>
                        <a:buNone/>
                      </a:pPr>
                      <a:r>
                        <a:rPr lang="zh-CN" sz="720" b="0" i="0">
                          <a:solidFill>
                            <a:schemeClr val="tx1"/>
                          </a:solidFill>
                          <a:effectLst/>
                          <a:latin typeface="quote-cjk-patch"/>
                        </a:rPr>
                        <a:t>0.8649</a:t>
                      </a:r>
                    </a:p>
                  </a:txBody>
                  <a:tcPr marL="18000" marR="18000" marT="18000" marB="18000" anchor="ctr"/>
                </a:tc>
                <a:tc>
                  <a:txBody>
                    <a:bodyPr/>
                    <a:lstStyle/>
                    <a:p>
                      <a:pPr algn="l">
                        <a:lnSpc>
                          <a:spcPts val="1875"/>
                        </a:lnSpc>
                        <a:buNone/>
                      </a:pPr>
                      <a:r>
                        <a:rPr lang="zh-CN" sz="720" b="0" i="0">
                          <a:solidFill>
                            <a:schemeClr val="tx1"/>
                          </a:solidFill>
                          <a:effectLst/>
                          <a:latin typeface="quote-cjk-patch"/>
                        </a:rPr>
                        <a:t>0.8108 ± 0.0043</a:t>
                      </a:r>
                    </a:p>
                  </a:txBody>
                  <a:tcPr marL="18000" marR="18000" marT="18000" marB="18000" anchor="ctr"/>
                </a:tc>
                <a:tc>
                  <a:txBody>
                    <a:bodyPr/>
                    <a:lstStyle/>
                    <a:p>
                      <a:pPr algn="l">
                        <a:lnSpc>
                          <a:spcPts val="1875"/>
                        </a:lnSpc>
                        <a:buNone/>
                      </a:pPr>
                      <a:r>
                        <a:rPr lang="zh-CN" sz="720" b="1" i="0">
                          <a:solidFill>
                            <a:schemeClr val="tx1"/>
                          </a:solidFill>
                          <a:effectLst/>
                          <a:latin typeface="quote-cjk-patch"/>
                        </a:rPr>
                        <a:t>0.9695</a:t>
                      </a:r>
                      <a:endParaRPr lang="zh-CN" sz="720" b="0" i="0">
                        <a:solidFill>
                          <a:schemeClr val="tx1"/>
                        </a:solidFill>
                        <a:effectLst/>
                        <a:latin typeface="quote-cjk-patch"/>
                      </a:endParaRPr>
                    </a:p>
                  </a:txBody>
                  <a:tcPr marL="18000" marT="18000" marB="18000" anchor="ctr" marR="18000"/>
                </a:tc>
                <a:extLst>
                  <a:ext uri="{0D108BD9-81ED-4DB2-BD59-A6C34878D82A}">
                    <a16:rowId xmlns:a16="http://schemas.microsoft.com/office/drawing/2014/main" val="1052757129"/>
                  </a:ext>
                </a:extLst>
              </a:tr>
              <a:tr h="329184">
                <a:tc>
                  <a:txBody>
                    <a:bodyPr/>
                    <a:lstStyle/>
                    <a:p>
                      <a:pPr algn="l">
                        <a:lnSpc>
                          <a:spcPts val="1875"/>
                        </a:lnSpc>
                        <a:buNone/>
                      </a:pPr>
                      <a:endParaRPr lang="zh-CN" sz="720" b="0" i="0" dirty="0">
                        <a:solidFill>
                          <a:schemeClr val="tx1"/>
                        </a:solidFill>
                        <a:effectLst/>
                        <a:latin typeface="quote-cjk-patch"/>
                      </a:endParaRPr>
                    </a:p>
                  </a:txBody>
                  <a:tcPr marR="18000" marT="18000" marB="18000" anchor="ctr" marL="18000"/>
                </a:tc>
                <a:tc>
                  <a:txBody>
                    <a:bodyPr/>
                    <a:lstStyle/>
                    <a:p>
                      <a:pPr algn="l">
                        <a:lnSpc>
                          <a:spcPts val="1875"/>
                        </a:lnSpc>
                        <a:buNone/>
                      </a:pPr>
                      <a:r>
                        <a:rPr lang="zh-CN" sz="720" b="0" i="0">
                          <a:solidFill>
                            <a:schemeClr val="tx1"/>
                          </a:solidFill>
                          <a:effectLst/>
                          <a:latin typeface="quote-cjk-patch"/>
                        </a:rPr>
                        <a:t>Test</a:t>
                      </a:r>
                    </a:p>
                  </a:txBody>
                  <a:tcPr marL="18000" marR="18000" marT="18000" marB="18000" anchor="ctr"/>
                </a:tc>
                <a:tc>
                  <a:txBody>
                    <a:bodyPr/>
                    <a:lstStyle/>
                    <a:p>
                      <a:pPr algn="l">
                        <a:lnSpc>
                          <a:spcPts val="1875"/>
                        </a:lnSpc>
                        <a:buNone/>
                      </a:pPr>
                      <a:r>
                        <a:rPr lang="zh-CN" sz="720" b="0" i="0">
                          <a:solidFill>
                            <a:schemeClr val="tx1"/>
                          </a:solidFill>
                          <a:effectLst/>
                          <a:latin typeface="quote-cjk-patch"/>
                        </a:rPr>
                        <a:t>0.8231</a:t>
                      </a:r>
                    </a:p>
                  </a:txBody>
                  <a:tcPr marL="18000" marR="18000" marT="18000" marB="18000" anchor="ctr"/>
                </a:tc>
                <a:tc>
                  <a:txBody>
                    <a:bodyPr/>
                    <a:lstStyle/>
                    <a:p>
                      <a:pPr algn="l">
                        <a:lnSpc>
                          <a:spcPts val="1875"/>
                        </a:lnSpc>
                        <a:buNone/>
                      </a:pPr>
                      <a:r>
                        <a:rPr lang="zh-CN" sz="720" b="0" i="0">
                          <a:solidFill>
                            <a:schemeClr val="tx1"/>
                          </a:solidFill>
                          <a:effectLst/>
                          <a:latin typeface="quote-cjk-patch"/>
                        </a:rPr>
                        <a:t>0.8031</a:t>
                      </a:r>
                    </a:p>
                  </a:txBody>
                  <a:tcPr marL="18000" marR="18000" marT="18000" marB="18000" anchor="ctr"/>
                </a:tc>
                <a:tc>
                  <a:txBody>
                    <a:bodyPr/>
                    <a:lstStyle/>
                    <a:p>
                      <a:pPr algn="l">
                        <a:lnSpc>
                          <a:spcPts val="1875"/>
                        </a:lnSpc>
                        <a:buNone/>
                      </a:pPr>
                      <a:r>
                        <a:rPr lang="zh-CN" sz="720" b="0" i="0">
                          <a:solidFill>
                            <a:schemeClr val="tx1"/>
                          </a:solidFill>
                          <a:effectLst/>
                          <a:latin typeface="quote-cjk-patch"/>
                        </a:rPr>
                        <a:t>0.8457</a:t>
                      </a:r>
                    </a:p>
                  </a:txBody>
                  <a:tcPr marL="18000" marR="18000" marT="18000" marB="18000" anchor="ctr"/>
                </a:tc>
                <a:tc>
                  <a:txBody>
                    <a:bodyPr/>
                    <a:lstStyle/>
                    <a:p>
                      <a:pPr algn="l">
                        <a:lnSpc>
                          <a:spcPts val="1875"/>
                        </a:lnSpc>
                        <a:buNone/>
                      </a:pPr>
                      <a:r>
                        <a:rPr lang="zh-CN" sz="720" b="0" i="0">
                          <a:solidFill>
                            <a:schemeClr val="tx1"/>
                          </a:solidFill>
                          <a:effectLst/>
                          <a:latin typeface="quote-cjk-patch"/>
                        </a:rPr>
                        <a:t>0.819</a:t>
                      </a:r>
                    </a:p>
                  </a:txBody>
                  <a:tcPr marL="18000" marR="18000" marT="18000" marB="18000" anchor="ctr"/>
                </a:tc>
                <a:tc>
                  <a:txBody>
                    <a:bodyPr/>
                    <a:lstStyle/>
                    <a:p>
                      <a:pPr algn="l">
                        <a:lnSpc>
                          <a:spcPts val="1875"/>
                        </a:lnSpc>
                        <a:buNone/>
                      </a:pPr>
                      <a:endParaRPr lang="zh-CN" sz="720" b="0" i="0">
                        <a:solidFill>
                          <a:schemeClr val="tx1"/>
                        </a:solidFill>
                        <a:effectLst/>
                        <a:latin typeface="quote-cjk-patch"/>
                      </a:endParaRPr>
                    </a:p>
                  </a:txBody>
                  <a:tcPr marL="18000" marR="18000" marT="18000" marB="18000" anchor="ctr"/>
                </a:tc>
                <a:tc>
                  <a:txBody>
                    <a:bodyPr/>
                    <a:lstStyle/>
                    <a:p>
                      <a:pPr algn="l">
                        <a:lnSpc>
                          <a:spcPts val="1875"/>
                        </a:lnSpc>
                        <a:buNone/>
                      </a:pPr>
                      <a:endParaRPr lang="zh-CN" sz="720" b="0" i="0" dirty="0">
                        <a:solidFill>
                          <a:schemeClr val="tx1"/>
                        </a:solidFill>
                        <a:effectLst/>
                        <a:latin typeface="quote-cjk-patch"/>
                      </a:endParaRPr>
                    </a:p>
                  </a:txBody>
                  <a:tcPr marL="18000" marT="18000" marB="18000" anchor="ctr" marR="18000"/>
                </a:tc>
                <a:extLst>
                  <a:ext uri="{0D108BD9-81ED-4DB2-BD59-A6C34878D82A}">
                    <a16:rowId xmlns:a16="http://schemas.microsoft.com/office/drawing/2014/main" val="1121981111"/>
                  </a:ext>
                </a:extLst>
              </a:tr>
              <a:tr h="329184">
                <a:tc>
                  <a:txBody>
                    <a:bodyPr/>
                    <a:lstStyle/>
                    <a:p>
                      <a:pPr algn="l"/>
                      <a:r>
                        <a:rPr lang="zh-CN" sz="720" b="1" i="0">
                          <a:solidFill>
                            <a:schemeClr val="tx1"/>
                          </a:solidFill>
                          <a:effectLst/>
                          <a:latin typeface="quote-cjk-patch"/>
                        </a:rPr>
                        <a:t>Random Forest</a:t>
                      </a:r>
                      <a:endParaRPr lang="zh-CN" sz="720" b="1" i="0">
                        <a:solidFill>
                          <a:schemeClr val="tx1"/>
                        </a:solidFill>
                        <a:effectLst/>
                        <a:latin typeface="quote-cjk-patch"/>
                      </a:endParaRPr>
                    </a:p>
                  </a:txBody>
                  <a:tcPr marR="18000" marT="18000" marB="18000" anchor="ctr" marL="18000"/>
                </a:tc>
                <a:tc>
                  <a:txBody>
                    <a:bodyPr/>
                    <a:lstStyle/>
                    <a:p>
                      <a:pPr algn="ctr"/>
                      <a:r>
                        <a:rPr lang="zh-CN" sz="720" b="0" i="0">
                          <a:solidFill>
                            <a:schemeClr val="tx1"/>
                          </a:solidFill>
                          <a:effectLst/>
                          <a:latin typeface="quote-cjk-patch"/>
                        </a:rPr>
                        <a:t>Train</a:t>
                      </a:r>
                      <a:endParaRPr lang="zh-CN" sz="720" b="0" i="0">
                        <a:solidFill>
                          <a:schemeClr val="tx1"/>
                        </a:solidFill>
                        <a:effectLst/>
                        <a:latin typeface="quote-cjk-patch"/>
                      </a:endParaRPr>
                    </a:p>
                  </a:txBody>
                  <a:tcPr marL="18000" marR="18000" marT="18000" marB="18000" anchor="ctr"/>
                </a:tc>
                <a:tc>
                  <a:txBody>
                    <a:bodyPr/>
                    <a:lstStyle/>
                    <a:p>
                      <a:pPr algn="ctr"/>
                      <a:r>
                        <a:rPr lang="zh-CN" sz="720" b="0" i="0">
                          <a:solidFill>
                            <a:schemeClr val="tx1"/>
                          </a:solidFill>
                          <a:effectLst/>
                          <a:latin typeface="quote-cjk-patch"/>
                        </a:rPr>
                        <a:t>0.9884</a:t>
                      </a:r>
                      <a:endParaRPr lang="zh-CN" sz="720" b="0" i="0">
                        <a:solidFill>
                          <a:schemeClr val="tx1"/>
                        </a:solidFill>
                        <a:effectLst/>
                        <a:latin typeface="quote-cjk-patch"/>
                      </a:endParaRPr>
                    </a:p>
                  </a:txBody>
                  <a:tcPr marL="18000" marR="18000" marT="18000" marB="18000" anchor="ctr"/>
                </a:tc>
                <a:tc>
                  <a:txBody>
                    <a:bodyPr/>
                    <a:lstStyle/>
                    <a:p>
                      <a:pPr algn="ctr"/>
                      <a:r>
                        <a:rPr lang="zh-CN" sz="720" b="0" i="0">
                          <a:solidFill>
                            <a:schemeClr val="tx1"/>
                          </a:solidFill>
                          <a:effectLst/>
                          <a:latin typeface="quote-cjk-patch"/>
                        </a:rPr>
                        <a:t>0.9822</a:t>
                      </a:r>
                      <a:endParaRPr lang="zh-CN" sz="720" b="0" i="0">
                        <a:solidFill>
                          <a:schemeClr val="tx1"/>
                        </a:solidFill>
                        <a:effectLst/>
                        <a:latin typeface="quote-cjk-patch"/>
                      </a:endParaRPr>
                    </a:p>
                  </a:txBody>
                  <a:tcPr marL="18000" marR="18000" marT="18000" marB="18000" anchor="ctr"/>
                </a:tc>
                <a:tc>
                  <a:txBody>
                    <a:bodyPr/>
                    <a:lstStyle/>
                    <a:p>
                      <a:pPr algn="ctr"/>
                      <a:r>
                        <a:rPr lang="zh-CN" sz="720" b="0" i="0">
                          <a:solidFill>
                            <a:schemeClr val="tx1"/>
                          </a:solidFill>
                          <a:effectLst/>
                          <a:latin typeface="quote-cjk-patch"/>
                        </a:rPr>
                        <a:t>0.9905</a:t>
                      </a:r>
                      <a:endParaRPr lang="zh-CN" sz="720" b="0" i="0">
                        <a:solidFill>
                          <a:schemeClr val="tx1"/>
                        </a:solidFill>
                        <a:effectLst/>
                        <a:latin typeface="quote-cjk-patch"/>
                      </a:endParaRPr>
                    </a:p>
                  </a:txBody>
                  <a:tcPr marL="18000" marR="18000" marT="18000" marB="18000" anchor="ctr"/>
                </a:tc>
                <a:tc>
                  <a:txBody>
                    <a:bodyPr/>
                    <a:lstStyle/>
                    <a:p>
                      <a:pPr algn="ctr"/>
                      <a:r>
                        <a:rPr lang="zh-CN" sz="720" b="0" i="0">
                          <a:solidFill>
                            <a:schemeClr val="tx1"/>
                          </a:solidFill>
                          <a:effectLst/>
                          <a:latin typeface="quote-cjk-patch"/>
                        </a:rPr>
                        <a:t>0.9864</a:t>
                      </a:r>
                      <a:endParaRPr lang="zh-CN" sz="720" b="0" i="0">
                        <a:solidFill>
                          <a:schemeClr val="tx1"/>
                        </a:solidFill>
                        <a:effectLst/>
                        <a:latin typeface="quote-cjk-patch"/>
                      </a:endParaRPr>
                    </a:p>
                  </a:txBody>
                  <a:tcPr marL="18000" marR="18000" marT="18000" marB="18000" anchor="ctr"/>
                </a:tc>
                <a:tc>
                  <a:txBody>
                    <a:bodyPr/>
                    <a:lstStyle/>
                    <a:p>
                      <a:pPr algn="ctr"/>
                      <a:r>
                        <a:rPr lang="zh-CN" sz="720" b="0" i="0">
                          <a:solidFill>
                            <a:schemeClr val="tx1"/>
                          </a:solidFill>
                          <a:effectLst/>
                          <a:latin typeface="quote-cjk-patch"/>
                        </a:rPr>
                        <a:t>—</a:t>
                      </a:r>
                      <a:endParaRPr lang="zh-CN" sz="720" b="0" i="0">
                        <a:solidFill>
                          <a:schemeClr val="tx1"/>
                        </a:solidFill>
                        <a:effectLst/>
                        <a:latin typeface="quote-cjk-patch"/>
                      </a:endParaRPr>
                    </a:p>
                  </a:txBody>
                  <a:tcPr marL="18000" marR="18000" marT="18000" marB="18000" anchor="ctr"/>
                </a:tc>
                <a:tc>
                  <a:txBody>
                    <a:bodyPr/>
                    <a:lstStyle/>
                    <a:p>
                      <a:pPr algn="ctr"/>
                      <a:r>
                        <a:rPr lang="zh-CN" sz="720" b="0" i="0">
                          <a:solidFill>
                            <a:schemeClr val="tx1"/>
                          </a:solidFill>
                          <a:effectLst/>
                          <a:latin typeface="quote-cjk-patch"/>
                        </a:rPr>
                        <a:t>—</a:t>
                      </a:r>
                      <a:endParaRPr lang="zh-CN" sz="720" b="0" i="0">
                        <a:solidFill>
                          <a:schemeClr val="tx1"/>
                        </a:solidFill>
                        <a:effectLst/>
                        <a:latin typeface="quote-cjk-patch"/>
                      </a:endParaRPr>
                    </a:p>
                  </a:txBody>
                  <a:tcPr marL="18000" marT="18000" marB="18000" anchor="ctr" marR="18000"/>
                </a:tc>
                <a:extLst>
                  <a:ext uri="{0D108BD9-81ED-4DB2-BD59-A6C34878D82A}">
                    <a16:rowId xmlns:a16="http://schemas.microsoft.com/office/drawing/2014/main" val="1052757129"/>
                  </a:ext>
                </a:extLst>
              </a:tr>
              <a:tr h="329184">
                <a:tc>
                  <a:txBody>
                    <a:bodyPr/>
                    <a:lstStyle/>
                    <a:p>
                      <a:pPr algn="l"/>
                      <a:r>
                        <a:rPr lang="zh-CN" sz="720" b="0" i="0" dirty="0">
                          <a:solidFill>
                            <a:schemeClr val="tx1"/>
                          </a:solidFill>
                          <a:effectLst/>
                          <a:latin typeface="quote-cjk-patch"/>
                        </a:rPr>
                        <a:t/>
                      </a:r>
                      <a:endParaRPr lang="zh-CN" sz="720" b="0" i="0" dirty="0">
                        <a:solidFill>
                          <a:schemeClr val="tx1"/>
                        </a:solidFill>
                        <a:effectLst/>
                        <a:latin typeface="quote-cjk-patch"/>
                      </a:endParaRPr>
                    </a:p>
                  </a:txBody>
                  <a:tcPr marR="18000" marT="18000" marB="18000" anchor="ctr" marL="18000"/>
                </a:tc>
                <a:tc>
                  <a:txBody>
                    <a:bodyPr/>
                    <a:lstStyle/>
                    <a:p>
                      <a:pPr algn="ctr"/>
                      <a:r>
                        <a:rPr lang="zh-CN" sz="720" b="0" i="0">
                          <a:solidFill>
                            <a:schemeClr val="tx1"/>
                          </a:solidFill>
                          <a:effectLst/>
                          <a:latin typeface="quote-cjk-patch"/>
                        </a:rPr>
                        <a:t>Test</a:t>
                      </a:r>
                      <a:endParaRPr lang="zh-CN" sz="720" b="0" i="0">
                        <a:solidFill>
                          <a:schemeClr val="tx1"/>
                        </a:solidFill>
                        <a:effectLst/>
                        <a:latin typeface="quote-cjk-patch"/>
                      </a:endParaRPr>
                    </a:p>
                  </a:txBody>
                  <a:tcPr marL="18000" marR="18000" marT="18000" marB="18000" anchor="ctr"/>
                </a:tc>
                <a:tc>
                  <a:txBody>
                    <a:bodyPr/>
                    <a:lstStyle/>
                    <a:p>
                      <a:pPr algn="ctr"/>
                      <a:r>
                        <a:rPr lang="zh-CN" sz="720" b="1" i="0">
                          <a:solidFill>
                            <a:schemeClr val="tx1"/>
                          </a:solidFill>
                          <a:effectLst/>
                          <a:latin typeface="quote-cjk-patch"/>
                        </a:rPr>
                        <a:t>0.9076</a:t>
                      </a:r>
                      <a:endParaRPr lang="zh-CN" sz="720" b="1" i="0">
                        <a:solidFill>
                          <a:schemeClr val="tx1"/>
                        </a:solidFill>
                        <a:effectLst/>
                        <a:latin typeface="quote-cjk-patch"/>
                      </a:endParaRPr>
                    </a:p>
                  </a:txBody>
                  <a:tcPr marL="18000" marR="18000" marT="18000" marB="18000" anchor="ctr"/>
                </a:tc>
                <a:tc>
                  <a:txBody>
                    <a:bodyPr/>
                    <a:lstStyle/>
                    <a:p>
                      <a:pPr algn="ctr"/>
                      <a:r>
                        <a:rPr lang="zh-CN" sz="720" b="0" i="0">
                          <a:solidFill>
                            <a:schemeClr val="tx1"/>
                          </a:solidFill>
                          <a:effectLst/>
                          <a:latin typeface="quote-cjk-patch"/>
                        </a:rPr>
                        <a:t>0.9025</a:t>
                      </a:r>
                      <a:endParaRPr lang="zh-CN" sz="720" b="0" i="0">
                        <a:solidFill>
                          <a:schemeClr val="tx1"/>
                        </a:solidFill>
                        <a:effectLst/>
                        <a:latin typeface="quote-cjk-patch"/>
                      </a:endParaRPr>
                    </a:p>
                  </a:txBody>
                  <a:tcPr marL="18000" marR="18000" marT="18000" marB="18000" anchor="ctr"/>
                </a:tc>
                <a:tc>
                  <a:txBody>
                    <a:bodyPr/>
                    <a:lstStyle/>
                    <a:p>
                      <a:pPr algn="ctr"/>
                      <a:r>
                        <a:rPr lang="zh-CN" sz="720" b="0" i="0">
                          <a:solidFill>
                            <a:schemeClr val="tx1"/>
                          </a:solidFill>
                          <a:effectLst/>
                          <a:latin typeface="quote-cjk-patch"/>
                        </a:rPr>
                        <a:t>0.9134</a:t>
                      </a:r>
                      <a:endParaRPr lang="zh-CN" sz="720" b="0" i="0">
                        <a:solidFill>
                          <a:schemeClr val="tx1"/>
                        </a:solidFill>
                        <a:effectLst/>
                        <a:latin typeface="quote-cjk-patch"/>
                      </a:endParaRPr>
                    </a:p>
                  </a:txBody>
                  <a:tcPr marL="18000" marR="18000" marT="18000" marB="18000" anchor="ctr"/>
                </a:tc>
                <a:tc>
                  <a:txBody>
                    <a:bodyPr/>
                    <a:lstStyle/>
                    <a:p>
                      <a:pPr algn="ctr"/>
                      <a:r>
                        <a:rPr lang="zh-CN" sz="720" b="1" i="0">
                          <a:solidFill>
                            <a:schemeClr val="tx1"/>
                          </a:solidFill>
                          <a:effectLst/>
                          <a:latin typeface="quote-cjk-patch"/>
                        </a:rPr>
                        <a:t>0.9076</a:t>
                      </a:r>
                      <a:endParaRPr lang="zh-CN" sz="720" b="1" i="0">
                        <a:solidFill>
                          <a:schemeClr val="tx1"/>
                        </a:solidFill>
                        <a:effectLst/>
                        <a:latin typeface="quote-cjk-patch"/>
                      </a:endParaRPr>
                    </a:p>
                  </a:txBody>
                  <a:tcPr marL="18000" marR="18000" marT="18000" marB="18000" anchor="ctr"/>
                </a:tc>
                <a:tc>
                  <a:txBody>
                    <a:bodyPr/>
                    <a:lstStyle/>
                    <a:p>
                      <a:pPr algn="ctr"/>
                      <a:r>
                        <a:rPr lang="zh-CN" sz="720" b="0" i="0">
                          <a:solidFill>
                            <a:schemeClr val="tx1"/>
                          </a:solidFill>
                          <a:effectLst/>
                          <a:latin typeface="quote-cjk-patch"/>
                        </a:rPr>
                        <a:t>0.9019±0.0009</a:t>
                      </a:r>
                      <a:endParaRPr lang="zh-CN" sz="720" b="0" i="0">
                        <a:solidFill>
                          <a:schemeClr val="tx1"/>
                        </a:solidFill>
                        <a:effectLst/>
                        <a:latin typeface="quote-cjk-patch"/>
                      </a:endParaRPr>
                    </a:p>
                  </a:txBody>
                  <a:tcPr marL="18000" marR="18000" marT="18000" marB="18000" anchor="ctr"/>
                </a:tc>
                <a:tc>
                  <a:txBody>
                    <a:bodyPr/>
                    <a:lstStyle/>
                    <a:p>
                      <a:pPr algn="ctr"/>
                      <a:r>
                        <a:rPr lang="zh-CN" sz="720" b="0" i="0" dirty="0">
                          <a:solidFill>
                            <a:schemeClr val="tx1"/>
                          </a:solidFill>
                          <a:effectLst/>
                          <a:latin typeface="quote-cjk-patch"/>
                        </a:rPr>
                        <a:t>0.9923</a:t>
                      </a:r>
                      <a:endParaRPr lang="zh-CN" sz="720" b="0" i="0" dirty="0">
                        <a:solidFill>
                          <a:schemeClr val="tx1"/>
                        </a:solidFill>
                        <a:effectLst/>
                        <a:latin typeface="quote-cjk-patch"/>
                      </a:endParaRPr>
                    </a:p>
                  </a:txBody>
                  <a:tcPr marL="18000" marT="18000" marB="18000" anchor="ctr" marR="18000"/>
                </a:tc>
                <a:extLst>
                  <a:ext uri="{0D108BD9-81ED-4DB2-BD59-A6C34878D82A}">
                    <a16:rowId xmlns:a16="http://schemas.microsoft.com/office/drawing/2014/main" val="1121981111"/>
                  </a:ext>
                </a:extLst>
              </a:tr>
              <a:tr h="329184">
                <a:tc>
                  <a:txBody>
                    <a:bodyPr/>
                    <a:lstStyle/>
                    <a:p>
                      <a:pPr algn="l"/>
                      <a:r>
                        <a:rPr lang="zh-CN" sz="720" b="1" i="0">
                          <a:solidFill>
                            <a:schemeClr val="tx1"/>
                          </a:solidFill>
                          <a:effectLst/>
                          <a:latin typeface="quote-cjk-patch"/>
                        </a:rPr>
                        <a:t>HistGradientBoosting</a:t>
                      </a:r>
                      <a:endParaRPr lang="zh-CN" sz="720" b="1" i="0">
                        <a:solidFill>
                          <a:schemeClr val="tx1"/>
                        </a:solidFill>
                        <a:effectLst/>
                        <a:latin typeface="quote-cjk-patch"/>
                      </a:endParaRPr>
                    </a:p>
                  </a:txBody>
                  <a:tcPr marR="18000" marT="18000" marB="18000" anchor="ctr" marL="18000"/>
                </a:tc>
                <a:tc>
                  <a:txBody>
                    <a:bodyPr/>
                    <a:lstStyle/>
                    <a:p>
                      <a:pPr algn="ctr"/>
                      <a:r>
                        <a:rPr lang="zh-CN" sz="720" b="0" i="0">
                          <a:solidFill>
                            <a:schemeClr val="tx1"/>
                          </a:solidFill>
                          <a:effectLst/>
                          <a:latin typeface="quote-cjk-patch"/>
                        </a:rPr>
                        <a:t>Train</a:t>
                      </a:r>
                      <a:endParaRPr lang="zh-CN" sz="720" b="0" i="0">
                        <a:solidFill>
                          <a:schemeClr val="tx1"/>
                        </a:solidFill>
                        <a:effectLst/>
                        <a:latin typeface="quote-cjk-patch"/>
                      </a:endParaRPr>
                    </a:p>
                  </a:txBody>
                  <a:tcPr marL="18000" marR="18000" marT="18000" marB="18000" anchor="ctr"/>
                </a:tc>
                <a:tc>
                  <a:txBody>
                    <a:bodyPr/>
                    <a:lstStyle/>
                    <a:p>
                      <a:pPr algn="ctr"/>
                      <a:r>
                        <a:rPr lang="zh-CN" sz="720" b="0" i="0">
                          <a:solidFill>
                            <a:schemeClr val="tx1"/>
                          </a:solidFill>
                          <a:effectLst/>
                          <a:latin typeface="quote-cjk-patch"/>
                        </a:rPr>
                        <a:t>0.9378</a:t>
                      </a:r>
                      <a:endParaRPr lang="zh-CN" sz="720" b="0" i="0">
                        <a:solidFill>
                          <a:schemeClr val="tx1"/>
                        </a:solidFill>
                        <a:effectLst/>
                        <a:latin typeface="quote-cjk-patch"/>
                      </a:endParaRPr>
                    </a:p>
                  </a:txBody>
                  <a:tcPr marL="18000" marR="18000" marT="18000" marB="18000" anchor="ctr"/>
                </a:tc>
                <a:tc>
                  <a:txBody>
                    <a:bodyPr/>
                    <a:lstStyle/>
                    <a:p>
                      <a:pPr algn="ctr"/>
                      <a:r>
                        <a:rPr lang="zh-CN" sz="720" b="0" i="0">
                          <a:solidFill>
                            <a:schemeClr val="tx1"/>
                          </a:solidFill>
                          <a:effectLst/>
                          <a:latin typeface="quote-cjk-patch"/>
                        </a:rPr>
                        <a:t>0.9433</a:t>
                      </a:r>
                      <a:endParaRPr lang="zh-CN" sz="720" b="0" i="0">
                        <a:solidFill>
                          <a:schemeClr val="tx1"/>
                        </a:solidFill>
                        <a:effectLst/>
                        <a:latin typeface="quote-cjk-patch"/>
                      </a:endParaRPr>
                    </a:p>
                  </a:txBody>
                  <a:tcPr marL="18000" marR="18000" marT="18000" marB="18000" anchor="ctr"/>
                </a:tc>
                <a:tc>
                  <a:txBody>
                    <a:bodyPr/>
                    <a:lstStyle/>
                    <a:p>
                      <a:pPr algn="ctr"/>
                      <a:r>
                        <a:rPr lang="zh-CN" sz="720" b="0" i="0">
                          <a:solidFill>
                            <a:schemeClr val="tx1"/>
                          </a:solidFill>
                          <a:effectLst/>
                          <a:latin typeface="quote-cjk-patch"/>
                        </a:rPr>
                        <a:t>0.9469</a:t>
                      </a:r>
                      <a:endParaRPr lang="zh-CN" sz="720" b="0" i="0">
                        <a:solidFill>
                          <a:schemeClr val="tx1"/>
                        </a:solidFill>
                        <a:effectLst/>
                        <a:latin typeface="quote-cjk-patch"/>
                      </a:endParaRPr>
                    </a:p>
                  </a:txBody>
                  <a:tcPr marL="18000" marR="18000" marT="18000" marB="18000" anchor="ctr"/>
                </a:tc>
                <a:tc>
                  <a:txBody>
                    <a:bodyPr/>
                    <a:lstStyle/>
                    <a:p>
                      <a:pPr algn="ctr"/>
                      <a:r>
                        <a:rPr lang="zh-CN" sz="720" b="0" i="0">
                          <a:solidFill>
                            <a:schemeClr val="tx1"/>
                          </a:solidFill>
                          <a:effectLst/>
                          <a:latin typeface="quote-cjk-patch"/>
                        </a:rPr>
                        <a:t>0.9449</a:t>
                      </a:r>
                      <a:endParaRPr lang="zh-CN" sz="720" b="0" i="0">
                        <a:solidFill>
                          <a:schemeClr val="tx1"/>
                        </a:solidFill>
                        <a:effectLst/>
                        <a:latin typeface="quote-cjk-patch"/>
                      </a:endParaRPr>
                    </a:p>
                  </a:txBody>
                  <a:tcPr marL="18000" marR="18000" marT="18000" marB="18000" anchor="ctr"/>
                </a:tc>
                <a:tc>
                  <a:txBody>
                    <a:bodyPr/>
                    <a:lstStyle/>
                    <a:p>
                      <a:pPr algn="ctr"/>
                      <a:r>
                        <a:rPr lang="zh-CN" sz="720" b="0" i="0">
                          <a:solidFill>
                            <a:schemeClr val="tx1"/>
                          </a:solidFill>
                          <a:effectLst/>
                          <a:latin typeface="quote-cjk-patch"/>
                        </a:rPr>
                        <a:t>—</a:t>
                      </a:r>
                      <a:endParaRPr lang="zh-CN" sz="720" b="0" i="0">
                        <a:solidFill>
                          <a:schemeClr val="tx1"/>
                        </a:solidFill>
                        <a:effectLst/>
                        <a:latin typeface="quote-cjk-patch"/>
                      </a:endParaRPr>
                    </a:p>
                  </a:txBody>
                  <a:tcPr marL="18000" marR="18000" marT="18000" marB="18000" anchor="ctr"/>
                </a:tc>
                <a:tc>
                  <a:txBody>
                    <a:bodyPr/>
                    <a:lstStyle/>
                    <a:p>
                      <a:pPr algn="ctr"/>
                      <a:r>
                        <a:rPr lang="zh-CN" sz="720" b="0" i="0">
                          <a:solidFill>
                            <a:schemeClr val="tx1"/>
                          </a:solidFill>
                          <a:effectLst/>
                          <a:latin typeface="quote-cjk-patch"/>
                        </a:rPr>
                        <a:t>—</a:t>
                      </a:r>
                      <a:endParaRPr lang="zh-CN" sz="720" b="0" i="0">
                        <a:solidFill>
                          <a:schemeClr val="tx1"/>
                        </a:solidFill>
                        <a:effectLst/>
                        <a:latin typeface="quote-cjk-patch"/>
                      </a:endParaRPr>
                    </a:p>
                  </a:txBody>
                  <a:tcPr marL="18000" marT="18000" marB="18000" anchor="ctr" marR="18000"/>
                </a:tc>
                <a:extLst>
                  <a:ext uri="{0D108BD9-81ED-4DB2-BD59-A6C34878D82A}">
                    <a16:rowId xmlns:a16="http://schemas.microsoft.com/office/drawing/2014/main" val="1052757129"/>
                  </a:ext>
                </a:extLst>
              </a:tr>
              <a:tr h="329184">
                <a:tc>
                  <a:txBody>
                    <a:bodyPr/>
                    <a:lstStyle/>
                    <a:p>
                      <a:pPr algn="l"/>
                      <a:r>
                        <a:rPr lang="zh-CN" sz="720" b="0" i="0" dirty="0">
                          <a:solidFill>
                            <a:schemeClr val="tx1"/>
                          </a:solidFill>
                          <a:effectLst/>
                          <a:latin typeface="quote-cjk-patch"/>
                        </a:rPr>
                        <a:t/>
                      </a:r>
                      <a:endParaRPr lang="zh-CN" sz="720" b="0" i="0" dirty="0">
                        <a:solidFill>
                          <a:schemeClr val="tx1"/>
                        </a:solidFill>
                        <a:effectLst/>
                        <a:latin typeface="quote-cjk-patch"/>
                      </a:endParaRPr>
                    </a:p>
                  </a:txBody>
                  <a:tcPr marR="18000" marT="18000" marB="18000" anchor="ctr" marL="18000"/>
                </a:tc>
                <a:tc>
                  <a:txBody>
                    <a:bodyPr/>
                    <a:lstStyle/>
                    <a:p>
                      <a:pPr algn="ctr"/>
                      <a:r>
                        <a:rPr lang="zh-CN" sz="720" b="0" i="0">
                          <a:solidFill>
                            <a:schemeClr val="tx1"/>
                          </a:solidFill>
                          <a:effectLst/>
                          <a:latin typeface="quote-cjk-patch"/>
                        </a:rPr>
                        <a:t>Test</a:t>
                      </a:r>
                      <a:endParaRPr lang="zh-CN" sz="720" b="0" i="0">
                        <a:solidFill>
                          <a:schemeClr val="tx1"/>
                        </a:solidFill>
                        <a:effectLst/>
                        <a:latin typeface="quote-cjk-patch"/>
                      </a:endParaRPr>
                    </a:p>
                  </a:txBody>
                  <a:tcPr marL="18000" marR="18000" marT="18000" marB="18000" anchor="ctr"/>
                </a:tc>
                <a:tc>
                  <a:txBody>
                    <a:bodyPr/>
                    <a:lstStyle/>
                    <a:p>
                      <a:pPr algn="ctr"/>
                      <a:r>
                        <a:rPr lang="zh-CN" sz="720" b="0" i="0">
                          <a:solidFill>
                            <a:schemeClr val="tx1"/>
                          </a:solidFill>
                          <a:effectLst/>
                          <a:latin typeface="quote-cjk-patch"/>
                        </a:rPr>
                        <a:t>0.8951</a:t>
                      </a:r>
                      <a:endParaRPr lang="zh-CN" sz="720" b="0" i="0">
                        <a:solidFill>
                          <a:schemeClr val="tx1"/>
                        </a:solidFill>
                        <a:effectLst/>
                        <a:latin typeface="quote-cjk-patch"/>
                      </a:endParaRPr>
                    </a:p>
                  </a:txBody>
                  <a:tcPr marL="18000" marR="18000" marT="18000" marB="18000" anchor="ctr"/>
                </a:tc>
                <a:tc>
                  <a:txBody>
                    <a:bodyPr/>
                    <a:lstStyle/>
                    <a:p>
                      <a:pPr algn="ctr"/>
                      <a:r>
                        <a:rPr lang="zh-CN" sz="720" b="0" i="0">
                          <a:solidFill>
                            <a:schemeClr val="tx1"/>
                          </a:solidFill>
                          <a:effectLst/>
                          <a:latin typeface="quote-cjk-patch"/>
                        </a:rPr>
                        <a:t>0.8957</a:t>
                      </a:r>
                      <a:endParaRPr lang="zh-CN" sz="720" b="0" i="0">
                        <a:solidFill>
                          <a:schemeClr val="tx1"/>
                        </a:solidFill>
                        <a:effectLst/>
                        <a:latin typeface="quote-cjk-patch"/>
                      </a:endParaRPr>
                    </a:p>
                  </a:txBody>
                  <a:tcPr marL="18000" marR="18000" marT="18000" marB="18000" anchor="ctr"/>
                </a:tc>
                <a:tc>
                  <a:txBody>
                    <a:bodyPr/>
                    <a:lstStyle/>
                    <a:p>
                      <a:pPr algn="ctr"/>
                      <a:r>
                        <a:rPr lang="zh-CN" sz="720" b="0" i="0">
                          <a:solidFill>
                            <a:schemeClr val="tx1"/>
                          </a:solidFill>
                          <a:effectLst/>
                          <a:latin typeface="quote-cjk-patch"/>
                        </a:rPr>
                        <a:t>0.9014</a:t>
                      </a:r>
                      <a:endParaRPr lang="zh-CN" sz="720" b="0" i="0">
                        <a:solidFill>
                          <a:schemeClr val="tx1"/>
                        </a:solidFill>
                        <a:effectLst/>
                        <a:latin typeface="quote-cjk-patch"/>
                      </a:endParaRPr>
                    </a:p>
                  </a:txBody>
                  <a:tcPr marL="18000" marR="18000" marT="18000" marB="18000" anchor="ctr"/>
                </a:tc>
                <a:tc>
                  <a:txBody>
                    <a:bodyPr/>
                    <a:lstStyle/>
                    <a:p>
                      <a:pPr algn="ctr"/>
                      <a:r>
                        <a:rPr lang="zh-CN" sz="720" b="1" i="0">
                          <a:solidFill>
                            <a:schemeClr val="tx1"/>
                          </a:solidFill>
                          <a:effectLst/>
                          <a:latin typeface="quote-cjk-patch"/>
                        </a:rPr>
                        <a:t>0.8982</a:t>
                      </a:r>
                      <a:endParaRPr lang="zh-CN" sz="720" b="1" i="0">
                        <a:solidFill>
                          <a:schemeClr val="tx1"/>
                        </a:solidFill>
                        <a:effectLst/>
                        <a:latin typeface="quote-cjk-patch"/>
                      </a:endParaRPr>
                    </a:p>
                  </a:txBody>
                  <a:tcPr marL="18000" marR="18000" marT="18000" marB="18000" anchor="ctr"/>
                </a:tc>
                <a:tc>
                  <a:txBody>
                    <a:bodyPr/>
                    <a:lstStyle/>
                    <a:p>
                      <a:pPr algn="ctr"/>
                      <a:r>
                        <a:rPr lang="zh-CN" sz="720" b="0" i="0">
                          <a:solidFill>
                            <a:schemeClr val="tx1"/>
                          </a:solidFill>
                          <a:effectLst/>
                          <a:latin typeface="quote-cjk-patch"/>
                        </a:rPr>
                        <a:t>0.8946±0.0030</a:t>
                      </a:r>
                      <a:endParaRPr lang="zh-CN" sz="720" b="0" i="0">
                        <a:solidFill>
                          <a:schemeClr val="tx1"/>
                        </a:solidFill>
                        <a:effectLst/>
                        <a:latin typeface="quote-cjk-patch"/>
                      </a:endParaRPr>
                    </a:p>
                  </a:txBody>
                  <a:tcPr marL="18000" marR="18000" marT="18000" marB="18000" anchor="ctr"/>
                </a:tc>
                <a:tc>
                  <a:txBody>
                    <a:bodyPr/>
                    <a:lstStyle/>
                    <a:p>
                      <a:pPr algn="ctr"/>
                      <a:r>
                        <a:rPr lang="zh-CN" sz="720" b="0" i="0" dirty="0">
                          <a:solidFill>
                            <a:schemeClr val="tx1"/>
                          </a:solidFill>
                          <a:effectLst/>
                          <a:latin typeface="quote-cjk-patch"/>
                        </a:rPr>
                        <a:t>0.9907</a:t>
                      </a:r>
                      <a:endParaRPr lang="zh-CN" sz="720" b="0" i="0" dirty="0">
                        <a:solidFill>
                          <a:schemeClr val="tx1"/>
                        </a:solidFill>
                        <a:effectLst/>
                        <a:latin typeface="quote-cjk-patch"/>
                      </a:endParaRPr>
                    </a:p>
                  </a:txBody>
                  <a:tcPr marL="18000" marT="18000" marB="18000" anchor="ctr" marR="18000"/>
                </a:tc>
                <a:extLst>
                  <a:ext uri="{0D108BD9-81ED-4DB2-BD59-A6C34878D82A}">
                    <a16:rowId xmlns:a16="http://schemas.microsoft.com/office/drawing/2014/main" val="1121981111"/>
                  </a:ext>
                </a:extLst>
              </a:tr>
            </a:tbl>
          </a:graphicData>
        </a:graphic>
      </p:graphicFrame>
    </p:spTree>
    <p:extLst>
      <p:ext uri="{BB962C8B-B14F-4D97-AF65-F5344CB8AC3E}">
        <p14:creationId xmlns:p14="http://schemas.microsoft.com/office/powerpoint/2010/main" val="3833946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35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128000" y="3841750"/>
            <a:ext cx="3556000" cy="2095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0" y="4032250"/>
            <a:ext cx="406400" cy="406400"/>
          </a:xfrm>
          <a:prstGeom prst="rect">
            <a:avLst/>
          </a:prstGeom>
        </p:spPr>
      </p:pic>
      <p:sp>
        <p:nvSpPr>
          <p:cNvPr id="8" name="AutoShape 8"/>
          <p:cNvSpPr/>
          <p:nvPr/>
        </p:nvSpPr>
        <p:spPr>
          <a:xfrm>
            <a:off x="8890000" y="404495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293B"/>
                </a:solidFill>
                <a:latin typeface="Noto Sans SC"/>
                <a:ea typeface="Noto Sans SC"/>
                <a:cs typeface="Noto Sans SC"/>
                <a:sym typeface="Noto Sans SC"/>
              </a:rPr>
              <a:t>Advanced Model Comparison</a:t>
            </a:r>
            <a:endParaRPr lang="en-US" sz="1100"/>
          </a:p>
        </p:txBody>
      </p:sp>
      <p:sp>
        <p:nvSpPr>
          <p:cNvPr id="9" name="AutoShape 9"/>
          <p:cNvSpPr/>
          <p:nvPr/>
        </p:nvSpPr>
        <p:spPr>
          <a:xfrm>
            <a:off x="8382000" y="460375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75569"/>
                </a:solidFill>
                <a:latin typeface="Noto Sans SC"/>
                <a:ea typeface="Noto Sans SC"/>
                <a:cs typeface="Noto Sans SC"/>
                <a:sym typeface="Noto Sans SC"/>
              </a:rPr>
              <a:t>Random Forest (120 trees) vs HistGradientBoosting (160 iterations). RF leads in accuracy (0.908) and F1 (0.908); HGB has best calibration (ECE=0.041).</a:t>
            </a:r>
            <a:endParaRPr lang="en-US" sz="1100"/>
          </a:p>
        </p:txBody>
      </p:sp>
      <p:sp>
        <p:nvSpPr>
          <p:cNvPr id="10" name="AutoShape 10"/>
          <p:cNvSpPr/>
          <p:nvPr/>
        </p:nvSpPr>
        <p:spPr>
          <a:xfrm>
            <a:off x="508000" y="1555750"/>
            <a:ext cx="3556000" cy="2095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1746250"/>
            <a:ext cx="406400" cy="406400"/>
          </a:xfrm>
          <a:prstGeom prst="rect">
            <a:avLst/>
          </a:prstGeom>
        </p:spPr>
      </p:pic>
      <p:sp>
        <p:nvSpPr>
          <p:cNvPr id="12" name="AutoShape 12"/>
          <p:cNvSpPr/>
          <p:nvPr/>
        </p:nvSpPr>
        <p:spPr>
          <a:xfrm>
            <a:off x="1270000" y="175895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293B"/>
                </a:solidFill>
                <a:latin typeface="Noto Sans SC"/>
                <a:ea typeface="Noto Sans SC"/>
                <a:cs typeface="Noto Sans SC"/>
                <a:sym typeface="Noto Sans SC"/>
              </a:rPr>
              <a:t>Feature Importance Analysis</a:t>
            </a:r>
            <a:endParaRPr lang="en-US" sz="1100"/>
          </a:p>
        </p:txBody>
      </p:sp>
      <p:sp>
        <p:nvSpPr>
          <p:cNvPr id="13" name="AutoShape 13"/>
          <p:cNvSpPr/>
          <p:nvPr/>
        </p:nvSpPr>
        <p:spPr>
          <a:xfrm>
            <a:off x="762000" y="231775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75569"/>
                </a:solidFill>
                <a:latin typeface="Noto Sans SC"/>
                <a:ea typeface="Noto Sans SC"/>
                <a:cs typeface="Noto Sans SC"/>
                <a:sym typeface="Noto Sans SC"/>
              </a:rPr>
              <a:t>Elevation dominates (RF impurity 0.237, permutation F1-drop 0.358). Road/fire/hydrology distances contribute ~0.30 combined.</a:t>
            </a:r>
            <a:endParaRPr lang="en-US" sz="1100"/>
          </a:p>
        </p:txBody>
      </p:sp>
      <p:sp>
        <p:nvSpPr>
          <p:cNvPr id="14" name="AutoShape 14"/>
          <p:cNvSpPr/>
          <p:nvPr/>
        </p:nvSpPr>
        <p:spPr>
          <a:xfrm>
            <a:off x="4318000" y="1555750"/>
            <a:ext cx="3556000" cy="2095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1746250"/>
            <a:ext cx="406400" cy="406400"/>
          </a:xfrm>
          <a:prstGeom prst="rect">
            <a:avLst/>
          </a:prstGeom>
        </p:spPr>
      </p:pic>
      <p:sp>
        <p:nvSpPr>
          <p:cNvPr id="16" name="AutoShape 16"/>
          <p:cNvSpPr/>
          <p:nvPr/>
        </p:nvSpPr>
        <p:spPr>
          <a:xfrm>
            <a:off x="5080000" y="175895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E293B"/>
                </a:solidFill>
                <a:latin typeface="Noto Sans SC"/>
                <a:ea typeface="Noto Sans SC"/>
                <a:cs typeface="Noto Sans SC"/>
                <a:sym typeface="Noto Sans SC"/>
              </a:rPr>
              <a:t>Hyperparameter Tuning</a:t>
            </a:r>
            <a:endParaRPr lang="en-US" sz="1100" dirty="0"/>
          </a:p>
        </p:txBody>
      </p:sp>
      <p:sp>
        <p:nvSpPr>
          <p:cNvPr id="17" name="AutoShape 17"/>
          <p:cNvSpPr/>
          <p:nvPr/>
        </p:nvSpPr>
        <p:spPr>
          <a:xfrm>
            <a:off x="4572000" y="231775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75569"/>
                </a:solidFill>
                <a:latin typeface="Noto Sans SC"/>
                <a:ea typeface="Noto Sans SC"/>
                <a:cs typeface="Noto Sans SC"/>
                <a:sym typeface="Noto Sans SC"/>
              </a:rPr>
              <a:t>Grid search on 30k subset: all three models (DT, RF, HGB) degraded on full test. Tuning-sample size matters as much as configuration.</a:t>
            </a:r>
            <a:endParaRPr lang="en-US" sz="1100"/>
          </a:p>
        </p:txBody>
      </p:sp>
      <p:sp>
        <p:nvSpPr>
          <p:cNvPr id="18" name="AutoShape 18"/>
          <p:cNvSpPr/>
          <p:nvPr/>
        </p:nvSpPr>
        <p:spPr>
          <a:xfrm>
            <a:off x="8128000" y="1555750"/>
            <a:ext cx="3556000" cy="2095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746250"/>
            <a:ext cx="406400" cy="406400"/>
          </a:xfrm>
          <a:prstGeom prst="rect">
            <a:avLst/>
          </a:prstGeom>
        </p:spPr>
      </p:pic>
      <p:sp>
        <p:nvSpPr>
          <p:cNvPr id="20" name="AutoShape 20"/>
          <p:cNvSpPr/>
          <p:nvPr/>
        </p:nvSpPr>
        <p:spPr>
          <a:xfrm>
            <a:off x="8890000" y="175895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E293B"/>
                </a:solidFill>
                <a:latin typeface="Noto Sans SC"/>
                <a:ea typeface="Noto Sans SC"/>
                <a:cs typeface="Noto Sans SC"/>
                <a:sym typeface="Noto Sans SC"/>
              </a:rPr>
              <a:t>Class Imbalance Handling</a:t>
            </a:r>
            <a:endParaRPr lang="en-US" sz="1100" dirty="0"/>
          </a:p>
        </p:txBody>
      </p:sp>
      <p:sp>
        <p:nvSpPr>
          <p:cNvPr id="21" name="AutoShape 21"/>
          <p:cNvSpPr/>
          <p:nvPr/>
        </p:nvSpPr>
        <p:spPr>
          <a:xfrm>
            <a:off x="8382000" y="231775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75569"/>
                </a:solidFill>
                <a:latin typeface="Noto Sans SC"/>
                <a:ea typeface="Noto Sans SC"/>
                <a:cs typeface="Noto Sans SC"/>
                <a:sym typeface="Noto Sans SC"/>
              </a:rPr>
              <a:t>Feature group ablation: Topography alone F1=0.874. Adding soil → F1=0.895. Adding wilderness → F1=0.885. Soil + wilderness add modest complementary signal above topography (0.874 → 0.901).</a:t>
            </a:r>
            <a:endParaRPr lang="en-US" sz="1100"/>
          </a:p>
        </p:txBody>
      </p:sp>
      <p:sp>
        <p:nvSpPr>
          <p:cNvPr id="22" name="AutoShape 22"/>
          <p:cNvSpPr/>
          <p:nvPr/>
        </p:nvSpPr>
        <p:spPr>
          <a:xfrm>
            <a:off x="508000" y="3841750"/>
            <a:ext cx="3556000" cy="2095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2000" y="4032250"/>
            <a:ext cx="406400" cy="406400"/>
          </a:xfrm>
          <a:prstGeom prst="rect">
            <a:avLst/>
          </a:prstGeom>
        </p:spPr>
      </p:pic>
      <p:sp>
        <p:nvSpPr>
          <p:cNvPr id="24" name="AutoShape 24"/>
          <p:cNvSpPr/>
          <p:nvPr/>
        </p:nvSpPr>
        <p:spPr>
          <a:xfrm>
            <a:off x="1270000" y="404495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293B"/>
                </a:solidFill>
                <a:latin typeface="Noto Sans SC"/>
                <a:ea typeface="Noto Sans SC"/>
                <a:cs typeface="Noto Sans SC"/>
                <a:sym typeface="Noto Sans SC"/>
              </a:rPr>
              <a:t>Model Calibration</a:t>
            </a:r>
            <a:endParaRPr lang="en-US" sz="1100"/>
          </a:p>
        </p:txBody>
      </p:sp>
      <p:sp>
        <p:nvSpPr>
          <p:cNvPr id="25" name="AutoShape 25"/>
          <p:cNvSpPr/>
          <p:nvPr/>
        </p:nvSpPr>
        <p:spPr>
          <a:xfrm>
            <a:off x="762000" y="460375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75569"/>
                </a:solidFill>
                <a:latin typeface="Noto Sans SC"/>
                <a:ea typeface="Noto Sans SC"/>
                <a:cs typeface="Noto Sans SC"/>
                <a:sym typeface="Noto Sans SC"/>
              </a:rPr>
              <a:t>RF Brier=0.024 (Platt→0.021), ECE=0.125. HGB ECE=0.041. McNemar: RF &gt; HGB (p&lt;0.001).</a:t>
            </a:r>
            <a:endParaRPr lang="en-US" sz="1100"/>
          </a:p>
        </p:txBody>
      </p:sp>
      <p:sp>
        <p:nvSpPr>
          <p:cNvPr id="26" name="AutoShape 26"/>
          <p:cNvSpPr/>
          <p:nvPr/>
        </p:nvSpPr>
        <p:spPr>
          <a:xfrm>
            <a:off x="4318000" y="3854450"/>
            <a:ext cx="3556000" cy="2095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572000" y="4044950"/>
            <a:ext cx="406400" cy="406400"/>
          </a:xfrm>
          <a:prstGeom prst="rect">
            <a:avLst/>
          </a:prstGeom>
        </p:spPr>
      </p:pic>
      <p:sp>
        <p:nvSpPr>
          <p:cNvPr id="28" name="AutoShape 28"/>
          <p:cNvSpPr/>
          <p:nvPr/>
        </p:nvSpPr>
        <p:spPr>
          <a:xfrm>
            <a:off x="5080000" y="405765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293B"/>
                </a:solidFill>
                <a:latin typeface="Noto Sans SC"/>
                <a:ea typeface="Noto Sans SC"/>
                <a:cs typeface="Noto Sans SC"/>
                <a:sym typeface="Noto Sans SC"/>
              </a:rPr>
              <a:t>Ensemble Methods</a:t>
            </a:r>
            <a:endParaRPr lang="en-US" sz="1100"/>
          </a:p>
        </p:txBody>
      </p:sp>
      <p:sp>
        <p:nvSpPr>
          <p:cNvPr id="29" name="AutoShape 29"/>
          <p:cNvSpPr/>
          <p:nvPr/>
        </p:nvSpPr>
        <p:spPr>
          <a:xfrm>
            <a:off x="4572000" y="461645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75569"/>
                </a:solidFill>
                <a:latin typeface="Noto Sans SC"/>
                <a:ea typeface="Noto Sans SC"/>
                <a:cs typeface="Noto Sans SC"/>
                <a:sym typeface="Noto Sans SC"/>
              </a:rPr>
              <a:t>Per-class recall: Lodgepole Pine weakest (0.817), Krummholz strongest (0.983). Elevation band accuracy: 0.863 (diverse band) to 0.958 (high elevation).</a:t>
            </a:r>
            <a:endParaRPr lang="en-US" sz="1100"/>
          </a:p>
        </p:txBody>
      </p:sp>
      <p:sp>
        <p:nvSpPr>
          <p:cNvPr id="30" name="AutoShape 4">
            <a:extLst>
              <a:ext uri="{FF2B5EF4-FFF2-40B4-BE49-F238E27FC236}">
                <a16:creationId xmlns:a16="http://schemas.microsoft.com/office/drawing/2014/main" id="{5C7E3A6D-135A-DF68-3E33-59D769C85971}"/>
              </a:ext>
            </a:extLst>
          </p:cNvPr>
          <p:cNvSpPr/>
          <p:nvPr/>
        </p:nvSpPr>
        <p:spPr>
          <a:xfrm>
            <a:off x="508000" y="314325"/>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111827"/>
                </a:solidFill>
                <a:latin typeface="Noto Sans SC"/>
                <a:ea typeface="Noto Sans SC"/>
                <a:cs typeface="Noto Sans SC"/>
                <a:sym typeface="Noto Sans SC"/>
              </a:rPr>
              <a:t>06 Open-Ended Exploration</a:t>
            </a:r>
            <a:endParaRPr lang="en-US" sz="1100" dirty="0"/>
          </a:p>
        </p:txBody>
      </p:sp>
      <p:sp>
        <p:nvSpPr>
          <p:cNvPr id="31" name="AutoShape 5">
            <a:extLst>
              <a:ext uri="{FF2B5EF4-FFF2-40B4-BE49-F238E27FC236}">
                <a16:creationId xmlns:a16="http://schemas.microsoft.com/office/drawing/2014/main" id="{7D09DCA9-C5CE-BD1F-054D-A9BBAED35505}"/>
              </a:ext>
            </a:extLst>
          </p:cNvPr>
          <p:cNvSpPr/>
          <p:nvPr/>
        </p:nvSpPr>
        <p:spPr>
          <a:xfrm>
            <a:off x="508000" y="1012825"/>
            <a:ext cx="1117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6B7280"/>
                </a:solidFill>
                <a:latin typeface="Noto Sans SC"/>
                <a:ea typeface="Noto Sans SC"/>
                <a:cs typeface="Noto Sans SC"/>
                <a:sym typeface="Noto Sans SC"/>
              </a:rPr>
              <a:t>Beyond baseline models - deeper investigation of techniques and improvements</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18">
            <a:extLst>
              <a:ext uri="{FF2B5EF4-FFF2-40B4-BE49-F238E27FC236}">
                <a16:creationId xmlns:a16="http://schemas.microsoft.com/office/drawing/2014/main" id="{3B5DF6BC-BAEB-CDA8-9A5A-CC7F241B76B5}"/>
              </a:ext>
            </a:extLst>
          </p:cNvPr>
          <p:cNvSpPr/>
          <p:nvPr/>
        </p:nvSpPr>
        <p:spPr>
          <a:xfrm>
            <a:off x="8037367" y="2794567"/>
            <a:ext cx="3712030" cy="1025654"/>
          </a:xfrm>
          <a:prstGeom prst="roundRect">
            <a:avLst>
              <a:gd name="adj" fmla="val 0"/>
            </a:avLst>
          </a:prstGeom>
          <a:solidFill>
            <a:schemeClr val="accent6">
              <a:lumMod val="40000"/>
              <a:lumOff val="60000"/>
            </a:scheme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22" name="AutoShape 18">
            <a:extLst>
              <a:ext uri="{FF2B5EF4-FFF2-40B4-BE49-F238E27FC236}">
                <a16:creationId xmlns:a16="http://schemas.microsoft.com/office/drawing/2014/main" id="{04628429-9496-5F20-449B-0E31D1D7FFED}"/>
              </a:ext>
            </a:extLst>
          </p:cNvPr>
          <p:cNvSpPr/>
          <p:nvPr/>
        </p:nvSpPr>
        <p:spPr>
          <a:xfrm>
            <a:off x="8037367" y="1640465"/>
            <a:ext cx="3712030" cy="910896"/>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3295403" y="4671457"/>
            <a:ext cx="2768600" cy="1625600"/>
          </a:xfrm>
          <a:prstGeom prst="roundRect">
            <a:avLst>
              <a:gd name="adj" fmla="val 0"/>
            </a:avLst>
          </a:prstGeom>
          <a:solidFill>
            <a:srgbClr val="22543D">
              <a:alpha val="7000"/>
            </a:srgbClr>
          </a:solidFill>
          <a:ln w="12700" cap="flat" cmpd="sng">
            <a:solidFill>
              <a:srgbClr val="22543D">
                <a:alpha val="2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00100" y="301171"/>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1F2937"/>
                </a:solidFill>
                <a:latin typeface="Noto Sans SC"/>
                <a:ea typeface="Noto Sans SC"/>
                <a:cs typeface="Noto Sans SC"/>
                <a:sym typeface="Noto Sans SC"/>
              </a:rPr>
              <a:t>Feature Importance</a:t>
            </a:r>
            <a:r>
              <a:rPr lang="zh-CN" altLang="en-US" sz="2800" b="1" i="0" u="none" strike="noStrike" dirty="0">
                <a:solidFill>
                  <a:srgbClr val="1F2937"/>
                </a:solidFill>
                <a:latin typeface="Noto Sans SC"/>
                <a:ea typeface="Noto Sans SC"/>
                <a:cs typeface="Noto Sans SC"/>
                <a:sym typeface="Noto Sans SC"/>
              </a:rPr>
              <a:t> </a:t>
            </a:r>
            <a:r>
              <a:rPr lang="en-US" altLang="zh-CN" sz="2800" b="1" i="0" u="none" strike="noStrike" dirty="0">
                <a:solidFill>
                  <a:srgbClr val="1F2937"/>
                </a:solidFill>
                <a:latin typeface="Noto Sans SC"/>
                <a:ea typeface="Noto Sans SC"/>
                <a:cs typeface="Noto Sans SC"/>
                <a:sym typeface="Noto Sans SC"/>
              </a:rPr>
              <a:t>Analysis</a:t>
            </a:r>
            <a:endParaRPr lang="en-US" sz="1100" dirty="0"/>
          </a:p>
        </p:txBody>
      </p:sp>
      <p:sp>
        <p:nvSpPr>
          <p:cNvPr id="5" name="AutoShape 5"/>
          <p:cNvSpPr/>
          <p:nvPr/>
        </p:nvSpPr>
        <p:spPr>
          <a:xfrm>
            <a:off x="710046" y="3791297"/>
            <a:ext cx="73406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100" b="0" i="0" u="none" strike="noStrike" dirty="0">
                <a:solidFill>
                  <a:srgbClr val="4B5563"/>
                </a:solidFill>
                <a:latin typeface="Noto Sans SC"/>
                <a:ea typeface="Noto Sans SC"/>
                <a:cs typeface="Noto Sans SC"/>
                <a:sym typeface="Noto Sans SC"/>
              </a:rPr>
              <a:t>Fig : Feature importance ranking based on Random Forest model (Mean Decrease in Impurity)</a:t>
            </a:r>
            <a:r>
              <a:rPr lang="zh-CN" altLang="en-US" sz="1100" b="0" i="0" u="none" strike="noStrike" dirty="0">
                <a:solidFill>
                  <a:srgbClr val="4B5563"/>
                </a:solidFill>
                <a:latin typeface="Noto Sans SC"/>
                <a:ea typeface="Noto Sans SC"/>
                <a:cs typeface="Noto Sans SC"/>
                <a:sym typeface="Noto Sans SC"/>
              </a:rPr>
              <a:t> </a:t>
            </a:r>
            <a:r>
              <a:rPr lang="en-US" altLang="zh-CN" sz="1100" b="0" i="0" u="none" strike="noStrike" dirty="0">
                <a:solidFill>
                  <a:srgbClr val="4B5563"/>
                </a:solidFill>
                <a:latin typeface="Noto Sans SC"/>
                <a:ea typeface="Noto Sans SC"/>
                <a:cs typeface="Noto Sans SC"/>
                <a:sym typeface="Noto Sans SC"/>
              </a:rPr>
              <a:t>and permutation</a:t>
            </a:r>
            <a:br>
              <a:rPr lang="en-US" sz="1100" b="0" i="0" u="none" strike="noStrike" dirty="0">
                <a:solidFill>
                  <a:srgbClr val="4B5563"/>
                </a:solidFill>
                <a:latin typeface="Noto Sans SC"/>
                <a:ea typeface="Noto Sans SC"/>
                <a:cs typeface="Noto Sans SC"/>
                <a:sym typeface="Noto Sans SC"/>
              </a:rPr>
            </a:br>
            <a:r>
              <a:rPr lang="en-US" sz="1100" b="0" i="0" u="none" strike="noStrike" dirty="0">
                <a:solidFill>
                  <a:srgbClr val="4B5563"/>
                </a:solidFill>
                <a:latin typeface="Noto Sans SC"/>
                <a:ea typeface="Noto Sans SC"/>
                <a:cs typeface="Noto Sans SC"/>
                <a:sym typeface="Noto Sans SC"/>
              </a:rPr>
              <a:t>This chart visually quantifies the contribution weights of various environmental factors to the forest type prediction results.</a:t>
            </a:r>
            <a:endParaRPr lang="en-US" sz="1100" dirty="0"/>
          </a:p>
        </p:txBody>
      </p:sp>
      <p:sp>
        <p:nvSpPr>
          <p:cNvPr id="6" name="AutoShape 6"/>
          <p:cNvSpPr/>
          <p:nvPr/>
        </p:nvSpPr>
        <p:spPr>
          <a:xfrm>
            <a:off x="8229230" y="1640465"/>
            <a:ext cx="3329667"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a:solidFill>
                  <a:srgbClr val="374151"/>
                </a:solidFill>
                <a:latin typeface="Noto Sans SC"/>
                <a:ea typeface="Noto Sans SC"/>
                <a:cs typeface="Noto Sans SC"/>
                <a:sym typeface="Noto Sans SC"/>
              </a:rPr>
              <a:t>Model analysis reveals the key natural and anthropogenic factors driving forest distribution </a:t>
            </a:r>
            <a:endParaRPr lang="en-US" sz="1100" dirty="0"/>
          </a:p>
        </p:txBody>
      </p:sp>
      <p:sp>
        <p:nvSpPr>
          <p:cNvPr id="7" name="AutoShape 7"/>
          <p:cNvSpPr/>
          <p:nvPr/>
        </p:nvSpPr>
        <p:spPr>
          <a:xfrm>
            <a:off x="412503" y="4671457"/>
            <a:ext cx="2768600" cy="1625600"/>
          </a:xfrm>
          <a:prstGeom prst="roundRect">
            <a:avLst>
              <a:gd name="adj" fmla="val 0"/>
            </a:avLst>
          </a:prstGeom>
          <a:solidFill>
            <a:srgbClr val="22543D">
              <a:alpha val="7000"/>
            </a:srgbClr>
          </a:solidFill>
          <a:ln w="12700" cap="flat" cmpd="sng">
            <a:solidFill>
              <a:srgbClr val="22543D">
                <a:alpha val="2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552203" y="4823857"/>
            <a:ext cx="254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000" b="0" i="0" u="none" strike="noStrike" dirty="0">
                <a:solidFill>
                  <a:srgbClr val="374151"/>
                </a:solidFill>
                <a:latin typeface="Noto Sans SC"/>
                <a:ea typeface="Noto Sans SC"/>
                <a:cs typeface="Noto Sans SC"/>
                <a:sym typeface="Noto Sans SC"/>
              </a:rPr>
              <a:t>A decisive factor that directly regulates microclimatic conditions such as temperature and precipitation. It is the fundamental cause of vertical vegetation zoning and determines the suitable range and distribution upper limit of different tree species.</a:t>
            </a:r>
          </a:p>
        </p:txBody>
      </p:sp>
      <p:sp>
        <p:nvSpPr>
          <p:cNvPr id="10" name="AutoShape 10"/>
          <p:cNvSpPr/>
          <p:nvPr/>
        </p:nvSpPr>
        <p:spPr>
          <a:xfrm>
            <a:off x="3453246" y="4943136"/>
            <a:ext cx="254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000" b="0" i="0" u="none" strike="noStrike" dirty="0">
                <a:solidFill>
                  <a:srgbClr val="374151"/>
                </a:solidFill>
                <a:latin typeface="Noto Sans SC"/>
                <a:ea typeface="Noto Sans SC"/>
                <a:cs typeface="Noto Sans SC"/>
                <a:sym typeface="Noto Sans SC"/>
              </a:rPr>
              <a:t>A core indicator reflecting the intensity of human disturbance. Road networks not only affect forest harvesting but also indirectly impact species diffusion, succession processes, and understory vegetation composition by altering habitat connectivity.</a:t>
            </a:r>
          </a:p>
        </p:txBody>
      </p:sp>
      <p:sp>
        <p:nvSpPr>
          <p:cNvPr id="11" name="AutoShape 11"/>
          <p:cNvSpPr/>
          <p:nvPr/>
        </p:nvSpPr>
        <p:spPr>
          <a:xfrm>
            <a:off x="6172261" y="4682643"/>
            <a:ext cx="2768600" cy="1625600"/>
          </a:xfrm>
          <a:prstGeom prst="roundRect">
            <a:avLst>
              <a:gd name="adj" fmla="val 0"/>
            </a:avLst>
          </a:prstGeom>
          <a:solidFill>
            <a:srgbClr val="22543D">
              <a:alpha val="7000"/>
            </a:srgbClr>
          </a:solidFill>
          <a:ln w="12700" cap="flat" cmpd="sng">
            <a:solidFill>
              <a:srgbClr val="22543D">
                <a:alpha val="2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305303" y="4900057"/>
            <a:ext cx="254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000" b="0" i="0" u="none" strike="noStrike" dirty="0">
                <a:solidFill>
                  <a:srgbClr val="374151"/>
                </a:solidFill>
                <a:latin typeface="Noto Sans SC"/>
                <a:ea typeface="Noto Sans SC"/>
                <a:cs typeface="Noto Sans SC"/>
                <a:sym typeface="Noto Sans SC"/>
              </a:rPr>
              <a:t>Reflects the ecological imprint of fire disturbance. Fire history is a key driver of forest succession, directly affecting community structure, dominant tree species turnover, and soil carbon-nitrogen cycling, with significant long-term lag effects.</a:t>
            </a:r>
          </a:p>
        </p:txBody>
      </p:sp>
      <p:sp>
        <p:nvSpPr>
          <p:cNvPr id="13" name="AutoShape 13"/>
          <p:cNvSpPr/>
          <p:nvPr/>
        </p:nvSpPr>
        <p:spPr>
          <a:xfrm>
            <a:off x="9073903" y="4671457"/>
            <a:ext cx="2768600" cy="1625600"/>
          </a:xfrm>
          <a:prstGeom prst="roundRect">
            <a:avLst>
              <a:gd name="adj" fmla="val 0"/>
            </a:avLst>
          </a:prstGeom>
          <a:solidFill>
            <a:srgbClr val="22543D">
              <a:alpha val="7000"/>
            </a:srgbClr>
          </a:solidFill>
          <a:ln w="12700" cap="flat" cmpd="sng">
            <a:solidFill>
              <a:srgbClr val="22543D">
                <a:alpha val="2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9213603" y="4823857"/>
            <a:ext cx="254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300" b="1" i="0" u="none" strike="noStrike" dirty="0">
                <a:solidFill>
                  <a:srgbClr val="22543D"/>
                </a:solidFill>
                <a:latin typeface="Noto Sans SC"/>
                <a:ea typeface="Noto Sans SC"/>
                <a:cs typeface="Noto Sans SC"/>
                <a:sym typeface="Noto Sans SC"/>
              </a:rPr>
              <a:t>04 Distance to Water Bodies</a:t>
            </a:r>
            <a:endParaRPr lang="en-US" sz="1100" dirty="0"/>
          </a:p>
          <a:p>
            <a:pPr marL="0" indent="0" algn="l">
              <a:lnSpc>
                <a:spcPct val="100000"/>
              </a:lnSpc>
              <a:spcBef>
                <a:spcPts val="400"/>
              </a:spcBef>
            </a:pPr>
            <a:r>
              <a:rPr lang="en-US" sz="1000" b="0" i="0" u="none" strike="noStrike" dirty="0">
                <a:solidFill>
                  <a:srgbClr val="374151"/>
                </a:solidFill>
                <a:latin typeface="Noto Sans SC"/>
                <a:ea typeface="Noto Sans SC"/>
                <a:cs typeface="Noto Sans SC"/>
                <a:sym typeface="Noto Sans SC"/>
              </a:rPr>
              <a:t>A direct measure of water availability. It determines plant root development and nutrient absorption efficiency, serving as a key boundary for vegetation differentiation between arid and humid regions, and a core factor limiting the distribution of high water-consuming tree species.</a:t>
            </a:r>
          </a:p>
        </p:txBody>
      </p:sp>
      <p:pic>
        <p:nvPicPr>
          <p:cNvPr id="15" name="图片 14">
            <a:extLst>
              <a:ext uri="{FF2B5EF4-FFF2-40B4-BE49-F238E27FC236}">
                <a16:creationId xmlns:a16="http://schemas.microsoft.com/office/drawing/2014/main" id="{51249650-4109-E650-8A24-48ACAEB30E1C}"/>
              </a:ext>
            </a:extLst>
          </p:cNvPr>
          <p:cNvPicPr>
            <a:picLocks noChangeAspect="1"/>
          </p:cNvPicPr>
          <p:nvPr/>
        </p:nvPicPr>
        <p:blipFill>
          <a:blip r:embed="rId3"/>
          <a:stretch>
            <a:fillRect/>
          </a:stretch>
        </p:blipFill>
        <p:spPr>
          <a:xfrm>
            <a:off x="800101" y="1201896"/>
            <a:ext cx="6471928" cy="2749055"/>
          </a:xfrm>
          <a:prstGeom prst="rect">
            <a:avLst/>
          </a:prstGeom>
        </p:spPr>
      </p:pic>
      <p:sp>
        <p:nvSpPr>
          <p:cNvPr id="17" name="文本框 16">
            <a:extLst>
              <a:ext uri="{FF2B5EF4-FFF2-40B4-BE49-F238E27FC236}">
                <a16:creationId xmlns:a16="http://schemas.microsoft.com/office/drawing/2014/main" id="{32EC89DC-0857-A213-7483-F1E606EB4F9C}"/>
              </a:ext>
            </a:extLst>
          </p:cNvPr>
          <p:cNvSpPr txBox="1"/>
          <p:nvPr/>
        </p:nvSpPr>
        <p:spPr>
          <a:xfrm>
            <a:off x="6216403" y="4728891"/>
            <a:ext cx="2179864" cy="276358"/>
          </a:xfrm>
          <a:prstGeom prst="rect">
            <a:avLst/>
          </a:prstGeom>
          <a:noFill/>
        </p:spPr>
        <p:txBody>
          <a:bodyPr wrap="square">
            <a:spAutoFit/>
          </a:bodyPr>
          <a:lstStyle/>
          <a:p>
            <a:pPr marL="0" indent="0" algn="l">
              <a:lnSpc>
                <a:spcPct val="91666"/>
              </a:lnSpc>
              <a:defRPr/>
            </a:pPr>
            <a:r>
              <a:rPr lang="en-US" altLang="zh-CN" sz="1300" b="1" i="0" u="none" strike="noStrike" dirty="0">
                <a:solidFill>
                  <a:srgbClr val="22543D"/>
                </a:solidFill>
                <a:latin typeface="Noto Sans SC"/>
                <a:ea typeface="Noto Sans SC"/>
                <a:cs typeface="Noto Sans SC"/>
                <a:sym typeface="Noto Sans SC"/>
              </a:rPr>
              <a:t>03 Distance to Fire Stations</a:t>
            </a:r>
          </a:p>
        </p:txBody>
      </p:sp>
      <p:sp>
        <p:nvSpPr>
          <p:cNvPr id="19" name="文本框 18">
            <a:extLst>
              <a:ext uri="{FF2B5EF4-FFF2-40B4-BE49-F238E27FC236}">
                <a16:creationId xmlns:a16="http://schemas.microsoft.com/office/drawing/2014/main" id="{7C7DD4E5-8060-9F0A-6CD5-81C6440A59AF}"/>
              </a:ext>
            </a:extLst>
          </p:cNvPr>
          <p:cNvSpPr txBox="1"/>
          <p:nvPr/>
        </p:nvSpPr>
        <p:spPr>
          <a:xfrm>
            <a:off x="3344988" y="4682643"/>
            <a:ext cx="1624693" cy="292388"/>
          </a:xfrm>
          <a:prstGeom prst="rect">
            <a:avLst/>
          </a:prstGeom>
          <a:noFill/>
        </p:spPr>
        <p:txBody>
          <a:bodyPr wrap="square">
            <a:spAutoFit/>
          </a:bodyPr>
          <a:lstStyle/>
          <a:p>
            <a:r>
              <a:rPr lang="en-US" altLang="zh-CN" sz="1300" b="1" i="0" u="none" strike="noStrike" dirty="0">
                <a:solidFill>
                  <a:srgbClr val="22543D"/>
                </a:solidFill>
                <a:latin typeface="Noto Sans SC"/>
                <a:ea typeface="Noto Sans SC"/>
                <a:cs typeface="Noto Sans SC"/>
                <a:sym typeface="Noto Sans SC"/>
              </a:rPr>
              <a:t>02 Distance to Roads </a:t>
            </a:r>
            <a:endParaRPr lang="zh-CN" altLang="en-US" dirty="0"/>
          </a:p>
        </p:txBody>
      </p:sp>
      <p:sp>
        <p:nvSpPr>
          <p:cNvPr id="21" name="文本框 20">
            <a:extLst>
              <a:ext uri="{FF2B5EF4-FFF2-40B4-BE49-F238E27FC236}">
                <a16:creationId xmlns:a16="http://schemas.microsoft.com/office/drawing/2014/main" id="{DAE73D8B-AA3A-3353-B9FA-B7F9463A8565}"/>
              </a:ext>
            </a:extLst>
          </p:cNvPr>
          <p:cNvSpPr txBox="1"/>
          <p:nvPr/>
        </p:nvSpPr>
        <p:spPr>
          <a:xfrm>
            <a:off x="463303" y="4617066"/>
            <a:ext cx="1047750" cy="292388"/>
          </a:xfrm>
          <a:prstGeom prst="rect">
            <a:avLst/>
          </a:prstGeom>
          <a:noFill/>
        </p:spPr>
        <p:txBody>
          <a:bodyPr wrap="square">
            <a:spAutoFit/>
          </a:bodyPr>
          <a:lstStyle/>
          <a:p>
            <a:r>
              <a:rPr lang="en-US" altLang="zh-CN" sz="1300" b="1" i="0" u="none" strike="noStrike" dirty="0">
                <a:solidFill>
                  <a:srgbClr val="22543D"/>
                </a:solidFill>
                <a:latin typeface="Noto Sans SC"/>
                <a:ea typeface="Noto Sans SC"/>
                <a:cs typeface="Noto Sans SC"/>
                <a:sym typeface="Noto Sans SC"/>
              </a:rPr>
              <a:t>01 Elevation </a:t>
            </a:r>
            <a:endParaRPr lang="zh-CN" altLang="en-US" dirty="0"/>
          </a:p>
        </p:txBody>
      </p:sp>
      <p:sp>
        <p:nvSpPr>
          <p:cNvPr id="24" name="文本框 23">
            <a:extLst>
              <a:ext uri="{FF2B5EF4-FFF2-40B4-BE49-F238E27FC236}">
                <a16:creationId xmlns:a16="http://schemas.microsoft.com/office/drawing/2014/main" id="{93F0083B-E377-CFF2-F6CA-F1A4EDAAD66F}"/>
              </a:ext>
            </a:extLst>
          </p:cNvPr>
          <p:cNvSpPr txBox="1"/>
          <p:nvPr/>
        </p:nvSpPr>
        <p:spPr>
          <a:xfrm>
            <a:off x="8088848" y="2783381"/>
            <a:ext cx="3609067" cy="892552"/>
          </a:xfrm>
          <a:prstGeom prst="rect">
            <a:avLst/>
          </a:prstGeom>
          <a:noFill/>
        </p:spPr>
        <p:txBody>
          <a:bodyPr wrap="square">
            <a:spAutoFit/>
          </a:bodyPr>
          <a:lstStyle/>
          <a:p>
            <a:r>
              <a:rPr lang="en-US" altLang="zh-CN" sz="1300" b="0" i="0" u="none" strike="noStrike" dirty="0">
                <a:solidFill>
                  <a:srgbClr val="374151"/>
                </a:solidFill>
                <a:latin typeface="Noto Sans SC"/>
                <a:ea typeface="Noto Sans SC"/>
                <a:cs typeface="Noto Sans SC"/>
                <a:sym typeface="Noto Sans SC"/>
              </a:rPr>
              <a:t>Among them, elevation is the absolute dominant factor, with an influence far exceeding other variables, while human activities and fire history also show significant predictive value.</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6B608-D923-B70D-E0B2-795BD1E42F2A}"/>
            </a:ext>
          </a:extLst>
        </p:cNvPr>
        <p:cNvGrpSpPr/>
        <p:nvPr/>
      </p:nvGrpSpPr>
      <p:grpSpPr>
        <a:xfrm>
          <a:off x="0" y="0"/>
          <a:ext cx="0" cy="0"/>
          <a:chOff x="0" y="0"/>
          <a:chExt cx="0" cy="0"/>
        </a:xfrm>
      </p:grpSpPr>
      <p:sp>
        <p:nvSpPr>
          <p:cNvPr id="36" name="AutoShape 18">
            <a:extLst>
              <a:ext uri="{FF2B5EF4-FFF2-40B4-BE49-F238E27FC236}">
                <a16:creationId xmlns:a16="http://schemas.microsoft.com/office/drawing/2014/main" id="{D14B5D45-E4CB-6037-E168-92C04CA942E9}"/>
              </a:ext>
            </a:extLst>
          </p:cNvPr>
          <p:cNvSpPr/>
          <p:nvPr/>
        </p:nvSpPr>
        <p:spPr>
          <a:xfrm>
            <a:off x="9950393" y="1529053"/>
            <a:ext cx="2062469" cy="1547638"/>
          </a:xfrm>
          <a:prstGeom prst="roundRect">
            <a:avLst>
              <a:gd name="adj" fmla="val 0"/>
            </a:avLst>
          </a:prstGeom>
          <a:solidFill>
            <a:schemeClr val="accent1">
              <a:lumMod val="40000"/>
              <a:lumOff val="60000"/>
            </a:scheme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37" name="AutoShape 18">
            <a:extLst>
              <a:ext uri="{FF2B5EF4-FFF2-40B4-BE49-F238E27FC236}">
                <a16:creationId xmlns:a16="http://schemas.microsoft.com/office/drawing/2014/main" id="{E9429E25-3962-2A87-DC1B-A1C71EE9B4B3}"/>
              </a:ext>
            </a:extLst>
          </p:cNvPr>
          <p:cNvSpPr/>
          <p:nvPr/>
        </p:nvSpPr>
        <p:spPr>
          <a:xfrm>
            <a:off x="10008455" y="4442136"/>
            <a:ext cx="2062469" cy="1677307"/>
          </a:xfrm>
          <a:prstGeom prst="roundRect">
            <a:avLst>
              <a:gd name="adj" fmla="val 0"/>
            </a:avLst>
          </a:prstGeom>
          <a:solidFill>
            <a:schemeClr val="accent6">
              <a:lumMod val="60000"/>
              <a:lumOff val="40000"/>
            </a:scheme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35" name="AutoShape 18">
            <a:extLst>
              <a:ext uri="{FF2B5EF4-FFF2-40B4-BE49-F238E27FC236}">
                <a16:creationId xmlns:a16="http://schemas.microsoft.com/office/drawing/2014/main" id="{A409E5C3-3FE4-64AC-9DFD-A19CCAA113E7}"/>
              </a:ext>
            </a:extLst>
          </p:cNvPr>
          <p:cNvSpPr/>
          <p:nvPr/>
        </p:nvSpPr>
        <p:spPr>
          <a:xfrm>
            <a:off x="371492" y="1529053"/>
            <a:ext cx="2320398" cy="1677307"/>
          </a:xfrm>
          <a:prstGeom prst="roundRect">
            <a:avLst>
              <a:gd name="adj" fmla="val 0"/>
            </a:avLst>
          </a:prstGeom>
          <a:solidFill>
            <a:schemeClr val="accent6">
              <a:lumMod val="40000"/>
              <a:lumOff val="60000"/>
            </a:scheme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2" name="AutoShape 2">
            <a:extLst>
              <a:ext uri="{FF2B5EF4-FFF2-40B4-BE49-F238E27FC236}">
                <a16:creationId xmlns:a16="http://schemas.microsoft.com/office/drawing/2014/main" id="{43BDBFE1-B287-5793-723B-79CBBBEB1E6E}"/>
              </a:ext>
            </a:extLst>
          </p:cNvPr>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a:extLst>
              <a:ext uri="{FF2B5EF4-FFF2-40B4-BE49-F238E27FC236}">
                <a16:creationId xmlns:a16="http://schemas.microsoft.com/office/drawing/2014/main" id="{73120DF3-9B74-77BC-4252-47BA25A5AE4A}"/>
              </a:ext>
            </a:extLst>
          </p:cNvPr>
          <p:cNvSpPr/>
          <p:nvPr/>
        </p:nvSpPr>
        <p:spPr>
          <a:xfrm>
            <a:off x="-635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a:extLst>
              <a:ext uri="{FF2B5EF4-FFF2-40B4-BE49-F238E27FC236}">
                <a16:creationId xmlns:a16="http://schemas.microsoft.com/office/drawing/2014/main" id="{4C3287DE-1686-70DC-47F3-CBA520864AF7}"/>
              </a:ext>
            </a:extLst>
          </p:cNvPr>
          <p:cNvSpPr/>
          <p:nvPr/>
        </p:nvSpPr>
        <p:spPr>
          <a:xfrm>
            <a:off x="533401" y="349765"/>
            <a:ext cx="8620703" cy="3048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2800" b="1" dirty="0">
                <a:solidFill>
                  <a:srgbClr val="1E293B"/>
                </a:solidFill>
                <a:latin typeface="Noto Sans SC"/>
                <a:ea typeface="Noto Sans SC"/>
                <a:cs typeface="Noto Sans SC"/>
                <a:sym typeface="Noto Sans SC"/>
              </a:rPr>
              <a:t>Hyperparameter Tuning</a:t>
            </a:r>
            <a:r>
              <a:rPr lang="zh-CN" altLang="en-US" sz="2800" b="1" dirty="0">
                <a:solidFill>
                  <a:srgbClr val="1E293B"/>
                </a:solidFill>
                <a:latin typeface="Noto Sans SC"/>
                <a:ea typeface="Noto Sans SC"/>
                <a:cs typeface="Noto Sans SC"/>
                <a:sym typeface="Noto Sans SC"/>
              </a:rPr>
              <a:t> </a:t>
            </a:r>
            <a:r>
              <a:rPr lang="en-US" altLang="zh-CN" sz="2800" b="1" dirty="0">
                <a:solidFill>
                  <a:srgbClr val="1E293B"/>
                </a:solidFill>
                <a:latin typeface="Noto Sans SC"/>
                <a:ea typeface="Noto Sans SC"/>
                <a:cs typeface="Noto Sans SC"/>
                <a:sym typeface="Noto Sans SC"/>
              </a:rPr>
              <a:t>&amp;</a:t>
            </a:r>
            <a:r>
              <a:rPr lang="zh-CN" altLang="en-US" sz="2800" b="1" dirty="0">
                <a:solidFill>
                  <a:srgbClr val="1E293B"/>
                </a:solidFill>
                <a:latin typeface="Noto Sans SC"/>
                <a:ea typeface="Noto Sans SC"/>
                <a:cs typeface="Noto Sans SC"/>
                <a:sym typeface="Noto Sans SC"/>
              </a:rPr>
              <a:t> </a:t>
            </a:r>
            <a:r>
              <a:rPr lang="en-US" altLang="zh-CN" sz="2800" b="1" dirty="0">
                <a:solidFill>
                  <a:srgbClr val="1E293B"/>
                </a:solidFill>
                <a:latin typeface="Noto Sans SC"/>
                <a:ea typeface="Noto Sans SC"/>
                <a:cs typeface="Noto Sans SC"/>
                <a:sym typeface="Noto Sans SC"/>
              </a:rPr>
              <a:t>Class Imbalance Handling</a:t>
            </a:r>
            <a:endParaRPr lang="en-US" altLang="zh-CN" sz="1800" dirty="0"/>
          </a:p>
        </p:txBody>
      </p:sp>
      <p:sp>
        <p:nvSpPr>
          <p:cNvPr id="27" name="文本框 26">
            <a:extLst>
              <a:ext uri="{FF2B5EF4-FFF2-40B4-BE49-F238E27FC236}">
                <a16:creationId xmlns:a16="http://schemas.microsoft.com/office/drawing/2014/main" id="{C893D373-CE93-9FED-B0CB-674AFB8F39B1}"/>
              </a:ext>
            </a:extLst>
          </p:cNvPr>
          <p:cNvSpPr txBox="1"/>
          <p:nvPr/>
        </p:nvSpPr>
        <p:spPr>
          <a:xfrm>
            <a:off x="10042989" y="4372534"/>
            <a:ext cx="2027935" cy="1384995"/>
          </a:xfrm>
          <a:prstGeom prst="rect">
            <a:avLst/>
          </a:prstGeom>
          <a:noFill/>
        </p:spPr>
        <p:txBody>
          <a:bodyPr wrap="square">
            <a:spAutoFit/>
          </a:bodyPr>
          <a:lstStyle/>
          <a:p>
            <a:pPr/>
            <a:r>
              <a:rPr lang="zh-CN" altLang="zh-CN" sz="1040" b="0" i="0" dirty="0">
                <a:solidFill>
                  <a:schemeClr val="tx1"/>
                </a:solidFill>
                <a:effectLst/>
                <a:latin typeface="quote-cjk-patch"/>
              </a:rPr>
              <a:t>Grid search on 30k subset (48 DT configs, 3-fold CV): best CV-F1=0.769 but test F1=0.797 (baseline 0.819).</a:t>
            </a:r>
            <a:endParaRPr lang="zh-CN" altLang="zh-CN" sz="1040" b="0" i="0" dirty="0">
              <a:solidFill>
                <a:schemeClr val="tx1"/>
              </a:solidFill>
              <a:effectLst/>
              <a:latin typeface="quote-cjk-patch"/>
            </a:endParaRPr>
          </a:p>
        </p:txBody>
      </p:sp>
      <p:sp>
        <p:nvSpPr>
          <p:cNvPr id="29" name="文本框 28">
            <a:extLst>
              <a:ext uri="{FF2B5EF4-FFF2-40B4-BE49-F238E27FC236}">
                <a16:creationId xmlns:a16="http://schemas.microsoft.com/office/drawing/2014/main" id="{731E89F0-A6C7-5F8A-112F-9D0A219F8A8A}"/>
              </a:ext>
            </a:extLst>
          </p:cNvPr>
          <p:cNvSpPr txBox="1"/>
          <p:nvPr/>
        </p:nvSpPr>
        <p:spPr>
          <a:xfrm>
            <a:off x="10054446" y="1610374"/>
            <a:ext cx="1854362" cy="1384995"/>
          </a:xfrm>
          <a:prstGeom prst="rect">
            <a:avLst/>
          </a:prstGeom>
          <a:noFill/>
        </p:spPr>
        <p:txBody>
          <a:bodyPr wrap="square">
            <a:spAutoFit/>
          </a:bodyPr>
          <a:lstStyle/>
          <a:p>
            <a:pPr/>
            <a:r>
              <a:rPr lang="zh-CN" altLang="zh-CN" sz="940" b="0" i="0" dirty="0">
                <a:solidFill>
                  <a:schemeClr val="tx1"/>
                </a:solidFill>
                <a:effectLst/>
                <a:latin typeface="quote-cjk-patch"/>
              </a:rPr>
              <a:t>Scaling to ensemble models: RF 0.908→0.886, HGB 0.898→0.889. All three models degraded — the 30k subset is too small for reliable tuning regardless of model class.</a:t>
            </a:r>
            <a:endParaRPr lang="zh-CN" altLang="zh-CN" sz="940" b="0" i="0" dirty="0">
              <a:solidFill>
                <a:schemeClr val="tx1"/>
              </a:solidFill>
              <a:effectLst/>
              <a:latin typeface="quote-cjk-patch"/>
            </a:endParaRPr>
          </a:p>
        </p:txBody>
      </p:sp>
      <p:sp>
        <p:nvSpPr>
          <p:cNvPr id="33" name="文本框 32">
            <a:extLst>
              <a:ext uri="{FF2B5EF4-FFF2-40B4-BE49-F238E27FC236}">
                <a16:creationId xmlns:a16="http://schemas.microsoft.com/office/drawing/2014/main" id="{358257D1-D99E-4508-1A89-E7D29C92EC59}"/>
              </a:ext>
            </a:extLst>
          </p:cNvPr>
          <p:cNvSpPr txBox="1"/>
          <p:nvPr/>
        </p:nvSpPr>
        <p:spPr>
          <a:xfrm>
            <a:off x="420624" y="1527048"/>
            <a:ext cx="2221992" cy="1389888"/>
          </a:xfrm>
          <a:prstGeom prst="rect">
            <a:avLst/>
          </a:prstGeom>
          <a:noFill/>
        </p:spPr>
        <p:txBody>
          <a:bodyPr wrap="square">
            <a:spAutoFit/>
          </a:bodyPr>
          <a:lstStyle/>
          <a:p>
            <a:pPr/>
            <a:r>
              <a:rPr lang="zh-CN" altLang="zh-CN" sz="940" b="0" i="0" dirty="0">
                <a:solidFill>
                  <a:schemeClr val="tx1"/>
                </a:solidFill>
                <a:effectLst/>
                <a:latin typeface="quote-cjk-patch"/>
              </a:rPr>
              <a:t>Increasing RF trees from 120→200 gave only +0.001 F1 gain — defaults near-optimal. Optuna Bayesian optimization (100 trials, TPE sampler) recovers the baseline (test F1=0.823, +0.026 over grid search), confirming Bayesian pruning is more sample-efficient than grid search.</a:t>
            </a:r>
            <a:endParaRPr lang="zh-CN" altLang="zh-CN" sz="940" b="0" i="0" dirty="0">
              <a:solidFill>
                <a:schemeClr val="tx1"/>
              </a:solidFill>
              <a:effectLst/>
              <a:latin typeface="quote-cjk-patch"/>
            </a:endParaRPr>
          </a:p>
        </p:txBody>
      </p:sp>
      <p:sp>
        <p:nvSpPr>
          <p:cNvPr id="39" name="文本框 38">
            <a:extLst>
              <a:ext uri="{FF2B5EF4-FFF2-40B4-BE49-F238E27FC236}">
                <a16:creationId xmlns:a16="http://schemas.microsoft.com/office/drawing/2014/main" id="{433398A1-6111-3D13-5AD2-E570AEF617FF}"/>
              </a:ext>
            </a:extLst>
          </p:cNvPr>
          <p:cNvSpPr txBox="1"/>
          <p:nvPr/>
        </p:nvSpPr>
        <p:spPr>
          <a:xfrm>
            <a:off x="418249" y="1598828"/>
            <a:ext cx="1414895" cy="276999"/>
          </a:xfrm>
          <a:prstGeom prst="rect">
            <a:avLst/>
          </a:prstGeom>
          <a:noFill/>
        </p:spPr>
        <p:txBody>
          <a:bodyPr wrap="square">
            <a:spAutoFit/>
          </a:bodyPr>
          <a:lstStyle/>
          <a:p>
            <a:endParaRPr lang="zh-CN" altLang="en-US" dirty="0">
              <a:solidFill>
                <a:schemeClr val="tx1"/>
              </a:solidFill>
            </a:endParaRPr>
          </a:p>
        </p:txBody>
      </p:sp>
      <p:sp>
        <p:nvSpPr>
          <p:cNvPr id="41" name="文本框 40">
            <a:extLst>
              <a:ext uri="{FF2B5EF4-FFF2-40B4-BE49-F238E27FC236}">
                <a16:creationId xmlns:a16="http://schemas.microsoft.com/office/drawing/2014/main" id="{410C5A3B-EB44-5F98-1D62-3FC621807FCC}"/>
              </a:ext>
            </a:extLst>
          </p:cNvPr>
          <p:cNvSpPr txBox="1"/>
          <p:nvPr/>
        </p:nvSpPr>
        <p:spPr>
          <a:xfrm>
            <a:off x="484924" y="4268625"/>
            <a:ext cx="1281543" cy="276999"/>
          </a:xfrm>
          <a:prstGeom prst="rect">
            <a:avLst/>
          </a:prstGeom>
          <a:noFill/>
        </p:spPr>
        <p:txBody>
          <a:bodyPr wrap="square">
            <a:spAutoFit/>
          </a:bodyPr>
          <a:lstStyle/>
          <a:p>
            <a:endParaRPr lang="zh-CN" altLang="en-US" dirty="0">
              <a:solidFill>
                <a:schemeClr val="tx1"/>
              </a:solidFill>
            </a:endParaRPr>
          </a:p>
        </p:txBody>
      </p:sp>
      <p:pic>
        <p:nvPicPr>
          <p:cNvPr id="42" name="图片 41">
            <a:extLst>
              <a:ext uri="{FF2B5EF4-FFF2-40B4-BE49-F238E27FC236}">
                <a16:creationId xmlns:a16="http://schemas.microsoft.com/office/drawing/2014/main" id="{ED85B004-8F2E-9AF7-7FD5-829EBDEA5AE6}"/>
              </a:ext>
            </a:extLst>
          </p:cNvPr>
          <p:cNvPicPr>
            <a:picLocks noChangeAspect="1"/>
          </p:cNvPicPr>
          <p:nvPr/>
        </p:nvPicPr>
        <p:blipFill>
          <a:blip r:embed="rId3"/>
          <a:stretch>
            <a:fillRect/>
          </a:stretch>
        </p:blipFill>
        <p:spPr>
          <a:xfrm>
            <a:off x="2882093" y="1202102"/>
            <a:ext cx="6878097" cy="2403960"/>
          </a:xfrm>
          <a:prstGeom prst="rect">
            <a:avLst/>
          </a:prstGeom>
        </p:spPr>
      </p:pic>
      <p:pic>
        <p:nvPicPr>
          <p:cNvPr id="43" name="图片 42">
            <a:extLst>
              <a:ext uri="{FF2B5EF4-FFF2-40B4-BE49-F238E27FC236}">
                <a16:creationId xmlns:a16="http://schemas.microsoft.com/office/drawing/2014/main" id="{13A0B658-8149-0665-ED2B-CF5CDB365E98}"/>
              </a:ext>
            </a:extLst>
          </p:cNvPr>
          <p:cNvPicPr>
            <a:picLocks noChangeAspect="1"/>
          </p:cNvPicPr>
          <p:nvPr/>
        </p:nvPicPr>
        <p:blipFill>
          <a:blip r:embed="rId4"/>
          <a:stretch>
            <a:fillRect/>
          </a:stretch>
        </p:blipFill>
        <p:spPr>
          <a:xfrm>
            <a:off x="2923525" y="4372534"/>
            <a:ext cx="4392474" cy="1557743"/>
          </a:xfrm>
          <a:prstGeom prst="rect">
            <a:avLst/>
          </a:prstGeom>
        </p:spPr>
      </p:pic>
      <p:sp>
        <p:nvSpPr>
          <p:cNvPr id="45" name="文本框 44">
            <a:extLst>
              <a:ext uri="{FF2B5EF4-FFF2-40B4-BE49-F238E27FC236}">
                <a16:creationId xmlns:a16="http://schemas.microsoft.com/office/drawing/2014/main" id="{934330B9-7A01-536E-A7B6-B9600D3EE944}"/>
              </a:ext>
            </a:extLst>
          </p:cNvPr>
          <p:cNvSpPr txBox="1"/>
          <p:nvPr/>
        </p:nvSpPr>
        <p:spPr>
          <a:xfrm>
            <a:off x="4137417" y="3636087"/>
            <a:ext cx="6982690" cy="261610"/>
          </a:xfrm>
          <a:prstGeom prst="rect">
            <a:avLst/>
          </a:prstGeom>
          <a:noFill/>
        </p:spPr>
        <p:txBody>
          <a:bodyPr wrap="square">
            <a:spAutoFit/>
          </a:bodyPr>
          <a:lstStyle/>
          <a:p>
            <a:r>
              <a:rPr lang="en-US" altLang="zh-CN" sz="1100" b="0" i="0" u="none" strike="noStrike" dirty="0">
                <a:solidFill>
                  <a:srgbClr val="4B5563"/>
                </a:solidFill>
                <a:latin typeface="Noto Sans SC"/>
                <a:ea typeface="Noto Sans SC"/>
                <a:cs typeface="Noto Sans SC"/>
                <a:sym typeface="Noto Sans SC"/>
              </a:rPr>
              <a:t>Fig 1: Grid </a:t>
            </a:r>
            <a:r>
              <a:rPr lang="en-US" altLang="zh-CN" sz="1100" dirty="0">
                <a:solidFill>
                  <a:srgbClr val="4B5563"/>
                </a:solidFill>
                <a:latin typeface="Noto Sans SC"/>
                <a:ea typeface="Noto Sans SC"/>
                <a:cs typeface="Noto Sans SC"/>
                <a:sym typeface="Noto Sans SC"/>
              </a:rPr>
              <a:t>S</a:t>
            </a:r>
            <a:r>
              <a:rPr lang="en-US" altLang="zh-CN" sz="1100" b="0" i="0" u="none" strike="noStrike" dirty="0">
                <a:solidFill>
                  <a:srgbClr val="4B5563"/>
                </a:solidFill>
                <a:latin typeface="Noto Sans SC"/>
                <a:ea typeface="Noto Sans SC"/>
                <a:cs typeface="Noto Sans SC"/>
                <a:sym typeface="Noto Sans SC"/>
              </a:rPr>
              <a:t>earch Heatmap and Parameter </a:t>
            </a:r>
            <a:r>
              <a:rPr lang="en-US" altLang="zh-CN" sz="1100" dirty="0">
                <a:solidFill>
                  <a:srgbClr val="4B5563"/>
                </a:solidFill>
                <a:latin typeface="Noto Sans SC"/>
                <a:ea typeface="Noto Sans SC"/>
                <a:cs typeface="Noto Sans SC"/>
                <a:sym typeface="Noto Sans SC"/>
              </a:rPr>
              <a:t>E</a:t>
            </a:r>
            <a:r>
              <a:rPr lang="en-US" altLang="zh-CN" sz="1100" b="0" i="0" u="none" strike="noStrike" dirty="0">
                <a:solidFill>
                  <a:srgbClr val="4B5563"/>
                </a:solidFill>
                <a:latin typeface="Noto Sans SC"/>
                <a:ea typeface="Noto Sans SC"/>
                <a:cs typeface="Noto Sans SC"/>
                <a:sym typeface="Noto Sans SC"/>
              </a:rPr>
              <a:t>ffect for Hyperparameter Tuning</a:t>
            </a:r>
            <a:endParaRPr lang="zh-CN" altLang="en-US" dirty="0"/>
          </a:p>
        </p:txBody>
      </p:sp>
      <p:sp>
        <p:nvSpPr>
          <p:cNvPr id="46" name="文本框 45">
            <a:extLst>
              <a:ext uri="{FF2B5EF4-FFF2-40B4-BE49-F238E27FC236}">
                <a16:creationId xmlns:a16="http://schemas.microsoft.com/office/drawing/2014/main" id="{5FFEBAD7-B07C-CB02-0D3D-1DB99989294D}"/>
              </a:ext>
            </a:extLst>
          </p:cNvPr>
          <p:cNvSpPr txBox="1"/>
          <p:nvPr/>
        </p:nvSpPr>
        <p:spPr>
          <a:xfrm>
            <a:off x="4056999" y="6143504"/>
            <a:ext cx="6982690" cy="261610"/>
          </a:xfrm>
          <a:prstGeom prst="rect">
            <a:avLst/>
          </a:prstGeom>
          <a:noFill/>
        </p:spPr>
        <p:txBody>
          <a:bodyPr wrap="square">
            <a:spAutoFit/>
          </a:bodyPr>
          <a:lstStyle/>
          <a:p>
            <a:r>
              <a:rPr lang="en-US" altLang="zh-CN" sz="1100" b="0" i="0" u="none" strike="noStrike" dirty="0">
                <a:solidFill>
                  <a:srgbClr val="4B5563"/>
                </a:solidFill>
                <a:latin typeface="Noto Sans SC"/>
                <a:ea typeface="Noto Sans SC"/>
                <a:cs typeface="Noto Sans SC"/>
                <a:sym typeface="Noto Sans SC"/>
              </a:rPr>
              <a:t>Fig </a:t>
            </a:r>
            <a:r>
              <a:rPr lang="en-US" altLang="zh-CN" sz="1100" dirty="0">
                <a:solidFill>
                  <a:srgbClr val="4B5563"/>
                </a:solidFill>
                <a:latin typeface="Noto Sans SC"/>
                <a:ea typeface="Noto Sans SC"/>
                <a:cs typeface="Noto Sans SC"/>
                <a:sym typeface="Noto Sans SC"/>
              </a:rPr>
              <a:t>2</a:t>
            </a:r>
            <a:r>
              <a:rPr lang="en-US" altLang="zh-CN" sz="1100" b="0" i="0" u="none" strike="noStrike" dirty="0">
                <a:solidFill>
                  <a:srgbClr val="4B5563"/>
                </a:solidFill>
                <a:latin typeface="Noto Sans SC"/>
                <a:ea typeface="Noto Sans SC"/>
                <a:cs typeface="Noto Sans SC"/>
                <a:sym typeface="Noto Sans SC"/>
              </a:rPr>
              <a:t>: Class Distribution and Parameter Impact for Class Imbalance handling</a:t>
            </a:r>
            <a:endParaRPr lang="zh-CN" altLang="en-US" dirty="0"/>
          </a:p>
        </p:txBody>
      </p:sp>
      <p:pic>
        <p:nvPicPr>
          <p:cNvPr id="47" name="图片 46">
            <a:extLst>
              <a:ext uri="{FF2B5EF4-FFF2-40B4-BE49-F238E27FC236}">
                <a16:creationId xmlns:a16="http://schemas.microsoft.com/office/drawing/2014/main" id="{21C08D0C-F406-5C26-3527-DEFF07C88286}"/>
              </a:ext>
            </a:extLst>
          </p:cNvPr>
          <p:cNvPicPr>
            <a:picLocks noChangeAspect="1"/>
          </p:cNvPicPr>
          <p:nvPr/>
        </p:nvPicPr>
        <p:blipFill>
          <a:blip r:embed="rId5"/>
          <a:stretch>
            <a:fillRect/>
          </a:stretch>
        </p:blipFill>
        <p:spPr>
          <a:xfrm>
            <a:off x="7315999" y="4340872"/>
            <a:ext cx="2575446" cy="1589405"/>
          </a:xfrm>
          <a:prstGeom prst="rect">
            <a:avLst/>
          </a:prstGeom>
        </p:spPr>
      </p:pic>
    </p:spTree>
    <p:extLst>
      <p:ext uri="{BB962C8B-B14F-4D97-AF65-F5344CB8AC3E}">
        <p14:creationId xmlns:p14="http://schemas.microsoft.com/office/powerpoint/2010/main" val="2085158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35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38834" y="254000"/>
            <a:ext cx="4187248"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dirty="0">
                <a:solidFill>
                  <a:srgbClr val="111827"/>
                </a:solidFill>
                <a:latin typeface="Noto Sans SC"/>
                <a:ea typeface="Noto Sans SC"/>
                <a:cs typeface="Noto Sans SC"/>
                <a:sym typeface="Noto Sans SC"/>
              </a:rPr>
              <a:t>Model Calibration Analysis</a:t>
            </a:r>
            <a:endParaRPr lang="en-US" sz="1100" dirty="0"/>
          </a:p>
        </p:txBody>
      </p:sp>
      <p:pic>
        <p:nvPicPr>
          <p:cNvPr id="6" name="Picture 6"/>
          <p:cNvPicPr>
            <a:picLocks noChangeAspect="1"/>
          </p:cNvPicPr>
          <p:nvPr/>
        </p:nvPicPr>
        <p:blipFill>
          <a:blip r:embed="rId3"/>
          <a:srcRect t="1136" b="1136"/>
          <a:stretch>
            <a:fillRect/>
          </a:stretch>
        </p:blipFill>
        <p:spPr>
          <a:xfrm>
            <a:off x="469901" y="1214499"/>
            <a:ext cx="3657600" cy="1959429"/>
          </a:xfrm>
          <a:prstGeom prst="rect">
            <a:avLst/>
          </a:prstGeom>
          <a:noFill/>
          <a:ln w="25400" cap="flat" cmpd="sng">
            <a:noFill/>
            <a:prstDash val="solid"/>
            <a:round/>
          </a:ln>
        </p:spPr>
      </p:pic>
      <p:sp>
        <p:nvSpPr>
          <p:cNvPr id="7" name="AutoShape 7"/>
          <p:cNvSpPr/>
          <p:nvPr/>
        </p:nvSpPr>
        <p:spPr>
          <a:xfrm>
            <a:off x="4581144" y="1014984"/>
            <a:ext cx="2075688" cy="1271016"/>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4736592" y="1168400"/>
            <a:ext cx="1764792" cy="304800"/>
          </a:xfrm>
          <a:prstGeom prst="rect">
            <a:avLst/>
          </a:prstGeom>
          <a:noFill/>
          <a:ln w="12700" cap="flat" cmpd="sng">
            <a:noFill/>
            <a:prstDash val="solid"/>
            <a:round/>
          </a:ln>
        </p:spPr>
        <p:txBody>
          <a:bodyPr vert="horz" wrap="square" lIns="0" tIns="0" rIns="0" bIns="0" rtlCol="0" anchor="ctr" anchorCtr="0"/>
          <a:lstStyle/>
          <a:p>
            <a:pPr/>
            <a:r>
              <a:rPr lang="en-US" sz="1300" b="1" i="0" u="none" strike="noStrike">
                <a:solidFill>
                  <a:srgbClr val="374151"/>
                </a:solidFill>
                <a:latin typeface="Noto Sans SC"/>
                <a:ea typeface="Noto Sans SC"/>
                <a:cs typeface="Noto Sans SC"/>
                <a:sym typeface="Noto Sans SC"/>
              </a:rPr>
              <a:t>Baseline Random Forest</a:t>
            </a:r>
            <a:endParaRPr lang="en-US" sz="1300" b="1" i="0" u="none" strike="noStrike">
              <a:solidFill>
                <a:srgbClr val="374151"/>
              </a:solidFill>
              <a:latin typeface="Noto Sans SC"/>
              <a:ea typeface="Noto Sans SC"/>
              <a:cs typeface="Noto Sans SC"/>
              <a:sym typeface="Noto Sans SC"/>
            </a:endParaRPr>
          </a:p>
        </p:txBody>
      </p:sp>
      <p:sp>
        <p:nvSpPr>
          <p:cNvPr id="9" name="AutoShape 9"/>
          <p:cNvSpPr/>
          <p:nvPr/>
        </p:nvSpPr>
        <p:spPr>
          <a:xfrm>
            <a:off x="4736592" y="1394526"/>
            <a:ext cx="1764792" cy="406400"/>
          </a:xfrm>
          <a:prstGeom prst="rect">
            <a:avLst/>
          </a:prstGeom>
          <a:noFill/>
          <a:ln w="12700" cap="flat" cmpd="sng">
            <a:noFill/>
            <a:prstDash val="solid"/>
            <a:round/>
          </a:ln>
        </p:spPr>
        <p:txBody>
          <a:bodyPr vert="horz" wrap="square" lIns="0" tIns="0" rIns="0" bIns="0" rtlCol="0" anchor="ctr" anchorCtr="0"/>
          <a:lstStyle/>
          <a:p>
            <a:pPr/>
            <a:r>
              <a:rPr lang="en-US" sz="2200" b="1" i="0" u="none" strike="noStrike" dirty="0">
                <a:solidFill>
                  <a:srgbClr val="6B7280"/>
                </a:solidFill>
                <a:latin typeface="Noto Sans SC"/>
                <a:ea typeface="Noto Sans SC"/>
                <a:cs typeface="Noto Sans SC"/>
                <a:sym typeface="Noto Sans SC"/>
              </a:rPr>
              <a:t>0.024</a:t>
            </a:r>
            <a:endParaRPr lang="en-US" sz="2200" b="1" i="0" u="none" strike="noStrike" dirty="0">
              <a:solidFill>
                <a:srgbClr val="6B7280"/>
              </a:solidFill>
              <a:latin typeface="Noto Sans SC"/>
              <a:ea typeface="Noto Sans SC"/>
              <a:cs typeface="Noto Sans SC"/>
              <a:sym typeface="Noto Sans SC"/>
            </a:endParaRPr>
          </a:p>
        </p:txBody>
      </p:sp>
      <p:sp>
        <p:nvSpPr>
          <p:cNvPr id="10" name="AutoShape 10"/>
          <p:cNvSpPr/>
          <p:nvPr/>
        </p:nvSpPr>
        <p:spPr>
          <a:xfrm>
            <a:off x="4736592" y="1930400"/>
            <a:ext cx="1764792" cy="254000"/>
          </a:xfrm>
          <a:prstGeom prst="rect">
            <a:avLst/>
          </a:prstGeom>
          <a:noFill/>
          <a:ln w="12700" cap="flat" cmpd="sng">
            <a:noFill/>
            <a:prstDash val="solid"/>
            <a:round/>
          </a:ln>
        </p:spPr>
        <p:txBody>
          <a:bodyPr vert="horz" wrap="square" lIns="0" tIns="0" rIns="0" bIns="0" rtlCol="0" anchor="ctr" anchorCtr="0"/>
          <a:lstStyle/>
          <a:p>
            <a:pPr/>
            <a:r>
              <a:rPr lang="en-US" sz="850" b="0" i="0" u="none" strike="noStrike">
                <a:solidFill>
                  <a:srgbClr val="9CA3AF"/>
                </a:solidFill>
                <a:latin typeface="Noto Sans SC"/>
                <a:ea typeface="Noto Sans SC"/>
                <a:cs typeface="Noto Sans SC"/>
                <a:sym typeface="Noto Sans SC"/>
              </a:rPr>
              <a:t>Brier score (higher = poorer)</a:t>
            </a:r>
            <a:endParaRPr lang="en-US" sz="850" b="0" i="0" u="none" strike="noStrike">
              <a:solidFill>
                <a:srgbClr val="9CA3AF"/>
              </a:solidFill>
              <a:latin typeface="Noto Sans SC"/>
              <a:ea typeface="Noto Sans SC"/>
              <a:cs typeface="Noto Sans SC"/>
              <a:sym typeface="Noto Sans SC"/>
            </a:endParaRPr>
          </a:p>
        </p:txBody>
      </p:sp>
      <p:sp>
        <p:nvSpPr>
          <p:cNvPr id="11" name="AutoShape 11"/>
          <p:cNvSpPr/>
          <p:nvPr/>
        </p:nvSpPr>
        <p:spPr>
          <a:xfrm>
            <a:off x="6830568" y="1014984"/>
            <a:ext cx="2075688" cy="1271016"/>
          </a:xfrm>
          <a:prstGeom prst="roundRect">
            <a:avLst>
              <a:gd name="adj" fmla="val 0"/>
            </a:avLst>
          </a:prstGeom>
          <a:solidFill>
            <a:srgbClr val="EFF6FF">
              <a:alpha val="100000"/>
            </a:srgbClr>
          </a:solidFill>
          <a:ln w="12700" cap="flat" cmpd="sng">
            <a:solidFill>
              <a:srgbClr val="3B82F6">
                <a:alpha val="3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986016" y="1097643"/>
            <a:ext cx="1764792" cy="304800"/>
          </a:xfrm>
          <a:prstGeom prst="rect">
            <a:avLst/>
          </a:prstGeom>
          <a:noFill/>
          <a:ln w="12700" cap="flat" cmpd="sng">
            <a:noFill/>
            <a:prstDash val="solid"/>
            <a:round/>
          </a:ln>
        </p:spPr>
        <p:txBody>
          <a:bodyPr vert="horz" wrap="square" lIns="0" tIns="0" rIns="0" bIns="0" rtlCol="0" anchor="ctr" anchorCtr="0"/>
          <a:lstStyle/>
          <a:p>
            <a:pPr/>
            <a:r>
              <a:rPr lang="en-US" sz="1300" b="1" i="0" u="none" strike="noStrike" dirty="0">
                <a:solidFill>
                  <a:srgbClr val="2563EB"/>
                </a:solidFill>
                <a:latin typeface="Noto Sans SC"/>
                <a:ea typeface="Noto Sans SC"/>
                <a:cs typeface="Noto Sans SC"/>
                <a:sym typeface="Noto Sans SC"/>
              </a:rPr>
              <a:t>RF ECE</a:t>
            </a:r>
            <a:endParaRPr lang="en-US" sz="1300" b="1" i="0" u="none" strike="noStrike" dirty="0">
              <a:solidFill>
                <a:srgbClr val="2563EB"/>
              </a:solidFill>
              <a:latin typeface="Noto Sans SC"/>
              <a:ea typeface="Noto Sans SC"/>
              <a:cs typeface="Noto Sans SC"/>
              <a:sym typeface="Noto Sans SC"/>
            </a:endParaRPr>
          </a:p>
        </p:txBody>
      </p:sp>
      <p:sp>
        <p:nvSpPr>
          <p:cNvPr id="13" name="AutoShape 13"/>
          <p:cNvSpPr/>
          <p:nvPr/>
        </p:nvSpPr>
        <p:spPr>
          <a:xfrm>
            <a:off x="6986016" y="1351643"/>
            <a:ext cx="1764792" cy="406400"/>
          </a:xfrm>
          <a:prstGeom prst="rect">
            <a:avLst/>
          </a:prstGeom>
          <a:noFill/>
          <a:ln w="12700" cap="flat" cmpd="sng">
            <a:noFill/>
            <a:prstDash val="solid"/>
            <a:round/>
          </a:ln>
        </p:spPr>
        <p:txBody>
          <a:bodyPr vert="horz" wrap="square" lIns="0" tIns="0" rIns="0" bIns="0" rtlCol="0" anchor="ctr" anchorCtr="0"/>
          <a:lstStyle/>
          <a:p>
            <a:pPr/>
            <a:r>
              <a:rPr lang="en-US" sz="2200" b="1" i="0" u="none" strike="noStrike" dirty="0">
                <a:solidFill>
                  <a:srgbClr val="2563EB"/>
                </a:solidFill>
                <a:latin typeface="Noto Sans SC"/>
                <a:ea typeface="Noto Sans SC"/>
                <a:cs typeface="Noto Sans SC"/>
                <a:sym typeface="Noto Sans SC"/>
              </a:rPr>
              <a:t>0.125</a:t>
            </a:r>
            <a:endParaRPr lang="en-US" sz="2200" b="1" i="0" u="none" strike="noStrike" dirty="0">
              <a:solidFill>
                <a:srgbClr val="2563EB"/>
              </a:solidFill>
              <a:latin typeface="Noto Sans SC"/>
              <a:ea typeface="Noto Sans SC"/>
              <a:cs typeface="Noto Sans SC"/>
              <a:sym typeface="Noto Sans SC"/>
            </a:endParaRPr>
          </a:p>
        </p:txBody>
      </p:sp>
      <p:sp>
        <p:nvSpPr>
          <p:cNvPr id="14" name="AutoShape 14"/>
          <p:cNvSpPr/>
          <p:nvPr/>
        </p:nvSpPr>
        <p:spPr>
          <a:xfrm>
            <a:off x="6986016" y="1930400"/>
            <a:ext cx="1764792" cy="254000"/>
          </a:xfrm>
          <a:prstGeom prst="rect">
            <a:avLst/>
          </a:prstGeom>
          <a:noFill/>
          <a:ln w="12700" cap="flat" cmpd="sng">
            <a:noFill/>
            <a:prstDash val="solid"/>
            <a:round/>
          </a:ln>
        </p:spPr>
        <p:txBody>
          <a:bodyPr vert="horz" wrap="square" lIns="0" tIns="0" rIns="0" bIns="0" rtlCol="0" anchor="ctr" anchorCtr="0"/>
          <a:lstStyle/>
          <a:p>
            <a:pPr/>
            <a:r>
              <a:rPr lang="en-US" sz="820" b="0" i="0" u="none" strike="noStrike" dirty="0">
                <a:solidFill>
                  <a:srgbClr val="2563EB"/>
                </a:solidFill>
                <a:latin typeface="Noto Sans SC"/>
                <a:ea typeface="Noto Sans SC"/>
                <a:cs typeface="Noto Sans SC"/>
                <a:sym typeface="Noto Sans SC"/>
              </a:rPr>
              <a:t>Under-confident: 0.783 conf vs 0.908 acc</a:t>
            </a:r>
            <a:endParaRPr lang="en-US" sz="820" b="0" i="0" u="none" strike="noStrike" dirty="0">
              <a:solidFill>
                <a:srgbClr val="2563EB"/>
              </a:solidFill>
              <a:latin typeface="Noto Sans SC"/>
              <a:ea typeface="Noto Sans SC"/>
              <a:cs typeface="Noto Sans SC"/>
              <a:sym typeface="Noto Sans SC"/>
            </a:endParaRPr>
          </a:p>
        </p:txBody>
      </p:sp>
      <p:cxnSp>
        <p:nvCxnSpPr>
          <p:cNvPr id="15" name="Connector 15"/>
          <p:cNvCxnSpPr/>
          <p:nvPr/>
        </p:nvCxnSpPr>
        <p:spPr>
          <a:xfrm rot="-6250">
            <a:off x="4580088" y="2597150"/>
            <a:ext cx="6985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6" name="AutoShape 16"/>
          <p:cNvSpPr/>
          <p:nvPr/>
        </p:nvSpPr>
        <p:spPr>
          <a:xfrm>
            <a:off x="4580082" y="2857500"/>
            <a:ext cx="6985000" cy="8636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70582" y="3111500"/>
            <a:ext cx="355600" cy="355600"/>
          </a:xfrm>
          <a:prstGeom prst="rect">
            <a:avLst/>
          </a:prstGeom>
        </p:spPr>
      </p:pic>
      <p:sp>
        <p:nvSpPr>
          <p:cNvPr id="18" name="AutoShape 18"/>
          <p:cNvSpPr/>
          <p:nvPr/>
        </p:nvSpPr>
        <p:spPr>
          <a:xfrm>
            <a:off x="5278582" y="2946400"/>
            <a:ext cx="6223000" cy="762000"/>
          </a:xfrm>
          <a:prstGeom prst="rect">
            <a:avLst/>
          </a:prstGeom>
          <a:noFill/>
          <a:ln w="12700" cap="flat" cmpd="sng">
            <a:noFill/>
            <a:prstDash val="solid"/>
            <a:round/>
          </a:ln>
        </p:spPr>
        <p:txBody>
          <a:bodyPr vert="horz" wrap="square" lIns="0" tIns="0" rIns="0" bIns="0" rtlCol="0" anchor="ctr" anchorCtr="0"/>
          <a:lstStyle/>
          <a:p>
            <a:pPr/>
            <a:r>
              <a:rPr lang="en-US" b="1" i="0" u="none" strike="noStrike" dirty="0" sz="950">
                <a:solidFill>
                  <a:srgbClr val="374151"/>
                </a:solidFill>
                <a:latin typeface="Noto Sans SC"/>
                <a:ea typeface="Noto Sans SC"/>
                <a:cs typeface="Noto Sans SC"/>
                <a:sym typeface="Noto Sans SC"/>
              </a:rPr>
              <a:t xml:space="preserve">Methodology Impact: </a:t>
            </a:r>
            <a:r>
              <a:rPr lang="en-US" b="0" i="0" u="none" strike="noStrike" dirty="0" sz="950">
                <a:solidFill>
                  <a:srgbClr val="374151"/>
                </a:solidFill>
                <a:latin typeface="Noto Sans SC"/>
                <a:ea typeface="Noto Sans SC"/>
                <a:cs typeface="Noto Sans SC"/>
                <a:sym typeface="Noto Sans SC"/>
              </a:rPr>
              <a:t>RF shows systematic under-confidence (ECE=0.125, mean top-label conf=0.783 vs accuracy=0.908). HGB is well-calibrated (ECE=0.041). Platt (sigmoid) scaling on RF reduces Brier from 0.024→0.021. Paired McNemar test: χ²=41.5, p&lt;0.001, confirming RF &gt; HGB despite close absolute scores.</a:t>
            </a:r>
            <a:endParaRPr lang="en-US" b="1" i="0" u="none" strike="noStrike" dirty="0" sz="950">
              <a:solidFill>
                <a:srgbClr val="374151"/>
              </a:solidFill>
              <a:latin typeface="Noto Sans SC"/>
              <a:ea typeface="Noto Sans SC"/>
              <a:cs typeface="Noto Sans SC"/>
              <a:sym typeface="Noto Sans SC"/>
            </a:endParaRPr>
          </a:p>
        </p:txBody>
      </p:sp>
      <p:sp>
        <p:nvSpPr>
          <p:cNvPr id="19" name="AutoShape 19"/>
          <p:cNvSpPr/>
          <p:nvPr/>
        </p:nvSpPr>
        <p:spPr>
          <a:xfrm>
            <a:off x="4580082" y="3835400"/>
            <a:ext cx="6985000" cy="8636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70582" y="4089400"/>
            <a:ext cx="355600" cy="355600"/>
          </a:xfrm>
          <a:prstGeom prst="rect">
            <a:avLst/>
          </a:prstGeom>
        </p:spPr>
      </p:pic>
      <p:sp>
        <p:nvSpPr>
          <p:cNvPr id="21" name="AutoShape 21"/>
          <p:cNvSpPr/>
          <p:nvPr/>
        </p:nvSpPr>
        <p:spPr>
          <a:xfrm>
            <a:off x="5278582" y="3924300"/>
            <a:ext cx="6223000" cy="762000"/>
          </a:xfrm>
          <a:prstGeom prst="rect">
            <a:avLst/>
          </a:prstGeom>
          <a:noFill/>
          <a:ln w="12700" cap="flat" cmpd="sng">
            <a:noFill/>
            <a:prstDash val="solid"/>
            <a:round/>
          </a:ln>
        </p:spPr>
        <p:txBody>
          <a:bodyPr vert="horz" wrap="square" lIns="0" tIns="0" rIns="0" bIns="0" rtlCol="0" anchor="ctr" anchorCtr="0"/>
          <a:lstStyle/>
          <a:p>
            <a:pPr/>
            <a:r>
              <a:rPr lang="en-US" b="1" i="0" u="none" strike="noStrike" dirty="0" sz="1020">
                <a:solidFill>
                  <a:srgbClr val="374151"/>
                </a:solidFill>
                <a:latin typeface="Noto Sans SC"/>
                <a:ea typeface="Noto Sans SC"/>
                <a:cs typeface="Noto Sans SC"/>
                <a:sym typeface="Noto Sans SC"/>
              </a:rPr>
              <a:t xml:space="preserve">Performance varies by elevation band: </a:t>
            </a:r>
            <a:r>
              <a:rPr lang="en-US" b="0" i="0" u="none" strike="noStrike" dirty="0" sz="1020">
                <a:solidFill>
                  <a:srgbClr val="374151"/>
                </a:solidFill>
                <a:latin typeface="Noto Sans SC"/>
                <a:ea typeface="Noto Sans SC"/>
                <a:cs typeface="Noto Sans SC"/>
                <a:sym typeface="Noto Sans SC"/>
              </a:rPr>
              <a:t>accuracy 0.863→0.958. Cache la Poudre is hardest (F1=0.716).</a:t>
            </a:r>
            <a:endParaRPr lang="en-US" b="1" i="0" u="none" strike="noStrike" dirty="0" sz="1020">
              <a:solidFill>
                <a:srgbClr val="374151"/>
              </a:solidFill>
              <a:latin typeface="Noto Sans SC"/>
              <a:ea typeface="Noto Sans SC"/>
              <a:cs typeface="Noto Sans SC"/>
              <a:sym typeface="Noto Sans SC"/>
            </a:endParaRPr>
          </a:p>
        </p:txBody>
      </p:sp>
      <p:sp>
        <p:nvSpPr>
          <p:cNvPr id="22" name="AutoShape 22"/>
          <p:cNvSpPr/>
          <p:nvPr/>
        </p:nvSpPr>
        <p:spPr>
          <a:xfrm>
            <a:off x="4580082" y="4813300"/>
            <a:ext cx="6985000" cy="8636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70582" y="5067300"/>
            <a:ext cx="355600" cy="355600"/>
          </a:xfrm>
          <a:prstGeom prst="rect">
            <a:avLst/>
          </a:prstGeom>
        </p:spPr>
      </p:pic>
      <p:sp>
        <p:nvSpPr>
          <p:cNvPr id="24" name="AutoShape 24"/>
          <p:cNvSpPr/>
          <p:nvPr/>
        </p:nvSpPr>
        <p:spPr>
          <a:xfrm>
            <a:off x="5278582" y="4902200"/>
            <a:ext cx="6223000" cy="762000"/>
          </a:xfrm>
          <a:prstGeom prst="rect">
            <a:avLst/>
          </a:prstGeom>
          <a:noFill/>
          <a:ln w="12700" cap="flat" cmpd="sng">
            <a:noFill/>
            <a:prstDash val="solid"/>
            <a:round/>
          </a:ln>
        </p:spPr>
        <p:txBody>
          <a:bodyPr vert="horz" wrap="square" lIns="0" tIns="0" rIns="0" bIns="0" rtlCol="0" anchor="ctr" anchorCtr="0"/>
          <a:lstStyle/>
          <a:p>
            <a:pPr/>
            <a:r>
              <a:rPr lang="en-US" b="1" i="0" u="none" strike="noStrike" dirty="0" sz="1050">
                <a:solidFill>
                  <a:srgbClr val="374151"/>
                </a:solidFill>
                <a:latin typeface="Noto Sans SC"/>
                <a:ea typeface="Noto Sans SC"/>
                <a:cs typeface="Noto Sans SC"/>
                <a:sym typeface="Noto Sans SC"/>
              </a:rPr>
              <a:t xml:space="preserve">Error predictions: </a:t>
            </a:r>
            <a:r>
              <a:rPr lang="en-US" b="0" i="0" u="none" strike="noStrike" dirty="0" sz="1050">
                <a:solidFill>
                  <a:srgbClr val="374151"/>
                </a:solidFill>
                <a:latin typeface="Noto Sans SC"/>
                <a:ea typeface="Noto Sans SC"/>
                <a:cs typeface="Noto Sans SC"/>
                <a:sym typeface="Noto Sans SC"/>
              </a:rPr>
              <a:t>mean confidence 0.582 vs 0.810 for correct predictions.</a:t>
            </a:r>
            <a:endParaRPr lang="en-US" b="1" i="0" u="none" strike="noStrike" dirty="0" sz="1050">
              <a:solidFill>
                <a:srgbClr val="374151"/>
              </a:solidFill>
              <a:latin typeface="Noto Sans SC"/>
              <a:ea typeface="Noto Sans SC"/>
              <a:cs typeface="Noto Sans SC"/>
              <a:sym typeface="Noto Sans SC"/>
            </a:endParaRPr>
          </a:p>
        </p:txBody>
      </p:sp>
      <p:pic>
        <p:nvPicPr>
          <p:cNvPr id="25" name="图片 24">
            <a:extLst>
              <a:ext uri="{FF2B5EF4-FFF2-40B4-BE49-F238E27FC236}">
                <a16:creationId xmlns:a16="http://schemas.microsoft.com/office/drawing/2014/main" id="{8849A1CA-4F16-AE2D-3AE9-331E6F04AE98}"/>
              </a:ext>
            </a:extLst>
          </p:cNvPr>
          <p:cNvPicPr>
            <a:picLocks noChangeAspect="1"/>
          </p:cNvPicPr>
          <p:nvPr/>
        </p:nvPicPr>
        <p:blipFill>
          <a:blip r:embed="rId7"/>
          <a:stretch>
            <a:fillRect/>
          </a:stretch>
        </p:blipFill>
        <p:spPr>
          <a:xfrm>
            <a:off x="469901" y="3272433"/>
            <a:ext cx="3307010" cy="2827733"/>
          </a:xfrm>
          <a:prstGeom prst="rect">
            <a:avLst/>
          </a:prstGeom>
        </p:spPr>
      </p:pic>
      <p:sp>
        <p:nvSpPr>
          <p:cNvPr id="26" name="HGB ECE card"/>
          <p:cNvSpPr/>
          <p:nvPr/>
        </p:nvSpPr>
        <p:spPr>
          <a:xfrm>
            <a:off x="9079992" y="1014984"/>
            <a:ext cx="2075688" cy="1271016"/>
          </a:xfrm>
          <a:prstGeom prst="roundRect">
            <a:avLst>
              <a:gd name="adj" fmla="val 0"/>
            </a:avLst>
          </a:prstGeom>
          <a:solidFill>
            <a:srgbClr val="ECFDF5">
              <a:alpha val="10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endParaRPr/>
          </a:p>
        </p:txBody>
      </p:sp>
      <p:sp>
        <p:nvSpPr>
          <p:cNvPr id="26" name="HGB ECE title"/>
          <p:cNvSpPr/>
          <p:nvPr/>
        </p:nvSpPr>
        <p:spPr>
          <a:xfrm>
            <a:off x="9235440" y="1124712"/>
            <a:ext cx="1764792" cy="292608"/>
          </a:xfrm>
          <a:prstGeom prst="rect">
            <a:avLst/>
          </a:prstGeom>
          <a:noFill/>
          <a:ln w="12700" cap="flat" cmpd="sng">
            <a:noFill/>
            <a:prstDash val="solid"/>
            <a:round/>
          </a:ln>
        </p:spPr>
        <p:txBody>
          <a:bodyPr vert="horz" wrap="square" lIns="0" tIns="0" rIns="0" bIns="0" rtlCol="0" anchor="ctr" anchorCtr="0"/>
          <a:lstStyle/>
          <a:p>
            <a:pPr/>
            <a:r>
              <a:rPr lang="en-US" sz="1300" b="1" i="0" u="none" strike="noStrike" dirty="0">
                <a:solidFill>
                  <a:srgbClr val="059669"/>
                </a:solidFill>
                <a:latin typeface="Noto Sans SC"/>
                <a:ea typeface="Noto Sans SC"/>
                <a:cs typeface="Noto Sans SC"/>
                <a:sym typeface="Noto Sans SC"/>
              </a:rPr>
              <a:t>HGB ECE</a:t>
            </a:r>
            <a:endParaRPr lang="en-US" sz="1300" b="1" i="0" u="none" strike="noStrike" dirty="0">
              <a:solidFill>
                <a:srgbClr val="059669"/>
              </a:solidFill>
              <a:latin typeface="Noto Sans SC"/>
              <a:ea typeface="Noto Sans SC"/>
              <a:cs typeface="Noto Sans SC"/>
              <a:sym typeface="Noto Sans SC"/>
            </a:endParaRPr>
          </a:p>
        </p:txBody>
      </p:sp>
      <p:sp>
        <p:nvSpPr>
          <p:cNvPr id="26" name="HGB ECE value"/>
          <p:cNvSpPr/>
          <p:nvPr/>
        </p:nvSpPr>
        <p:spPr>
          <a:xfrm>
            <a:off x="9235440" y="1371600"/>
            <a:ext cx="1764792" cy="384048"/>
          </a:xfrm>
          <a:prstGeom prst="rect">
            <a:avLst/>
          </a:prstGeom>
          <a:noFill/>
          <a:ln w="12700" cap="flat" cmpd="sng">
            <a:noFill/>
            <a:prstDash val="solid"/>
            <a:round/>
          </a:ln>
        </p:spPr>
        <p:txBody>
          <a:bodyPr vert="horz" wrap="square" lIns="0" tIns="0" rIns="0" bIns="0" rtlCol="0" anchor="ctr" anchorCtr="0"/>
          <a:lstStyle/>
          <a:p>
            <a:pPr/>
            <a:r>
              <a:rPr lang="en-US" sz="2200" b="1" i="0" u="none" strike="noStrike" dirty="0">
                <a:solidFill>
                  <a:srgbClr val="059669"/>
                </a:solidFill>
                <a:latin typeface="Noto Sans SC"/>
                <a:ea typeface="Noto Sans SC"/>
                <a:cs typeface="Noto Sans SC"/>
                <a:sym typeface="Noto Sans SC"/>
              </a:rPr>
              <a:t>0.041</a:t>
            </a:r>
            <a:endParaRPr lang="en-US" sz="2200" b="1" i="0" u="none" strike="noStrike" dirty="0">
              <a:solidFill>
                <a:srgbClr val="059669"/>
              </a:solidFill>
              <a:latin typeface="Noto Sans SC"/>
              <a:ea typeface="Noto Sans SC"/>
              <a:cs typeface="Noto Sans SC"/>
              <a:sym typeface="Noto Sans SC"/>
            </a:endParaRPr>
          </a:p>
        </p:txBody>
      </p:sp>
      <p:sp>
        <p:nvSpPr>
          <p:cNvPr id="26" name="HGB ECE detail"/>
          <p:cNvSpPr/>
          <p:nvPr/>
        </p:nvSpPr>
        <p:spPr>
          <a:xfrm>
            <a:off x="9235440" y="1874520"/>
            <a:ext cx="1764792" cy="274320"/>
          </a:xfrm>
          <a:prstGeom prst="rect">
            <a:avLst/>
          </a:prstGeom>
          <a:noFill/>
          <a:ln w="12700" cap="flat" cmpd="sng">
            <a:noFill/>
            <a:prstDash val="solid"/>
            <a:round/>
          </a:ln>
        </p:spPr>
        <p:txBody>
          <a:bodyPr vert="horz" wrap="square" lIns="0" tIns="0" rIns="0" bIns="0" rtlCol="0" anchor="ctr" anchorCtr="0"/>
          <a:lstStyle/>
          <a:p>
            <a:pPr/>
            <a:r>
              <a:rPr lang="en-US" sz="850" b="0" i="0" u="none" strike="noStrike" dirty="0">
                <a:solidFill>
                  <a:srgbClr val="059669"/>
                </a:solidFill>
                <a:latin typeface="Noto Sans SC"/>
                <a:ea typeface="Noto Sans SC"/>
                <a:cs typeface="Noto Sans SC"/>
                <a:sym typeface="Noto Sans SC"/>
              </a:rPr>
              <a:t>Best calibrated</a:t>
            </a:r>
            <a:endParaRPr lang="en-US" sz="850" b="0" i="0" u="none" strike="noStrike" dirty="0">
              <a:solidFill>
                <a:srgbClr val="059669"/>
              </a:solidFill>
              <a:latin typeface="Noto Sans SC"/>
              <a:ea typeface="Noto Sans SC"/>
              <a:cs typeface="Noto Sans SC"/>
              <a:sym typeface="Noto Sans S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6" name="AutoShape 6"/>
          <p:cNvSpPr/>
          <p:nvPr/>
        </p:nvSpPr>
        <p:spPr>
          <a:xfrm>
            <a:off x="6102927" y="1270000"/>
            <a:ext cx="5506358" cy="264795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sp>
        <p:nvSpPr>
          <p:cNvPr id="26" name="AutoShape 11">
            <a:extLst>
              <a:ext uri="{FF2B5EF4-FFF2-40B4-BE49-F238E27FC236}">
                <a16:creationId xmlns:a16="http://schemas.microsoft.com/office/drawing/2014/main" id="{8FC2604B-33D0-49CC-4E12-D1BC2C81A5DC}"/>
              </a:ext>
            </a:extLst>
          </p:cNvPr>
          <p:cNvSpPr/>
          <p:nvPr/>
        </p:nvSpPr>
        <p:spPr>
          <a:xfrm>
            <a:off x="6332847" y="3019770"/>
            <a:ext cx="5046518" cy="736231"/>
          </a:xfrm>
          <a:prstGeom prst="roundRect">
            <a:avLst>
              <a:gd name="adj" fmla="val 0"/>
            </a:avLst>
          </a:prstGeom>
          <a:solidFill>
            <a:schemeClr val="accent5">
              <a:lumMod val="60000"/>
              <a:lumOff val="40000"/>
            </a:scheme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25" name="AutoShape 11">
            <a:extLst>
              <a:ext uri="{FF2B5EF4-FFF2-40B4-BE49-F238E27FC236}">
                <a16:creationId xmlns:a16="http://schemas.microsoft.com/office/drawing/2014/main" id="{0C5A2DF8-FC17-B37D-82B1-39FE61F71188}"/>
              </a:ext>
            </a:extLst>
          </p:cNvPr>
          <p:cNvSpPr/>
          <p:nvPr/>
        </p:nvSpPr>
        <p:spPr>
          <a:xfrm>
            <a:off x="6332847" y="2377469"/>
            <a:ext cx="5046518" cy="564486"/>
          </a:xfrm>
          <a:prstGeom prst="roundRect">
            <a:avLst>
              <a:gd name="adj" fmla="val 0"/>
            </a:avLst>
          </a:prstGeom>
          <a:solidFill>
            <a:schemeClr val="accent6">
              <a:lumMod val="40000"/>
              <a:lumOff val="60000"/>
            </a:scheme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solidFill>
                <a:schemeClr val="accent6"/>
              </a:solidFill>
            </a:endParaRPr>
          </a:p>
        </p:txBody>
      </p:sp>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254000" y="187325"/>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dirty="0">
                <a:solidFill>
                  <a:srgbClr val="1E293B"/>
                </a:solidFill>
                <a:latin typeface="Noto Sans SC"/>
                <a:ea typeface="Noto Sans SC"/>
                <a:cs typeface="Noto Sans SC"/>
                <a:sym typeface="Noto Sans SC"/>
              </a:rPr>
              <a:t>Advanced Model Performance Comparison</a:t>
            </a:r>
            <a:endParaRPr lang="en-US" sz="1100" dirty="0"/>
          </a:p>
        </p:txBody>
      </p:sp>
      <p:pic>
        <p:nvPicPr>
          <p:cNvPr id="5" name="Picture 5"/>
          <p:cNvPicPr>
            <a:picLocks noChangeAspect="1"/>
          </p:cNvPicPr>
          <p:nvPr/>
        </p:nvPicPr>
        <p:blipFill>
          <a:blip r:embed="rId3"/>
          <a:srcRect/>
          <a:stretch>
            <a:fillRect/>
          </a:stretch>
        </p:blipFill>
        <p:spPr>
          <a:xfrm>
            <a:off x="508000" y="1270000"/>
            <a:ext cx="5080000" cy="2540000"/>
          </a:xfrm>
          <a:prstGeom prst="rect">
            <a:avLst/>
          </a:prstGeom>
          <a:noFill/>
          <a:ln w="12700" cap="flat" cmpd="sng">
            <a:solidFill>
              <a:srgbClr val="E2E8F0">
                <a:alpha val="100000"/>
              </a:srgbClr>
            </a:solidFill>
            <a:prstDash val="solid"/>
            <a:round/>
          </a:ln>
        </p:spPr>
      </p:pic>
      <p:sp>
        <p:nvSpPr>
          <p:cNvPr id="7" name="AutoShape 7"/>
          <p:cNvSpPr/>
          <p:nvPr/>
        </p:nvSpPr>
        <p:spPr>
          <a:xfrm>
            <a:off x="6293426" y="1325713"/>
            <a:ext cx="4786251"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2563EB"/>
                </a:solidFill>
                <a:latin typeface="Noto Sans SC"/>
                <a:ea typeface="Noto Sans SC"/>
                <a:cs typeface="Noto Sans SC"/>
                <a:sym typeface="Noto Sans SC"/>
              </a:rPr>
              <a:t> Visual Performance Breakdown</a:t>
            </a:r>
            <a:endParaRPr lang="en-US" sz="1100" dirty="0"/>
          </a:p>
        </p:txBody>
      </p:sp>
      <p:sp>
        <p:nvSpPr>
          <p:cNvPr id="8" name="AutoShape 8"/>
          <p:cNvSpPr/>
          <p:nvPr/>
        </p:nvSpPr>
        <p:spPr>
          <a:xfrm>
            <a:off x="6466774" y="2373706"/>
            <a:ext cx="4809671" cy="599469"/>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1" i="1" u="none" strike="noStrike" dirty="0">
                <a:solidFill>
                  <a:srgbClr val="475569"/>
                </a:solidFill>
                <a:latin typeface="Noto Sans SC"/>
                <a:ea typeface="Noto Sans SC"/>
                <a:cs typeface="Noto Sans SC"/>
                <a:sym typeface="Noto Sans SC"/>
              </a:rPr>
              <a:t>Ensemble methods </a:t>
            </a:r>
            <a:r>
              <a:rPr lang="en-US" sz="1200" b="0" i="0" u="none" strike="noStrike" dirty="0">
                <a:solidFill>
                  <a:srgbClr val="475569"/>
                </a:solidFill>
                <a:latin typeface="Noto Sans SC"/>
                <a:ea typeface="Noto Sans SC"/>
                <a:cs typeface="Noto Sans SC"/>
                <a:sym typeface="Noto Sans SC"/>
              </a:rPr>
              <a:t>(Random Forest, Gradient Boosting) demonstrate a clear superiority over baseline Decision Trees (red dashed line)</a:t>
            </a:r>
            <a:endParaRPr lang="en-US" sz="1200" dirty="0"/>
          </a:p>
        </p:txBody>
      </p:sp>
      <p:sp>
        <p:nvSpPr>
          <p:cNvPr id="9" name="AutoShape 9"/>
          <p:cNvSpPr/>
          <p:nvPr/>
        </p:nvSpPr>
        <p:spPr>
          <a:xfrm>
            <a:off x="508000" y="3937000"/>
            <a:ext cx="5842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E293B"/>
                </a:solidFill>
                <a:latin typeface="Noto Sans SC"/>
                <a:ea typeface="Noto Sans SC"/>
                <a:cs typeface="Noto Sans SC"/>
                <a:sym typeface="Noto Sans SC"/>
              </a:rPr>
              <a:t>Detailed Quantitative Metrics</a:t>
            </a:r>
            <a:endParaRPr lang="en-US" sz="1100"/>
          </a:p>
        </p:txBody>
      </p:sp>
      <p:graphicFrame>
        <p:nvGraphicFramePr>
          <p:cNvPr id="10" name="Table 10"/>
          <p:cNvGraphicFramePr>
            <a:graphicFrameLocks noGrp="1"/>
          </p:cNvGraphicFramePr>
          <p:nvPr>
            <p:extLst>
              <p:ext uri="{D42A27DB-BD31-4B8C-83A1-F6EECF244321}">
                <p14:modId xmlns:p14="http://schemas.microsoft.com/office/powerpoint/2010/main" val="2487971961"/>
              </p:ext>
            </p:extLst>
          </p:nvPr>
        </p:nvGraphicFramePr>
        <p:xfrm>
          <a:off x="508000" y="4318000"/>
          <a:ext cx="5842000" cy="2316480"/>
        </p:xfrm>
        <a:graphic>
          <a:graphicData uri="http://schemas.openxmlformats.org/drawingml/2006/table">
            <a:tbl>
              <a:tblPr>
                <a:effectLst/>
              </a:tblPr>
              <a:tblGrid>
                <a:gridCol w="2032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gridCol w="1270000">
                  <a:extLst>
                    <a:ext uri="{9D8B030D-6E8A-4147-A177-3AD203B41FA5}">
                      <a16:colId xmlns:a16="http://schemas.microsoft.com/office/drawing/2014/main" val="20003"/>
                    </a:ext>
                  </a:extLst>
                </a:gridCol>
              </a:tblGrid>
              <a:tr h="381000">
                <a:tc>
                  <a:txBody>
                    <a:bodyPr/>
                    <a:lstStyle/>
                    <a:p>
                      <a:pPr marL="0" indent="0" algn="ctr">
                        <a:lnSpc>
                          <a:spcPct val="100000"/>
                        </a:lnSpc>
                        <a:defRPr/>
                      </a:pPr>
                      <a:r>
                        <a:rPr lang="en-US" sz="1200" b="1" i="0" u="none" strike="noStrike" dirty="0">
                          <a:solidFill>
                            <a:srgbClr val="FFFFFF"/>
                          </a:solidFill>
                          <a:latin typeface="Noto Sans SC"/>
                          <a:ea typeface="Noto Sans SC"/>
                          <a:cs typeface="Noto Sans SC"/>
                          <a:sym typeface="Noto Sans SC"/>
                        </a:rPr>
                        <a:t>Model Architecture</a:t>
                      </a:r>
                      <a:endParaRPr lang="en-US" sz="1100" dirty="0"/>
                    </a:p>
                  </a:txBody>
                  <a:tcPr marL="101600" marR="101600" marT="101600" marB="101600" anchor="ctr">
                    <a:lnL>
                      <a:noFill/>
                    </a:lnL>
                    <a:lnR>
                      <a:noFill/>
                    </a:lnR>
                    <a:lnT>
                      <a:noFill/>
                    </a:lnT>
                    <a:lnB>
                      <a:noFill/>
                    </a:lnB>
                    <a:solidFill>
                      <a:srgbClr val="2563EB">
                        <a:alpha val="100000"/>
                      </a:srgbClr>
                    </a:solidFill>
                  </a:tcPr>
                </a:tc>
                <a:tc>
                  <a:txBody>
                    <a:bodyPr/>
                    <a:lstStyle/>
                    <a:p>
                      <a:pPr marL="0" indent="0" algn="ctr">
                        <a:lnSpc>
                          <a:spcPct val="100000"/>
                        </a:lnSpc>
                        <a:defRPr/>
                      </a:pPr>
                      <a:r>
                        <a:rPr lang="en-US" sz="1200" b="1" i="0" u="none" strike="noStrike" dirty="0">
                          <a:solidFill>
                            <a:srgbClr val="FFFFFF"/>
                          </a:solidFill>
                          <a:latin typeface="Noto Sans SC"/>
                          <a:ea typeface="Noto Sans SC"/>
                          <a:cs typeface="Noto Sans SC"/>
                          <a:sym typeface="Noto Sans SC"/>
                        </a:rPr>
                        <a:t>F1 Macro</a:t>
                      </a:r>
                      <a:endParaRPr lang="en-US" sz="1100" dirty="0"/>
                    </a:p>
                  </a:txBody>
                  <a:tcPr marL="101600" marR="101600" marT="101600" marB="101600" anchor="ctr">
                    <a:lnL>
                      <a:noFill/>
                    </a:lnL>
                    <a:lnR>
                      <a:noFill/>
                    </a:lnR>
                    <a:lnT>
                      <a:noFill/>
                    </a:lnT>
                    <a:lnB>
                      <a:noFill/>
                    </a:lnB>
                    <a:solidFill>
                      <a:srgbClr val="2563EB">
                        <a:alpha val="100000"/>
                      </a:srgbClr>
                    </a:solidFill>
                  </a:tcPr>
                </a:tc>
                <a:tc>
                  <a:txBody>
                    <a:bodyPr/>
                    <a:lstStyle/>
                    <a:p>
                      <a:pPr marL="0" indent="0" algn="ctr">
                        <a:lnSpc>
                          <a:spcPct val="100000"/>
                        </a:lnSpc>
                        <a:defRPr/>
                      </a:pPr>
                      <a:r>
                        <a:rPr lang="en-US" sz="1200" b="1" i="0" u="none" strike="noStrike">
                          <a:solidFill>
                            <a:srgbClr val="FFFFFF"/>
                          </a:solidFill>
                          <a:latin typeface="Noto Sans SC"/>
                          <a:ea typeface="Noto Sans SC"/>
                          <a:cs typeface="Noto Sans SC"/>
                          <a:sym typeface="Noto Sans SC"/>
                        </a:rPr>
                        <a:t>AUC</a:t>
                      </a:r>
                      <a:endParaRPr lang="en-US" sz="1100"/>
                    </a:p>
                  </a:txBody>
                  <a:tcPr marL="101600" marR="101600" marT="101600" marB="101600" anchor="ctr">
                    <a:lnL>
                      <a:noFill/>
                    </a:lnL>
                    <a:lnR>
                      <a:noFill/>
                    </a:lnR>
                    <a:lnT>
                      <a:noFill/>
                    </a:lnT>
                    <a:lnB>
                      <a:noFill/>
                    </a:lnB>
                    <a:solidFill>
                      <a:srgbClr val="2563EB">
                        <a:alpha val="100000"/>
                      </a:srgbClr>
                    </a:solidFill>
                  </a:tcPr>
                </a:tc>
                <a:tc>
                  <a:txBody>
                    <a:bodyPr/>
                    <a:lstStyle/>
                    <a:p>
                      <a:pPr marL="0" indent="0" algn="ctr">
                        <a:lnSpc>
                          <a:spcPct val="100000"/>
                        </a:lnSpc>
                        <a:defRPr/>
                      </a:pPr>
                      <a:r>
                        <a:rPr lang="en-US" sz="1200" b="1" i="0" u="none" strike="noStrike" dirty="0">
                          <a:solidFill>
                            <a:srgbClr val="FFFFFF"/>
                          </a:solidFill>
                          <a:latin typeface="Noto Sans SC"/>
                          <a:ea typeface="Noto Sans SC"/>
                          <a:cs typeface="Noto Sans SC"/>
                          <a:sym typeface="Noto Sans SC"/>
                        </a:rPr>
                        <a:t>Time (s)</a:t>
                      </a:r>
                      <a:endParaRPr lang="en-US" sz="1100" dirty="0"/>
                    </a:p>
                  </a:txBody>
                  <a:tcPr marL="101600" marR="101600" marT="101600" marB="101600" anchor="ctr">
                    <a:lnL>
                      <a:noFill/>
                    </a:lnL>
                    <a:lnR>
                      <a:noFill/>
                    </a:lnR>
                    <a:lnT>
                      <a:noFill/>
                    </a:lnT>
                    <a:lnB>
                      <a:noFill/>
                    </a:lnB>
                    <a:solidFill>
                      <a:srgbClr val="2563EB">
                        <a:alpha val="100000"/>
                      </a:srgbClr>
                    </a:solidFill>
                  </a:tcPr>
                </a:tc>
                <a:extLst>
                  <a:ext uri="{0D108BD9-81ED-4DB2-BD59-A6C34878D82A}">
                    <a16:rowId xmlns:a16="http://schemas.microsoft.com/office/drawing/2014/main" val="10000"/>
                  </a:ext>
                </a:extLst>
              </a:tr>
              <a:tr h="3556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200" b="0" i="0" u="none" strike="noStrike" dirty="0">
                          <a:solidFill>
                            <a:srgbClr val="064E3B"/>
                          </a:solidFill>
                          <a:latin typeface="Noto Sans SC"/>
                          <a:ea typeface="Noto Sans SC"/>
                          <a:cs typeface="Noto Sans SC"/>
                          <a:sym typeface="Noto Sans SC"/>
                        </a:rPr>
                        <a:t>RF – Top 30 features</a:t>
                      </a:r>
                      <a:endParaRPr lang="en-US" altLang="zh-CN" sz="1200" dirty="0"/>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100" dirty="0"/>
                        <a:t>0.909</a:t>
                      </a:r>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100" dirty="0"/>
                        <a:t>-</a:t>
                      </a:r>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100" dirty="0"/>
                        <a:t>-</a:t>
                      </a:r>
                    </a:p>
                  </a:txBody>
                  <a:tcPr marL="101600" marR="101600" marT="101600" marB="101600" anchor="ctr">
                    <a:lnL>
                      <a:noFill/>
                    </a:lnL>
                    <a:lnR>
                      <a:noFill/>
                    </a:lnR>
                    <a:lnT>
                      <a:noFill/>
                    </a:lnT>
                    <a:lnB>
                      <a:noFill/>
                    </a:lnB>
                    <a:solidFill>
                      <a:srgbClr val="ECFDF5">
                        <a:alpha val="100000"/>
                      </a:srgbClr>
                    </a:solidFill>
                  </a:tcPr>
                </a:tc>
                <a:extLst>
                  <a:ext uri="{0D108BD9-81ED-4DB2-BD59-A6C34878D82A}">
                    <a16:rowId xmlns:a16="http://schemas.microsoft.com/office/drawing/2014/main" val="2709530576"/>
                  </a:ext>
                </a:extLst>
              </a:tr>
              <a:tr h="355600">
                <a:tc>
                  <a:txBody>
                    <a:bodyPr/>
                    <a:lstStyle/>
                    <a:p>
                      <a:pPr marL="0" indent="0" algn="ctr">
                        <a:lnSpc>
                          <a:spcPct val="100000"/>
                        </a:lnSpc>
                        <a:defRPr/>
                      </a:pPr>
                      <a:r>
                        <a:rPr lang="en-US" sz="1200" b="0" i="0" u="none" strike="noStrike" dirty="0">
                          <a:solidFill>
                            <a:srgbClr val="064E3B"/>
                          </a:solidFill>
                          <a:latin typeface="Noto Sans SC"/>
                          <a:ea typeface="Noto Sans SC"/>
                          <a:cs typeface="Noto Sans SC"/>
                          <a:sym typeface="Noto Sans SC"/>
                        </a:rPr>
                        <a:t>Random Forest (200)</a:t>
                      </a:r>
                      <a:endParaRPr lang="en-US" sz="1100" dirty="0"/>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200" b="0" i="0" u="none" strike="noStrike" dirty="0">
                          <a:solidFill>
                            <a:srgbClr val="1F2329"/>
                          </a:solidFill>
                          <a:latin typeface="Noto Sans SC"/>
                          <a:ea typeface="Noto Sans SC"/>
                          <a:cs typeface="Noto Sans SC"/>
                          <a:sym typeface="Noto Sans SC"/>
                        </a:rPr>
                        <a:t>0.907</a:t>
                      </a:r>
                      <a:endParaRPr lang="en-US" sz="1100" dirty="0"/>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200" b="0" i="0" u="none" strike="noStrike" dirty="0">
                          <a:solidFill>
                            <a:srgbClr val="1F2329"/>
                          </a:solidFill>
                          <a:latin typeface="Noto Sans SC"/>
                          <a:ea typeface="Noto Sans SC"/>
                          <a:cs typeface="Noto Sans SC"/>
                          <a:sym typeface="Noto Sans SC"/>
                        </a:rPr>
                        <a:t>0.9925</a:t>
                      </a:r>
                      <a:endParaRPr lang="en-US" sz="1100" dirty="0"/>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2.0</a:t>
                      </a:r>
                      <a:endParaRPr lang="en-US" sz="1100"/>
                    </a:p>
                  </a:txBody>
                  <a:tcPr marL="101600" marR="101600" marT="101600" marB="101600" anchor="ctr">
                    <a:lnL>
                      <a:noFill/>
                    </a:lnL>
                    <a:lnR>
                      <a:noFill/>
                    </a:lnR>
                    <a:lnT>
                      <a:noFill/>
                    </a:lnT>
                    <a:lnB>
                      <a:noFill/>
                    </a:lnB>
                    <a:solidFill>
                      <a:srgbClr val="ECFDF5">
                        <a:alpha val="100000"/>
                      </a:srgbClr>
                    </a:solidFill>
                  </a:tcPr>
                </a:tc>
                <a:extLst>
                  <a:ext uri="{0D108BD9-81ED-4DB2-BD59-A6C34878D82A}">
                    <a16:rowId xmlns:a16="http://schemas.microsoft.com/office/drawing/2014/main" val="10001"/>
                  </a:ext>
                </a:extLst>
              </a:tr>
              <a:tr h="355600">
                <a:tc>
                  <a:txBody>
                    <a:bodyPr/>
                    <a:lstStyle/>
                    <a:p>
                      <a:pPr marL="0" indent="0" algn="ctr">
                        <a:lnSpc>
                          <a:spcPct val="100000"/>
                        </a:lnSpc>
                        <a:defRPr/>
                      </a:pPr>
                      <a:r>
                        <a:rPr lang="en-US" sz="1200" b="0" i="0" u="none" strike="noStrike">
                          <a:solidFill>
                            <a:srgbClr val="064E3B"/>
                          </a:solidFill>
                          <a:latin typeface="Noto Sans SC"/>
                          <a:ea typeface="Noto Sans SC"/>
                          <a:cs typeface="Noto Sans SC"/>
                          <a:sym typeface="Noto Sans SC"/>
                        </a:rPr>
                        <a:t>Random Forest (120)</a:t>
                      </a:r>
                      <a:endParaRPr lang="en-US" sz="1100"/>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200" b="0" i="0" u="none" strike="noStrike" dirty="0">
                          <a:solidFill>
                            <a:srgbClr val="1F2329"/>
                          </a:solidFill>
                          <a:latin typeface="Noto Sans SC"/>
                          <a:ea typeface="Noto Sans SC"/>
                          <a:cs typeface="Noto Sans SC"/>
                          <a:sym typeface="Noto Sans SC"/>
                        </a:rPr>
                        <a:t>0.907</a:t>
                      </a:r>
                      <a:endParaRPr lang="en-US" sz="1100" dirty="0"/>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200" b="0" i="0" u="none" strike="noStrike" dirty="0">
                          <a:solidFill>
                            <a:srgbClr val="1F2329"/>
                          </a:solidFill>
                          <a:latin typeface="Noto Sans SC"/>
                          <a:ea typeface="Noto Sans SC"/>
                          <a:cs typeface="Noto Sans SC"/>
                          <a:sym typeface="Noto Sans SC"/>
                        </a:rPr>
                        <a:t>0.9923</a:t>
                      </a:r>
                      <a:endParaRPr lang="en-US" sz="1100" dirty="0"/>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200" b="0" i="0" u="none" strike="noStrike" dirty="0">
                          <a:solidFill>
                            <a:srgbClr val="1F2329"/>
                          </a:solidFill>
                          <a:latin typeface="Noto Sans SC"/>
                          <a:ea typeface="Noto Sans SC"/>
                          <a:cs typeface="Noto Sans SC"/>
                          <a:sym typeface="Noto Sans SC"/>
                        </a:rPr>
                        <a:t>1.</a:t>
                      </a:r>
                      <a:r>
                        <a:rPr lang="en-US" altLang="zh-CN" sz="1200" b="0" i="0" u="none" strike="noStrike" dirty="0">
                          <a:solidFill>
                            <a:srgbClr val="1F2329"/>
                          </a:solidFill>
                          <a:latin typeface="Noto Sans SC"/>
                          <a:ea typeface="Noto Sans SC"/>
                          <a:cs typeface="Noto Sans SC"/>
                          <a:sym typeface="Noto Sans SC"/>
                        </a:rPr>
                        <a:t>6</a:t>
                      </a:r>
                      <a:endParaRPr lang="en-US" sz="1100" dirty="0"/>
                    </a:p>
                  </a:txBody>
                  <a:tcPr marL="101600" marR="101600" marT="101600" marB="101600" anchor="ctr">
                    <a:lnL>
                      <a:noFill/>
                    </a:lnL>
                    <a:lnR>
                      <a:noFill/>
                    </a:lnR>
                    <a:lnT>
                      <a:noFill/>
                    </a:lnT>
                    <a:lnB>
                      <a:noFill/>
                    </a:lnB>
                    <a:solidFill>
                      <a:srgbClr val="ECFDF5">
                        <a:alpha val="100000"/>
                      </a:srgbClr>
                    </a:solidFill>
                  </a:tcPr>
                </a:tc>
                <a:extLst>
                  <a:ext uri="{0D108BD9-81ED-4DB2-BD59-A6C34878D82A}">
                    <a16:rowId xmlns:a16="http://schemas.microsoft.com/office/drawing/2014/main" val="10002"/>
                  </a:ext>
                </a:extLst>
              </a:tr>
              <a:tr h="355600">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Voting Classifier</a:t>
                      </a:r>
                      <a:endParaRPr lang="en-US" sz="1100"/>
                    </a:p>
                  </a:txBody>
                  <a:tcPr marL="101600" marR="101600" marT="101600" marB="101600" anchor="ctr">
                    <a:lnL>
                      <a:noFill/>
                    </a:lnL>
                    <a:lnR>
                      <a:noFill/>
                    </a:lnR>
                    <a:lnT>
                      <a:noFill/>
                    </a:lnT>
                    <a:lnB>
                      <a:noFill/>
                    </a:lnB>
                    <a:solidFill>
                      <a:srgbClr val="F8FAFC">
                        <a:alpha val="100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0.885</a:t>
                      </a:r>
                      <a:endParaRPr lang="en-US" sz="1100"/>
                    </a:p>
                  </a:txBody>
                  <a:tcPr marL="101600" marR="101600" marT="101600" marB="101600" anchor="ctr">
                    <a:lnL>
                      <a:noFill/>
                    </a:lnL>
                    <a:lnR>
                      <a:noFill/>
                    </a:lnR>
                    <a:lnT>
                      <a:noFill/>
                    </a:lnT>
                    <a:lnB>
                      <a:noFill/>
                    </a:lnB>
                    <a:solidFill>
                      <a:srgbClr val="F8FAFC">
                        <a:alpha val="100000"/>
                      </a:srgbClr>
                    </a:solidFill>
                  </a:tcPr>
                </a:tc>
                <a:tc>
                  <a:txBody>
                    <a:bodyPr/>
                    <a:lstStyle/>
                    <a:p>
                      <a:pPr marL="0" indent="0" algn="ctr">
                        <a:lnSpc>
                          <a:spcPct val="100000"/>
                        </a:lnSpc>
                        <a:defRPr/>
                      </a:pPr>
                      <a:r>
                        <a:rPr lang="en-US" sz="1200" b="0" i="0" u="none" strike="noStrike" dirty="0">
                          <a:solidFill>
                            <a:srgbClr val="1F2329"/>
                          </a:solidFill>
                          <a:latin typeface="Noto Sans SC"/>
                          <a:ea typeface="Noto Sans SC"/>
                          <a:cs typeface="Noto Sans SC"/>
                          <a:sym typeface="Noto Sans SC"/>
                        </a:rPr>
                        <a:t>-</a:t>
                      </a:r>
                      <a:endParaRPr lang="en-US" sz="1100" dirty="0"/>
                    </a:p>
                  </a:txBody>
                  <a:tcPr marL="101600" marR="101600" marT="101600" marB="101600" anchor="ctr">
                    <a:lnL>
                      <a:noFill/>
                    </a:lnL>
                    <a:lnR>
                      <a:noFill/>
                    </a:lnR>
                    <a:lnT>
                      <a:noFill/>
                    </a:lnT>
                    <a:lnB>
                      <a:noFill/>
                    </a:lnB>
                    <a:solidFill>
                      <a:srgbClr val="F8FAFC">
                        <a:alpha val="100000"/>
                      </a:srgbClr>
                    </a:solidFill>
                  </a:tcPr>
                </a:tc>
                <a:tc>
                  <a:txBody>
                    <a:bodyPr/>
                    <a:lstStyle/>
                    <a:p>
                      <a:pPr marL="0" indent="0" algn="ctr">
                        <a:lnSpc>
                          <a:spcPct val="100000"/>
                        </a:lnSpc>
                        <a:defRPr/>
                      </a:pPr>
                      <a:r>
                        <a:rPr lang="en-US" sz="1200" b="0" i="0" u="none" strike="noStrike" dirty="0">
                          <a:solidFill>
                            <a:srgbClr val="1F2329"/>
                          </a:solidFill>
                          <a:latin typeface="Noto Sans SC"/>
                          <a:ea typeface="Noto Sans SC"/>
                          <a:cs typeface="Noto Sans SC"/>
                          <a:sym typeface="Noto Sans SC"/>
                        </a:rPr>
                        <a:t>-</a:t>
                      </a:r>
                      <a:endParaRPr lang="en-US" sz="1100" dirty="0"/>
                    </a:p>
                  </a:txBody>
                  <a:tcPr marL="101600" marR="101600" marT="101600" marB="101600" anchor="ctr">
                    <a:lnL>
                      <a:noFill/>
                    </a:lnL>
                    <a:lnR>
                      <a:noFill/>
                    </a:lnR>
                    <a:lnT>
                      <a:noFill/>
                    </a:lnT>
                    <a:lnB>
                      <a:noFill/>
                    </a:lnB>
                    <a:solidFill>
                      <a:srgbClr val="F8FAFC">
                        <a:alpha val="100000"/>
                      </a:srgbClr>
                    </a:solidFill>
                  </a:tcPr>
                </a:tc>
                <a:extLst>
                  <a:ext uri="{0D108BD9-81ED-4DB2-BD59-A6C34878D82A}">
                    <a16:rowId xmlns:a16="http://schemas.microsoft.com/office/drawing/2014/main" val="10003"/>
                  </a:ext>
                </a:extLst>
              </a:tr>
              <a:tr h="355600">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Gradient Boosting (std)</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0.883</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marL="0" indent="0" algn="ctr">
                        <a:lnSpc>
                          <a:spcPct val="100000"/>
                        </a:lnSpc>
                        <a:defRPr/>
                      </a:pPr>
                      <a:r>
                        <a:rPr lang="en-US" sz="1200" b="0" i="0" u="none" strike="noStrike" dirty="0">
                          <a:solidFill>
                            <a:srgbClr val="1F2329"/>
                          </a:solidFill>
                          <a:latin typeface="Noto Sans SC"/>
                          <a:ea typeface="Noto Sans SC"/>
                          <a:cs typeface="Noto Sans SC"/>
                          <a:sym typeface="Noto Sans SC"/>
                        </a:rPr>
                        <a:t>160.7</a:t>
                      </a:r>
                      <a:endParaRPr lang="en-US" sz="1100" dirty="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4"/>
                  </a:ext>
                </a:extLst>
              </a:tr>
            </a:tbl>
          </a:graphicData>
        </a:graphic>
      </p:graphicFrame>
      <p:sp>
        <p:nvSpPr>
          <p:cNvPr id="11" name="AutoShape 11"/>
          <p:cNvSpPr/>
          <p:nvPr/>
        </p:nvSpPr>
        <p:spPr>
          <a:xfrm>
            <a:off x="6604000" y="4318000"/>
            <a:ext cx="5080000" cy="10795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730999" y="4345214"/>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1E3A8A"/>
                </a:solidFill>
                <a:latin typeface="Noto Sans SC"/>
                <a:ea typeface="Noto Sans SC"/>
                <a:cs typeface="Noto Sans SC"/>
                <a:sym typeface="Noto Sans SC"/>
              </a:rPr>
              <a:t>Peak Performance with Random Forest</a:t>
            </a:r>
            <a:endParaRPr lang="en-US" sz="1100" dirty="0"/>
          </a:p>
        </p:txBody>
      </p:sp>
      <p:sp>
        <p:nvSpPr>
          <p:cNvPr id="14" name="AutoShape 14"/>
          <p:cNvSpPr/>
          <p:nvPr/>
        </p:nvSpPr>
        <p:spPr>
          <a:xfrm>
            <a:off x="6730999" y="4738007"/>
            <a:ext cx="4878286"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dirty="0">
                <a:solidFill>
                  <a:srgbClr val="475569"/>
                </a:solidFill>
                <a:latin typeface="Noto Sans SC"/>
                <a:ea typeface="Noto Sans SC"/>
                <a:cs typeface="Noto Sans SC"/>
                <a:sym typeface="Noto Sans SC"/>
              </a:rPr>
              <a:t>RF model which obtain top 30 features achieved the highest F1 (0.908), setting a new benchmark</a:t>
            </a:r>
            <a:r>
              <a:rPr lang="en-US" sz="1200" dirty="0">
                <a:solidFill>
                  <a:srgbClr val="475569"/>
                </a:solidFill>
                <a:latin typeface="Noto Sans SC"/>
                <a:ea typeface="Noto Sans SC"/>
                <a:cs typeface="Noto Sans SC"/>
                <a:sym typeface="Noto Sans SC"/>
              </a:rPr>
              <a:t>, w</a:t>
            </a:r>
            <a:r>
              <a:rPr lang="en-US" sz="1200" b="0" i="0" u="none" strike="noStrike" dirty="0">
                <a:solidFill>
                  <a:srgbClr val="475569"/>
                </a:solidFill>
                <a:latin typeface="Noto Sans SC"/>
                <a:ea typeface="Noto Sans SC"/>
                <a:cs typeface="Noto Sans SC"/>
                <a:sym typeface="Noto Sans SC"/>
              </a:rPr>
              <a:t>hile the 120-tree variant matched the 200-tree model's accuracy but trained 30% faster, making it the most efficient choice.</a:t>
            </a:r>
            <a:endParaRPr lang="en-US" sz="1100" dirty="0"/>
          </a:p>
        </p:txBody>
      </p:sp>
      <p:sp>
        <p:nvSpPr>
          <p:cNvPr id="15" name="AutoShape 15"/>
          <p:cNvSpPr/>
          <p:nvPr/>
        </p:nvSpPr>
        <p:spPr>
          <a:xfrm>
            <a:off x="6604000" y="5493657"/>
            <a:ext cx="5080000" cy="1079500"/>
          </a:xfrm>
          <a:prstGeom prst="roundRect">
            <a:avLst>
              <a:gd name="adj" fmla="val 0"/>
            </a:avLst>
          </a:prstGeom>
          <a:solidFill>
            <a:srgbClr val="FFF7ED">
              <a:alpha val="100000"/>
            </a:srgbClr>
          </a:solidFill>
          <a:ln w="12700" cap="flat" cmpd="sng">
            <a:solidFill>
              <a:srgbClr val="FED7AA">
                <a:alpha val="10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712858" y="5531757"/>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7C2D12"/>
                </a:solidFill>
                <a:latin typeface="Noto Sans SC"/>
                <a:ea typeface="Noto Sans SC"/>
                <a:cs typeface="Noto Sans SC"/>
                <a:sym typeface="Noto Sans SC"/>
              </a:rPr>
              <a:t>Trade-off: Speed vs. Complexity</a:t>
            </a:r>
            <a:endParaRPr lang="en-US" sz="1100" dirty="0"/>
          </a:p>
        </p:txBody>
      </p:sp>
      <p:sp>
        <p:nvSpPr>
          <p:cNvPr id="18" name="AutoShape 18"/>
          <p:cNvSpPr/>
          <p:nvPr/>
        </p:nvSpPr>
        <p:spPr>
          <a:xfrm>
            <a:off x="6731000" y="5849257"/>
            <a:ext cx="4953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dirty="0">
                <a:solidFill>
                  <a:srgbClr val="475569"/>
                </a:solidFill>
                <a:latin typeface="Noto Sans SC"/>
                <a:ea typeface="Noto Sans SC"/>
                <a:cs typeface="Noto Sans SC"/>
                <a:sym typeface="Noto Sans SC"/>
              </a:rPr>
              <a:t>Gradient Boosting, while competitive in score, had a prohibitive training time (160s+), unsuitable for real-time applications. Simple baselines (Decision Tree) were fast but underperformed significantly.</a:t>
            </a:r>
            <a:endParaRPr lang="en-US" sz="1100" dirty="0"/>
          </a:p>
        </p:txBody>
      </p:sp>
      <p:pic>
        <p:nvPicPr>
          <p:cNvPr id="19" name="图片 18">
            <a:extLst>
              <a:ext uri="{FF2B5EF4-FFF2-40B4-BE49-F238E27FC236}">
                <a16:creationId xmlns:a16="http://schemas.microsoft.com/office/drawing/2014/main" id="{95A46DEB-494C-86D3-E581-9BA0EDC229F0}"/>
              </a:ext>
            </a:extLst>
          </p:cNvPr>
          <p:cNvPicPr>
            <a:picLocks noChangeAspect="1"/>
          </p:cNvPicPr>
          <p:nvPr/>
        </p:nvPicPr>
        <p:blipFill>
          <a:blip r:embed="rId4"/>
          <a:stretch>
            <a:fillRect/>
          </a:stretch>
        </p:blipFill>
        <p:spPr>
          <a:xfrm>
            <a:off x="358568" y="1086952"/>
            <a:ext cx="5562435" cy="275919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2" name="AutoShape 11">
            <a:extLst>
              <a:ext uri="{FF2B5EF4-FFF2-40B4-BE49-F238E27FC236}">
                <a16:creationId xmlns:a16="http://schemas.microsoft.com/office/drawing/2014/main" id="{D9801CED-6981-A53B-522C-C57F033039B3}"/>
              </a:ext>
            </a:extLst>
          </p:cNvPr>
          <p:cNvSpPr/>
          <p:nvPr/>
        </p:nvSpPr>
        <p:spPr>
          <a:xfrm>
            <a:off x="6332847" y="1724990"/>
            <a:ext cx="5046518" cy="564486"/>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21" name="文本框 20">
            <a:extLst>
              <a:ext uri="{FF2B5EF4-FFF2-40B4-BE49-F238E27FC236}">
                <a16:creationId xmlns:a16="http://schemas.microsoft.com/office/drawing/2014/main" id="{763E3ABF-C5EE-7803-996C-595C00CE36A5}"/>
              </a:ext>
            </a:extLst>
          </p:cNvPr>
          <p:cNvSpPr txBox="1"/>
          <p:nvPr/>
        </p:nvSpPr>
        <p:spPr>
          <a:xfrm>
            <a:off x="6392387" y="1748284"/>
            <a:ext cx="4588328" cy="478080"/>
          </a:xfrm>
          <a:prstGeom prst="rect">
            <a:avLst/>
          </a:prstGeom>
          <a:noFill/>
        </p:spPr>
        <p:txBody>
          <a:bodyPr wrap="square">
            <a:spAutoFit/>
          </a:bodyPr>
          <a:lstStyle/>
          <a:p>
            <a:pPr marL="0" indent="0" algn="l">
              <a:lnSpc>
                <a:spcPct val="108333"/>
              </a:lnSpc>
              <a:defRPr/>
            </a:pPr>
            <a:r>
              <a:rPr lang="en-US" altLang="zh-CN" sz="1200" b="0" i="0" u="none" strike="noStrike" dirty="0">
                <a:solidFill>
                  <a:srgbClr val="475569"/>
                </a:solidFill>
                <a:latin typeface="Noto Sans SC"/>
                <a:ea typeface="Noto Sans SC"/>
                <a:cs typeface="Noto Sans SC"/>
                <a:sym typeface="Noto Sans SC"/>
              </a:rPr>
              <a:t>The bar chart displays F1 Macro scores across all tested models</a:t>
            </a:r>
          </a:p>
        </p:txBody>
      </p:sp>
      <p:sp>
        <p:nvSpPr>
          <p:cNvPr id="24" name="文本框 23">
            <a:extLst>
              <a:ext uri="{FF2B5EF4-FFF2-40B4-BE49-F238E27FC236}">
                <a16:creationId xmlns:a16="http://schemas.microsoft.com/office/drawing/2014/main" id="{BFBAEC1B-50E1-0281-CA9F-EFA818FA3176}"/>
              </a:ext>
            </a:extLst>
          </p:cNvPr>
          <p:cNvSpPr txBox="1"/>
          <p:nvPr/>
        </p:nvSpPr>
        <p:spPr>
          <a:xfrm>
            <a:off x="6403275" y="3050805"/>
            <a:ext cx="4809670" cy="646331"/>
          </a:xfrm>
          <a:prstGeom prst="rect">
            <a:avLst/>
          </a:prstGeom>
          <a:noFill/>
        </p:spPr>
        <p:txBody>
          <a:bodyPr wrap="square">
            <a:spAutoFit/>
          </a:bodyPr>
          <a:lstStyle/>
          <a:p>
            <a:r>
              <a:rPr lang="en-US" altLang="zh-CN" sz="1200" b="0" i="0" u="none" strike="noStrike" dirty="0">
                <a:solidFill>
                  <a:srgbClr val="475569"/>
                </a:solidFill>
                <a:latin typeface="Noto Sans SC"/>
                <a:ea typeface="Noto Sans SC"/>
                <a:cs typeface="Noto Sans SC"/>
                <a:sym typeface="Noto Sans SC"/>
              </a:rPr>
              <a:t>Notably, Random Forest variants achieve the highest scores (0.908), significantly outperforming even tuned baselines and SMOTE-augmented models</a:t>
            </a:r>
            <a:endParaRPr lang="zh-CN" alt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1651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dirty="0">
                <a:solidFill>
                  <a:srgbClr val="1F2937"/>
                </a:solidFill>
                <a:latin typeface="Noto Sans SC"/>
                <a:ea typeface="Noto Sans SC"/>
                <a:cs typeface="Noto Sans SC"/>
                <a:sym typeface="Noto Sans SC"/>
              </a:rPr>
              <a:t>0</a:t>
            </a:r>
            <a:r>
              <a:rPr lang="en-US" altLang="zh-CN" sz="2600" b="1" i="0" u="none" strike="noStrike" dirty="0">
                <a:solidFill>
                  <a:srgbClr val="1F2937"/>
                </a:solidFill>
                <a:latin typeface="Noto Sans SC"/>
                <a:ea typeface="Noto Sans SC"/>
                <a:cs typeface="Noto Sans SC"/>
                <a:sym typeface="Noto Sans SC"/>
              </a:rPr>
              <a:t>7</a:t>
            </a:r>
            <a:r>
              <a:rPr lang="en-US" sz="2600" b="1" i="0" u="none" strike="noStrike" dirty="0">
                <a:solidFill>
                  <a:srgbClr val="1F2937"/>
                </a:solidFill>
                <a:latin typeface="Noto Sans SC"/>
                <a:ea typeface="Noto Sans SC"/>
                <a:cs typeface="Noto Sans SC"/>
                <a:sym typeface="Noto Sans SC"/>
              </a:rPr>
              <a:t> Conclusion and Future Outlook</a:t>
            </a:r>
            <a:endParaRPr lang="en-US" sz="1100" dirty="0"/>
          </a:p>
        </p:txBody>
      </p:sp>
      <p:sp>
        <p:nvSpPr>
          <p:cNvPr id="4" name="AutoShape 4"/>
          <p:cNvSpPr/>
          <p:nvPr/>
        </p:nvSpPr>
        <p:spPr>
          <a:xfrm>
            <a:off x="761999" y="1143000"/>
            <a:ext cx="10477501" cy="2730500"/>
          </a:xfrm>
          <a:prstGeom prst="roundRect">
            <a:avLst>
              <a:gd name="adj" fmla="val 0"/>
            </a:avLst>
          </a:prstGeom>
          <a:solidFill>
            <a:srgbClr val="FFFFFF">
              <a:alpha val="50000"/>
            </a:srgbClr>
          </a:solidFill>
          <a:ln w="12700" cap="flat" cmpd="sng">
            <a:solidFill>
              <a:srgbClr val="22543D">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23825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22543D"/>
                </a:solidFill>
                <a:latin typeface="Noto Sans SC"/>
                <a:ea typeface="Noto Sans SC"/>
                <a:cs typeface="Noto Sans SC"/>
                <a:sym typeface="Noto Sans SC"/>
              </a:rPr>
              <a:t>Key Conclusions</a:t>
            </a:r>
            <a:endParaRPr lang="en-US" sz="1100" dirty="0"/>
          </a:p>
        </p:txBody>
      </p:sp>
      <p:sp>
        <p:nvSpPr>
          <p:cNvPr id="6" name="AutoShape 6"/>
          <p:cNvSpPr/>
          <p:nvPr/>
        </p:nvSpPr>
        <p:spPr>
          <a:xfrm>
            <a:off x="952500" y="1803400"/>
            <a:ext cx="508000" cy="38100"/>
          </a:xfrm>
          <a:prstGeom prst="roundRect">
            <a:avLst>
              <a:gd name="adj" fmla="val 0"/>
            </a:avLst>
          </a:prstGeom>
          <a:solidFill>
            <a:srgbClr val="22543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1657" y="1974850"/>
            <a:ext cx="279400" cy="279400"/>
          </a:xfrm>
          <a:prstGeom prst="rect">
            <a:avLst/>
          </a:prstGeom>
        </p:spPr>
      </p:pic>
      <p:sp>
        <p:nvSpPr>
          <p:cNvPr id="8" name="AutoShape 8"/>
          <p:cNvSpPr/>
          <p:nvPr/>
        </p:nvSpPr>
        <p:spPr>
          <a:xfrm>
            <a:off x="1340757" y="193675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dirty="0">
                <a:solidFill>
                  <a:srgbClr val="1F2937"/>
                </a:solidFill>
                <a:latin typeface="Noto Sans SC"/>
                <a:ea typeface="Noto Sans SC"/>
                <a:cs typeface="Noto Sans SC"/>
                <a:sym typeface="Noto Sans SC"/>
              </a:rPr>
              <a:t>Best Model Performance</a:t>
            </a:r>
            <a:br>
              <a:rPr lang="en-US" sz="1200" b="0" i="0" u="none" strike="noStrike" dirty="0">
                <a:solidFill>
                  <a:srgbClr val="1F2329"/>
                </a:solidFill>
                <a:latin typeface="Noto Sans SC"/>
                <a:ea typeface="Noto Sans SC"/>
                <a:cs typeface="Noto Sans SC"/>
                <a:sym typeface="Noto Sans SC"/>
              </a:rPr>
            </a:br>
            <a:r>
              <a:rPr lang="en-US" sz="1100" b="0" i="0" u="none" strike="noStrike" dirty="0">
                <a:solidFill>
                  <a:srgbClr val="4B5563"/>
                </a:solidFill>
                <a:latin typeface="Noto Sans SC"/>
                <a:ea typeface="Noto Sans SC"/>
                <a:cs typeface="Noto Sans SC"/>
                <a:sym typeface="Noto Sans SC"/>
              </a:rPr>
              <a:t>The Random Forest model demonstrated exceptional performance, achieving an accuracy of </a:t>
            </a:r>
            <a:r>
              <a:rPr lang="en-US" sz="1100" b="1" i="0" u="none" strike="noStrike" dirty="0">
                <a:solidFill>
                  <a:srgbClr val="22543D"/>
                </a:solidFill>
                <a:latin typeface="Noto Sans SC"/>
                <a:ea typeface="Noto Sans SC"/>
                <a:cs typeface="Noto Sans SC"/>
                <a:sym typeface="Noto Sans SC"/>
              </a:rPr>
              <a:t>0.908</a:t>
            </a:r>
            <a:r>
              <a:rPr lang="en-US" sz="1100" b="0" i="0" u="none" strike="noStrike" dirty="0">
                <a:solidFill>
                  <a:srgbClr val="4B5563"/>
                </a:solidFill>
                <a:latin typeface="Noto Sans SC"/>
                <a:ea typeface="Noto Sans SC"/>
                <a:cs typeface="Noto Sans SC"/>
                <a:sym typeface="Noto Sans SC"/>
              </a:rPr>
              <a:t>and a macro-average F1-score of </a:t>
            </a:r>
            <a:r>
              <a:rPr lang="en-US" sz="1100" b="1" i="0" u="none" strike="noStrike" dirty="0">
                <a:solidFill>
                  <a:srgbClr val="22543D"/>
                </a:solidFill>
                <a:latin typeface="Noto Sans SC"/>
                <a:ea typeface="Noto Sans SC"/>
                <a:cs typeface="Noto Sans SC"/>
                <a:sym typeface="Noto Sans SC"/>
              </a:rPr>
              <a:t>0.908</a:t>
            </a:r>
            <a:r>
              <a:rPr lang="en-US" sz="1100" b="0" i="0" u="none" strike="noStrike" dirty="0">
                <a:solidFill>
                  <a:srgbClr val="4B5563"/>
                </a:solidFill>
                <a:latin typeface="Noto Sans SC"/>
                <a:ea typeface="Noto Sans SC"/>
                <a:cs typeface="Noto Sans SC"/>
                <a:sym typeface="Noto Sans SC"/>
              </a:rPr>
              <a:t>, showing high stability in multi-class classification.</a:t>
            </a:r>
            <a:endParaRPr lang="en-US" sz="1100" dirty="0"/>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1657" y="2927350"/>
            <a:ext cx="279400" cy="279400"/>
          </a:xfrm>
          <a:prstGeom prst="rect">
            <a:avLst/>
          </a:prstGeom>
        </p:spPr>
      </p:pic>
      <p:sp>
        <p:nvSpPr>
          <p:cNvPr id="10" name="AutoShape 10"/>
          <p:cNvSpPr/>
          <p:nvPr/>
        </p:nvSpPr>
        <p:spPr>
          <a:xfrm>
            <a:off x="1340757" y="288925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F2937"/>
                </a:solidFill>
                <a:latin typeface="Noto Sans SC"/>
                <a:ea typeface="Noto Sans SC"/>
                <a:cs typeface="Noto Sans SC"/>
                <a:sym typeface="Noto Sans SC"/>
              </a:rPr>
              <a:t>Supervised Learning is Essential</a:t>
            </a:r>
            <a:br>
              <a:rPr lang="en-US" sz="12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Due to the complexity and hidden patterns in the data, unsupervised learning falls short of guaranteeing accuracy. Supervised learning is the core path to achieving the project's goals.</a:t>
            </a:r>
            <a:endParaRPr lang="en-US" sz="1100"/>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89320" y="1993392"/>
            <a:ext cx="279400" cy="279400"/>
          </a:xfrm>
          <a:prstGeom prst="rect">
            <a:avLst/>
          </a:prstGeom>
        </p:spPr>
      </p:pic>
      <p:sp>
        <p:nvSpPr>
          <p:cNvPr id="12" name="AutoShape 12"/>
          <p:cNvSpPr/>
          <p:nvPr/>
        </p:nvSpPr>
        <p:spPr>
          <a:xfrm>
            <a:off x="6409944" y="1901952"/>
            <a:ext cx="4507992" cy="621792"/>
          </a:xfrm>
          <a:prstGeom prst="rect">
            <a:avLst/>
          </a:prstGeom>
          <a:noFill/>
          <a:ln w="12700" cap="flat" cmpd="sng">
            <a:noFill/>
            <a:prstDash val="solid"/>
            <a:round/>
          </a:ln>
        </p:spPr>
        <p:txBody>
          <a:bodyPr vert="horz" wrap="square" lIns="0" tIns="0" rIns="0" bIns="0" rtlCol="0" anchor="ctr" anchorCtr="0"/>
          <a:lstStyle/>
          <a:p>
            <a:pPr>
              <a:spcAft>
                <a:spcPts val="100"/>
              </a:spcAft>
            </a:pPr>
            <a:r>
              <a:rPr lang="en-US" sz="1120" b="1" i="0" u="none" strike="noStrike">
                <a:solidFill>
                  <a:srgbClr val="1F2937"/>
                </a:solidFill>
                <a:latin typeface="Noto Sans SC"/>
                <a:ea typeface="Noto Sans SC"/>
                <a:cs typeface="Noto Sans SC"/>
                <a:sym typeface="Noto Sans SC"/>
              </a:rPr>
              <a:t>Topographic Factors Drive Predictions</a:t>
            </a:r>
            <a:endParaRPr lang="en-US" sz="1120" b="1" i="0" u="none" strike="noStrike">
              <a:solidFill>
                <a:srgbClr val="1F2937"/>
              </a:solidFill>
              <a:latin typeface="Noto Sans SC"/>
              <a:ea typeface="Noto Sans SC"/>
              <a:cs typeface="Noto Sans SC"/>
              <a:sym typeface="Noto Sans SC"/>
            </a:endParaRPr>
          </a:p>
          <a:p>
            <a:pPr/>
            <a:r>
              <a:rPr lang="en-US" sz="880" b="1" i="0" u="none" strike="noStrike">
                <a:solidFill>
                  <a:srgbClr val="475569"/>
                </a:solidFill>
                <a:latin typeface="Noto Sans SC"/>
                <a:ea typeface="Noto Sans SC"/>
                <a:cs typeface="Noto Sans SC"/>
                <a:sym typeface="Noto Sans SC"/>
              </a:rPr>
              <a:t>Elevation is the most critical predictor; topographic features decisively shape classification results.</a:t>
            </a:r>
            <a:endParaRPr lang="en-US" sz="880" b="1" i="0" u="none" strike="noStrike">
              <a:solidFill>
                <a:srgbClr val="475569"/>
              </a:solidFill>
              <a:latin typeface="Noto Sans SC"/>
              <a:ea typeface="Noto Sans SC"/>
              <a:cs typeface="Noto Sans SC"/>
              <a:sym typeface="Noto Sans SC"/>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89320" y="2688336"/>
            <a:ext cx="279400" cy="279400"/>
          </a:xfrm>
          <a:prstGeom prst="rect">
            <a:avLst/>
          </a:prstGeom>
        </p:spPr>
      </p:pic>
      <p:sp>
        <p:nvSpPr>
          <p:cNvPr id="14" name="AutoShape 14"/>
          <p:cNvSpPr/>
          <p:nvPr/>
        </p:nvSpPr>
        <p:spPr>
          <a:xfrm>
            <a:off x="6409944" y="2596896"/>
            <a:ext cx="4507992" cy="1188720"/>
          </a:xfrm>
          <a:prstGeom prst="rect">
            <a:avLst/>
          </a:prstGeom>
          <a:noFill/>
          <a:ln w="12700" cap="flat" cmpd="sng">
            <a:noFill/>
            <a:prstDash val="solid"/>
            <a:round/>
          </a:ln>
        </p:spPr>
        <p:txBody>
          <a:bodyPr vert="horz" wrap="square" lIns="0" tIns="0" rIns="0" bIns="0" rtlCol="0" anchor="ctr" anchorCtr="0"/>
          <a:lstStyle/>
          <a:p>
            <a:pPr>
              <a:spcAft>
                <a:spcPts val="100"/>
              </a:spcAft>
            </a:pPr>
            <a:r>
              <a:rPr lang="en-US" sz="1050" b="1" i="0" u="none" strike="noStrike">
                <a:solidFill>
                  <a:srgbClr val="1F2937"/>
                </a:solidFill>
                <a:latin typeface="Noto Sans SC"/>
                <a:ea typeface="Noto Sans SC"/>
                <a:cs typeface="Noto Sans SC"/>
                <a:sym typeface="Noto Sans SC"/>
              </a:rPr>
              <a:t>Comprehensive Evaluation with Metrics</a:t>
            </a:r>
            <a:endParaRPr lang="en-US" sz="1050" b="1" i="0" u="none" strike="noStrike">
              <a:solidFill>
                <a:srgbClr val="1F2937"/>
              </a:solidFill>
              <a:latin typeface="Noto Sans SC"/>
              <a:ea typeface="Noto Sans SC"/>
              <a:cs typeface="Noto Sans SC"/>
              <a:sym typeface="Noto Sans SC"/>
            </a:endParaRPr>
          </a:p>
          <a:p>
            <a:pPr>
              <a:spcAft>
                <a:spcPts val="0"/>
              </a:spcAft>
            </a:pPr>
            <a:r>
              <a:rPr lang="en-US" sz="940" b="1" i="0" u="none" strike="noStrike">
                <a:solidFill>
                  <a:srgbClr val="1F2937"/>
                </a:solidFill>
                <a:latin typeface="Noto Sans SC"/>
                <a:ea typeface="Noto Sans SC"/>
                <a:cs typeface="Noto Sans SC"/>
                <a:sym typeface="Noto Sans SC"/>
              </a:rPr>
              <a:t>Limitations</a:t>
            </a:r>
            <a:endParaRPr lang="en-US" sz="940" b="1" i="0" u="none" strike="noStrike">
              <a:solidFill>
                <a:srgbClr val="1F2937"/>
              </a:solidFill>
              <a:latin typeface="Noto Sans SC"/>
              <a:ea typeface="Noto Sans SC"/>
              <a:cs typeface="Noto Sans SC"/>
              <a:sym typeface="Noto Sans SC"/>
            </a:endParaRPr>
          </a:p>
          <a:p>
            <a:pPr marL="190500" indent="-127000">
              <a:buChar char="•"/>
            </a:pPr>
            <a:r>
              <a:rPr lang="en-US" sz="780" b="1" i="0" u="none" strike="noStrike">
                <a:solidFill>
                  <a:srgbClr val="475569"/>
                </a:solidFill>
                <a:latin typeface="Noto Sans SC"/>
                <a:ea typeface="Noto Sans SC"/>
                <a:cs typeface="Noto Sans SC"/>
                <a:sym typeface="Noto Sans SC"/>
              </a:rPr>
              <a:t>Sample covers ~17% of full dataset (97,950 / 581,012)</a:t>
            </a:r>
            <a:endParaRPr lang="en-US" sz="780" b="1" i="0" u="none" strike="noStrike">
              <a:solidFill>
                <a:srgbClr val="475569"/>
              </a:solidFill>
              <a:latin typeface="Noto Sans SC"/>
              <a:ea typeface="Noto Sans SC"/>
              <a:cs typeface="Noto Sans SC"/>
              <a:sym typeface="Noto Sans SC"/>
            </a:endParaRPr>
          </a:p>
          <a:p>
            <a:pPr marL="190500" indent="-127000">
              <a:buChar char="•"/>
            </a:pPr>
            <a:r>
              <a:rPr lang="en-US" sz="780" b="1" i="0" u="none" strike="noStrike">
                <a:solidFill>
                  <a:srgbClr val="475569"/>
                </a:solidFill>
                <a:latin typeface="Noto Sans SC"/>
                <a:ea typeface="Noto Sans SC"/>
                <a:cs typeface="Noto Sans SC"/>
                <a:sym typeface="Noto Sans SC"/>
              </a:rPr>
              <a:t>Bootstrap CIs do NOT overlap; McNemar p&lt;0.001 confirms RF &gt; HGB</a:t>
            </a:r>
            <a:endParaRPr lang="en-US" sz="780" b="1" i="0" u="none" strike="noStrike">
              <a:solidFill>
                <a:srgbClr val="475569"/>
              </a:solidFill>
              <a:latin typeface="Noto Sans SC"/>
              <a:ea typeface="Noto Sans SC"/>
              <a:cs typeface="Noto Sans SC"/>
              <a:sym typeface="Noto Sans SC"/>
            </a:endParaRPr>
          </a:p>
          <a:p>
            <a:pPr marL="190500" indent="-127000">
              <a:buChar char="•"/>
            </a:pPr>
            <a:r>
              <a:rPr lang="en-US" sz="780" b="1" i="0" u="none" strike="noStrike">
                <a:solidFill>
                  <a:srgbClr val="475569"/>
                </a:solidFill>
                <a:latin typeface="Noto Sans SC"/>
                <a:ea typeface="Noto Sans SC"/>
                <a:cs typeface="Noto Sans SC"/>
                <a:sym typeface="Noto Sans SC"/>
              </a:rPr>
              <a:t>Full-data SOTA (gradient boosting): 0.95–0.96 accuracy — a gap remains</a:t>
            </a:r>
            <a:endParaRPr lang="en-US" sz="780" b="1" i="0" u="none" strike="noStrike">
              <a:solidFill>
                <a:srgbClr val="475569"/>
              </a:solidFill>
              <a:latin typeface="Noto Sans SC"/>
              <a:ea typeface="Noto Sans SC"/>
              <a:cs typeface="Noto Sans SC"/>
              <a:sym typeface="Noto Sans SC"/>
            </a:endParaRPr>
          </a:p>
          <a:p>
            <a:pPr marL="190500" indent="-127000">
              <a:buChar char="•"/>
            </a:pPr>
            <a:r>
              <a:rPr lang="en-US" sz="780" b="1" i="0" u="none" strike="noStrike">
                <a:solidFill>
                  <a:srgbClr val="475569"/>
                </a:solidFill>
                <a:latin typeface="Noto Sans SC"/>
                <a:ea typeface="Noto Sans SC"/>
                <a:cs typeface="Noto Sans SC"/>
                <a:sym typeface="Noto Sans SC"/>
              </a:rPr>
              <a:t>30k-subset tuning degrades all model classes; Optuna Bayesian optimization tested (DT only); AutoML on ensemble models not explored</a:t>
            </a:r>
            <a:endParaRPr lang="en-US" sz="780" b="1" i="0" u="none" strike="noStrike">
              <a:solidFill>
                <a:srgbClr val="475569"/>
              </a:solidFill>
              <a:latin typeface="Noto Sans SC"/>
              <a:ea typeface="Noto Sans SC"/>
              <a:cs typeface="Noto Sans SC"/>
              <a:sym typeface="Noto Sans SC"/>
            </a:endParaRPr>
          </a:p>
          <a:p>
            <a:pPr marL="190500" indent="-127000">
              <a:buChar char="•"/>
            </a:pPr>
            <a:r>
              <a:rPr lang="en-US" sz="780" b="1" i="0" u="none" strike="noStrike">
                <a:solidFill>
                  <a:srgbClr val="475569"/>
                </a:solidFill>
                <a:latin typeface="Noto Sans SC"/>
                <a:ea typeface="Noto Sans SC"/>
                <a:cs typeface="Noto Sans SC"/>
                <a:sym typeface="Noto Sans SC"/>
              </a:rPr>
              <a:t>t-SNE distorts global distances; PCA verification provided</a:t>
            </a:r>
            <a:endParaRPr lang="en-US" sz="780" b="1" i="0" u="none" strike="noStrike">
              <a:solidFill>
                <a:srgbClr val="475569"/>
              </a:solidFill>
              <a:latin typeface="Noto Sans SC"/>
              <a:ea typeface="Noto Sans SC"/>
              <a:cs typeface="Noto Sans SC"/>
              <a:sym typeface="Noto Sans SC"/>
            </a:endParaRPr>
          </a:p>
        </p:txBody>
      </p:sp>
      <p:sp>
        <p:nvSpPr>
          <p:cNvPr id="15" name="AutoShape 15"/>
          <p:cNvSpPr/>
          <p:nvPr/>
        </p:nvSpPr>
        <p:spPr>
          <a:xfrm>
            <a:off x="761998" y="4089400"/>
            <a:ext cx="10477501" cy="2603500"/>
          </a:xfrm>
          <a:prstGeom prst="roundRect">
            <a:avLst>
              <a:gd name="adj" fmla="val 0"/>
            </a:avLst>
          </a:prstGeom>
          <a:solidFill>
            <a:srgbClr val="FFFFFF">
              <a:alpha val="50000"/>
            </a:srgbClr>
          </a:solidFill>
          <a:ln w="12700" cap="flat" cmpd="sng">
            <a:solidFill>
              <a:srgbClr val="22543D">
                <a:alpha val="2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952499" y="41402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22543D"/>
                </a:solidFill>
                <a:latin typeface="Noto Sans SC"/>
                <a:ea typeface="Noto Sans SC"/>
                <a:cs typeface="Noto Sans SC"/>
                <a:sym typeface="Noto Sans SC"/>
              </a:rPr>
              <a:t>Future Work Outlook</a:t>
            </a:r>
            <a:endParaRPr lang="en-US" sz="1100" dirty="0"/>
          </a:p>
        </p:txBody>
      </p:sp>
      <p:sp>
        <p:nvSpPr>
          <p:cNvPr id="17" name="AutoShape 17"/>
          <p:cNvSpPr/>
          <p:nvPr/>
        </p:nvSpPr>
        <p:spPr>
          <a:xfrm>
            <a:off x="956128" y="4679950"/>
            <a:ext cx="508000" cy="38100"/>
          </a:xfrm>
          <a:prstGeom prst="roundRect">
            <a:avLst>
              <a:gd name="adj" fmla="val 0"/>
            </a:avLst>
          </a:prstGeom>
          <a:solidFill>
            <a:srgbClr val="22543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499" y="4908550"/>
            <a:ext cx="279400" cy="279400"/>
          </a:xfrm>
          <a:prstGeom prst="rect">
            <a:avLst/>
          </a:prstGeom>
        </p:spPr>
      </p:pic>
      <p:sp>
        <p:nvSpPr>
          <p:cNvPr id="19" name="AutoShape 19"/>
          <p:cNvSpPr/>
          <p:nvPr/>
        </p:nvSpPr>
        <p:spPr>
          <a:xfrm>
            <a:off x="1371599" y="487045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F2937"/>
                </a:solidFill>
                <a:latin typeface="Noto Sans SC"/>
                <a:ea typeface="Noto Sans SC"/>
                <a:cs typeface="Noto Sans SC"/>
                <a:sym typeface="Noto Sans SC"/>
              </a:rPr>
              <a:t>Deepen Feature Engineering &amp; Mining</a:t>
            </a:r>
            <a:br>
              <a:rPr lang="en-US" sz="12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Construct diverse feature combinations (terrain, climate, environment) to explore deeper data relationships and enhance the model's information extraction capabilities.</a:t>
            </a:r>
            <a:endParaRPr lang="en-US" sz="1100"/>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1657" y="5721350"/>
            <a:ext cx="279400" cy="279400"/>
          </a:xfrm>
          <a:prstGeom prst="rect">
            <a:avLst/>
          </a:prstGeom>
        </p:spPr>
      </p:pic>
      <p:sp>
        <p:nvSpPr>
          <p:cNvPr id="21" name="AutoShape 21"/>
          <p:cNvSpPr/>
          <p:nvPr/>
        </p:nvSpPr>
        <p:spPr>
          <a:xfrm>
            <a:off x="1340757" y="568325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F2937"/>
                </a:solidFill>
                <a:latin typeface="Noto Sans SC"/>
                <a:ea typeface="Noto Sans SC"/>
                <a:cs typeface="Noto Sans SC"/>
                <a:sym typeface="Noto Sans SC"/>
              </a:rPr>
              <a:t>Refine Hyperparameter Tuning</a:t>
            </a:r>
            <a:br>
              <a:rPr lang="en-US" sz="12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Utilize grid search and Bayesian optimization to fine-tune hyperparameters (depth, nodes) of the Random Forest, releasing the model's full potential.</a:t>
            </a:r>
            <a:endParaRPr lang="en-US" sz="1100"/>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778499" y="4946650"/>
            <a:ext cx="279400" cy="279400"/>
          </a:xfrm>
          <a:prstGeom prst="rect">
            <a:avLst/>
          </a:prstGeom>
        </p:spPr>
      </p:pic>
      <p:sp>
        <p:nvSpPr>
          <p:cNvPr id="23" name="AutoShape 23"/>
          <p:cNvSpPr/>
          <p:nvPr/>
        </p:nvSpPr>
        <p:spPr>
          <a:xfrm>
            <a:off x="6197599" y="490855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F2937"/>
                </a:solidFill>
                <a:latin typeface="Noto Sans SC"/>
                <a:ea typeface="Noto Sans SC"/>
                <a:cs typeface="Noto Sans SC"/>
                <a:sym typeface="Noto Sans SC"/>
              </a:rPr>
              <a:t>Explore Multi-model Fusion Strategies</a:t>
            </a:r>
            <a:br>
              <a:rPr lang="en-US" sz="12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Experiment with stacking and weighted voting to combine multiple models, leveraging different algorithms' strengths to reduce bias and enhance robustness.</a:t>
            </a:r>
            <a:endParaRPr lang="en-US" sz="1100"/>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778499" y="5683250"/>
            <a:ext cx="279400" cy="279400"/>
          </a:xfrm>
          <a:prstGeom prst="rect">
            <a:avLst/>
          </a:prstGeom>
        </p:spPr>
      </p:pic>
      <p:sp>
        <p:nvSpPr>
          <p:cNvPr id="25" name="AutoShape 25"/>
          <p:cNvSpPr/>
          <p:nvPr/>
        </p:nvSpPr>
        <p:spPr>
          <a:xfrm>
            <a:off x="6197599" y="564515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F2937"/>
                </a:solidFill>
                <a:latin typeface="Noto Sans SC"/>
                <a:ea typeface="Noto Sans SC"/>
                <a:cs typeface="Noto Sans SC"/>
                <a:sym typeface="Noto Sans SC"/>
              </a:rPr>
              <a:t>Optimize for Minority Classes</a:t>
            </a:r>
            <a:br>
              <a:rPr lang="en-US" sz="12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Introduce SMOTE oversampling and class weight adjustment to solve sample imbalance, improving recognition accuracy and recall for minority classes.</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HD Forest Wallpapers - Top Free HD Forest Backgrounds - WallpaperAccess">
            <a:extLst>
              <a:ext uri="{FF2B5EF4-FFF2-40B4-BE49-F238E27FC236}">
                <a16:creationId xmlns:a16="http://schemas.microsoft.com/office/drawing/2014/main" id="{7B026019-6075-3CFA-D560-EBD80A4C3628}"/>
              </a:ext>
            </a:extLst>
          </p:cNvPr>
          <p:cNvPicPr>
            <a:picLocks noChangeAspect="1"/>
          </p:cNvPicPr>
          <p:nvPr/>
        </p:nvPicPr>
        <p:blipFill>
          <a:blip r:embed="rId3"/>
          <a:stretch>
            <a:fillRect/>
          </a:stretch>
        </p:blipFill>
        <p:spPr>
          <a:xfrm>
            <a:off x="-116920" y="-65768"/>
            <a:ext cx="12425839" cy="6989535"/>
          </a:xfrm>
          <a:prstGeom prst="rect">
            <a:avLst/>
          </a:prstGeom>
        </p:spPr>
      </p:pic>
      <p:sp>
        <p:nvSpPr>
          <p:cNvPr id="3" name="AutoShape 3"/>
          <p:cNvSpPr/>
          <p:nvPr/>
        </p:nvSpPr>
        <p:spPr>
          <a:xfrm>
            <a:off x="6096000" y="3175000"/>
            <a:ext cx="6096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a:ea typeface="Noto Sans SC"/>
                <a:cs typeface="Noto Sans SC"/>
                <a:sym typeface="Noto Sans SC"/>
              </a:rPr>
              <a:t>Q&amp;A</a:t>
            </a:r>
            <a:endParaRPr lang="en-US" sz="1100"/>
          </a:p>
        </p:txBody>
      </p:sp>
      <p:sp>
        <p:nvSpPr>
          <p:cNvPr id="4" name="AutoShape 4"/>
          <p:cNvSpPr/>
          <p:nvPr/>
        </p:nvSpPr>
        <p:spPr>
          <a:xfrm>
            <a:off x="6096000" y="4445000"/>
            <a:ext cx="6096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0" i="0" u="none" strike="noStrike">
                <a:solidFill>
                  <a:srgbClr val="FFFFFF">
                    <a:alpha val="92157"/>
                  </a:srgbClr>
                </a:solidFill>
                <a:latin typeface="Noto Sans SC"/>
                <a:ea typeface="Noto Sans SC"/>
                <a:cs typeface="Noto Sans SC"/>
                <a:sym typeface="Noto Sans SC"/>
              </a:rPr>
              <a:t>Thank You</a:t>
            </a:r>
            <a:endParaRPr lang="en-US" sz="1100"/>
          </a:p>
        </p:txBody>
      </p:sp>
      <p:sp>
        <p:nvSpPr>
          <p:cNvPr id="5" name="AutoShape 5"/>
          <p:cNvSpPr/>
          <p:nvPr/>
        </p:nvSpPr>
        <p:spPr>
          <a:xfrm>
            <a:off x="6096000" y="5397500"/>
            <a:ext cx="6096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alpha val="65098"/>
                  </a:srgbClr>
                </a:solidFill>
                <a:latin typeface="Noto Sans SC"/>
                <a:ea typeface="Noto Sans SC"/>
                <a:cs typeface="Noto Sans SC"/>
                <a:sym typeface="Noto Sans SC"/>
              </a:rPr>
              <a:t>Welcome questions and discussions</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885</TotalTime>
  <Words>5525</Words>
  <Application>Microsoft Office PowerPoint</Application>
  <PresentationFormat>宽屏</PresentationFormat>
  <Paragraphs>311</Paragraphs>
  <Slides>15</Slides>
  <Notes>15</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15</vt:i4>
      </vt:variant>
    </vt:vector>
  </HeadingPairs>
  <TitlesOfParts>
    <vt:vector size="22" baseType="lpstr">
      <vt:lpstr>Noto Sans SC</vt:lpstr>
      <vt:lpstr>quote-cjk-patch</vt:lpstr>
      <vt:lpstr>Arial</vt:lpstr>
      <vt:lpstr>Cambria Math</vt:lpstr>
      <vt:lpstr>Poppins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zey DU</cp:lastModifiedBy>
  <cp:revision>20</cp:revision>
  <dcterms:modified xsi:type="dcterms:W3CDTF">2026-07-25T14:35:05Z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{"Label":"1","ContentProducer":"001191110102MACQD9K64010000","ProduceID":"7664869132844682202","ReservedCode1":"","ContentPropagator":"","PropagateID":"","ReservedCode2":""}</vt:lpwstr>
  </property>
</Properties>
</file>