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29768" y="621792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</a:rPr>
              <a:t>Student dropout risk analysis with reproducible ML workflow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05256"/>
            <a:ext cx="11384280" cy="0"/>
          </a:xfrm>
          <a:prstGeom prst="line">
            <a:avLst/>
          </a:prstGeom>
          <a:noFill/>
          <a:ln w="9525">
            <a:solidFill>
              <a:srgbClr val="D7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133856"/>
            <a:ext cx="1783080" cy="749808"/>
          </a:xfrm>
          <a:prstGeom prst="roundRect">
            <a:avLst>
              <a:gd name="adj" fmla="val 4878"/>
            </a:avLst>
          </a:prstGeom>
          <a:solidFill>
            <a:srgbClr val="F6F8FA"/>
          </a:solidFill>
          <a:ln w="7620">
            <a:solidFill>
              <a:srgbClr val="D7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2527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9F"/>
                </a:solidFill>
              </a:rPr>
              <a:t>4424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157276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</a:rPr>
              <a:t>Students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23744" y="1133856"/>
            <a:ext cx="1783080" cy="749808"/>
          </a:xfrm>
          <a:prstGeom prst="roundRect">
            <a:avLst>
              <a:gd name="adj" fmla="val 4878"/>
            </a:avLst>
          </a:prstGeom>
          <a:solidFill>
            <a:srgbClr val="F6F8FA"/>
          </a:solidFill>
          <a:ln w="7620">
            <a:solidFill>
              <a:srgbClr val="D7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12527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666E"/>
                </a:solidFill>
              </a:rPr>
              <a:t>36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33472" y="157276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</a:rPr>
              <a:t>Raw features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480560" y="1133856"/>
            <a:ext cx="1783080" cy="749808"/>
          </a:xfrm>
          <a:prstGeom prst="roundRect">
            <a:avLst>
              <a:gd name="adj" fmla="val 4878"/>
            </a:avLst>
          </a:prstGeom>
          <a:solidFill>
            <a:srgbClr val="F6F8FA"/>
          </a:solidFill>
          <a:ln w="7620">
            <a:solidFill>
              <a:srgbClr val="D7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2527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A5B"/>
                </a:solidFill>
              </a:rPr>
              <a:t>96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0288" y="157276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</a:rPr>
              <a:t>Processed features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58368" y="2176272"/>
            <a:ext cx="5257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1F2933"/>
                </a:solidFill>
              </a:rPr>
              <a:t>Target distribution: Dropout 1421, Enrolled 794, Graduate 2209.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2706624"/>
            <a:ext cx="5257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1F2933"/>
                </a:solidFill>
              </a:rPr>
              <a:t>Pipeline: preprocessing, t-SNE, clustering, binary prediction, validation, open exploration.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3236976"/>
            <a:ext cx="5257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1F2933"/>
                </a:solidFill>
              </a:rPr>
              <a:t>Main supervised task: detect Dropout against Graduate after excluding uncertain Enrolled labels.</a:t>
            </a:r>
            <a:endParaRPr lang="en-US" sz="1100" dirty="0"/>
          </a:p>
        </p:txBody>
      </p:sp>
      <p:pic>
        <p:nvPicPr>
          <p:cNvPr id="17" name="Image 0" descr="/home/nyz/dsaa2011/figures/targe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93982"/>
            <a:ext cx="5074920" cy="327917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464040" y="64739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0"/>
                </a:solidFill>
              </a:rPr>
              <a:t>DSAA2011 Student Dropout Reference | 1/6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t-SNE &amp; Clustering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29768" y="621792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</a:rPr>
              <a:t>Local structure is visible, but true labels remain strongly overlapped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05256"/>
            <a:ext cx="11384280" cy="0"/>
          </a:xfrm>
          <a:prstGeom prst="line">
            <a:avLst/>
          </a:prstGeom>
          <a:noFill/>
          <a:ln w="9525">
            <a:solidFill>
              <a:srgbClr val="D7DEE7"/>
            </a:solidFill>
            <a:prstDash val="solid"/>
          </a:ln>
        </p:spPr>
      </p:sp>
      <p:pic>
        <p:nvPicPr>
          <p:cNvPr id="5" name="Image 0" descr="/home/nyz/dsaa2011/figures/tsne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61593"/>
            <a:ext cx="5166360" cy="3995318"/>
          </a:xfrm>
          <a:prstGeom prst="rect">
            <a:avLst/>
          </a:prstGeom>
        </p:spPr>
      </p:pic>
      <p:pic>
        <p:nvPicPr>
          <p:cNvPr id="6" name="Image 1" descr="/home/nyz/dsaa2011/figures/clustering_ts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2" y="1174177"/>
            <a:ext cx="5870448" cy="245224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43600" y="4041648"/>
            <a:ext cx="1417320" cy="329184"/>
          </a:xfrm>
          <a:prstGeom prst="rect">
            <a:avLst/>
          </a:prstGeom>
          <a:solidFill>
            <a:srgbClr val="E9EEF5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98464" y="4114800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F2933"/>
                </a:solidFill>
              </a:rPr>
              <a:t>Algorithm</a:t>
            </a:r>
            <a:endParaRPr lang="en-US" sz="780" dirty="0"/>
          </a:p>
        </p:txBody>
      </p:sp>
      <p:sp>
        <p:nvSpPr>
          <p:cNvPr id="9" name="Shape 5"/>
          <p:cNvSpPr/>
          <p:nvPr/>
        </p:nvSpPr>
        <p:spPr>
          <a:xfrm>
            <a:off x="7360920" y="4041648"/>
            <a:ext cx="411480" cy="329184"/>
          </a:xfrm>
          <a:prstGeom prst="rect">
            <a:avLst/>
          </a:prstGeom>
          <a:solidFill>
            <a:srgbClr val="E9EEF5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415784" y="4114800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F2933"/>
                </a:solidFill>
              </a:rPr>
              <a:t>K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7772400" y="4041648"/>
            <a:ext cx="658368" cy="329184"/>
          </a:xfrm>
          <a:prstGeom prst="rect">
            <a:avLst/>
          </a:prstGeom>
          <a:solidFill>
            <a:srgbClr val="E9EEF5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27264" y="4114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F2933"/>
                </a:solidFill>
              </a:rPr>
              <a:t>Sil.</a:t>
            </a:r>
            <a:endParaRPr lang="en-US" sz="780" dirty="0"/>
          </a:p>
        </p:txBody>
      </p:sp>
      <p:sp>
        <p:nvSpPr>
          <p:cNvPr id="13" name="Shape 9"/>
          <p:cNvSpPr/>
          <p:nvPr/>
        </p:nvSpPr>
        <p:spPr>
          <a:xfrm>
            <a:off x="8430768" y="4041648"/>
            <a:ext cx="658368" cy="329184"/>
          </a:xfrm>
          <a:prstGeom prst="rect">
            <a:avLst/>
          </a:prstGeom>
          <a:solidFill>
            <a:srgbClr val="E9EEF5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485632" y="4114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F2933"/>
                </a:solidFill>
              </a:rPr>
              <a:t>ARI</a:t>
            </a:r>
            <a:endParaRPr lang="en-US" sz="780" dirty="0"/>
          </a:p>
        </p:txBody>
      </p:sp>
      <p:sp>
        <p:nvSpPr>
          <p:cNvPr id="15" name="Shape 11"/>
          <p:cNvSpPr/>
          <p:nvPr/>
        </p:nvSpPr>
        <p:spPr>
          <a:xfrm>
            <a:off x="5943600" y="4370832"/>
            <a:ext cx="1417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98464" y="4443984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3"/>
                </a:solidFill>
              </a:rPr>
              <a:t>K-Means</a:t>
            </a:r>
            <a:endParaRPr lang="en-US" sz="740" dirty="0"/>
          </a:p>
        </p:txBody>
      </p:sp>
      <p:sp>
        <p:nvSpPr>
          <p:cNvPr id="17" name="Shape 13"/>
          <p:cNvSpPr/>
          <p:nvPr/>
        </p:nvSpPr>
        <p:spPr>
          <a:xfrm>
            <a:off x="7360920" y="4370832"/>
            <a:ext cx="411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415784" y="444398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3"/>
                </a:solidFill>
              </a:rPr>
              <a:t>2</a:t>
            </a:r>
            <a:endParaRPr lang="en-US" sz="740" dirty="0"/>
          </a:p>
        </p:txBody>
      </p:sp>
      <p:sp>
        <p:nvSpPr>
          <p:cNvPr id="19" name="Shape 15"/>
          <p:cNvSpPr/>
          <p:nvPr/>
        </p:nvSpPr>
        <p:spPr>
          <a:xfrm>
            <a:off x="7772400" y="4370832"/>
            <a:ext cx="6583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827264" y="4443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3"/>
                </a:solidFill>
              </a:rPr>
              <a:t>0.111</a:t>
            </a:r>
            <a:endParaRPr lang="en-US" sz="740" dirty="0"/>
          </a:p>
        </p:txBody>
      </p:sp>
      <p:sp>
        <p:nvSpPr>
          <p:cNvPr id="21" name="Shape 17"/>
          <p:cNvSpPr/>
          <p:nvPr/>
        </p:nvSpPr>
        <p:spPr>
          <a:xfrm>
            <a:off x="8430768" y="4370832"/>
            <a:ext cx="6583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485632" y="4443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3"/>
                </a:solidFill>
              </a:rPr>
              <a:t>0.072</a:t>
            </a:r>
            <a:endParaRPr lang="en-US" sz="740" dirty="0"/>
          </a:p>
        </p:txBody>
      </p:sp>
      <p:sp>
        <p:nvSpPr>
          <p:cNvPr id="23" name="Shape 19"/>
          <p:cNvSpPr/>
          <p:nvPr/>
        </p:nvSpPr>
        <p:spPr>
          <a:xfrm>
            <a:off x="5943600" y="4700016"/>
            <a:ext cx="1417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998464" y="4773168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3"/>
                </a:solidFill>
              </a:rPr>
              <a:t>Ward</a:t>
            </a:r>
            <a:endParaRPr lang="en-US" sz="740" dirty="0"/>
          </a:p>
        </p:txBody>
      </p:sp>
      <p:sp>
        <p:nvSpPr>
          <p:cNvPr id="25" name="Shape 21"/>
          <p:cNvSpPr/>
          <p:nvPr/>
        </p:nvSpPr>
        <p:spPr>
          <a:xfrm>
            <a:off x="7360920" y="4700016"/>
            <a:ext cx="411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415784" y="4773168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3"/>
                </a:solidFill>
              </a:rPr>
              <a:t>2</a:t>
            </a:r>
            <a:endParaRPr lang="en-US" sz="740" dirty="0"/>
          </a:p>
        </p:txBody>
      </p:sp>
      <p:sp>
        <p:nvSpPr>
          <p:cNvPr id="27" name="Shape 23"/>
          <p:cNvSpPr/>
          <p:nvPr/>
        </p:nvSpPr>
        <p:spPr>
          <a:xfrm>
            <a:off x="7772400" y="4700016"/>
            <a:ext cx="6583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827264" y="47731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3"/>
                </a:solidFill>
              </a:rPr>
              <a:t>0.411</a:t>
            </a:r>
            <a:endParaRPr lang="en-US" sz="740" dirty="0"/>
          </a:p>
        </p:txBody>
      </p:sp>
      <p:sp>
        <p:nvSpPr>
          <p:cNvPr id="29" name="Shape 25"/>
          <p:cNvSpPr/>
          <p:nvPr/>
        </p:nvSpPr>
        <p:spPr>
          <a:xfrm>
            <a:off x="8430768" y="4700016"/>
            <a:ext cx="6583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485632" y="47731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3"/>
                </a:solidFill>
              </a:rPr>
              <a:t>0.001</a:t>
            </a:r>
            <a:endParaRPr lang="en-US" sz="740" dirty="0"/>
          </a:p>
        </p:txBody>
      </p:sp>
      <p:sp>
        <p:nvSpPr>
          <p:cNvPr id="31" name="Text 27"/>
          <p:cNvSpPr/>
          <p:nvPr/>
        </p:nvSpPr>
        <p:spPr>
          <a:xfrm>
            <a:off x="9253728" y="4041648"/>
            <a:ext cx="221284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1F2933"/>
                </a:solidFill>
              </a:rPr>
              <a:t>Both methods select K=2, suggesting a coarse high-risk vs lower-risk split.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9253728" y="4498848"/>
            <a:ext cx="221284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1F2933"/>
                </a:solidFill>
              </a:rPr>
              <a:t>Ward has stronger internal separation; K-Means aligns better with true labels by ARI.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9253728" y="4956048"/>
            <a:ext cx="221284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1F2933"/>
                </a:solidFill>
              </a:rPr>
              <a:t>Low ARI confirms that natural clusters are not equivalent to academic outcomes.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9464040" y="64739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0"/>
                </a:solidFill>
              </a:rPr>
              <a:t>DSAA2011 Student Dropout Reference | 2/6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Prediction Results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29768" y="621792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</a:rPr>
              <a:t>Confusion matrices for train, test, and full binary data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05256"/>
            <a:ext cx="11384280" cy="0"/>
          </a:xfrm>
          <a:prstGeom prst="line">
            <a:avLst/>
          </a:prstGeom>
          <a:noFill/>
          <a:ln w="9525">
            <a:solidFill>
              <a:srgbClr val="D7DEE7"/>
            </a:solidFill>
            <a:prstDash val="solid"/>
          </a:ln>
        </p:spPr>
      </p:sp>
      <p:pic>
        <p:nvPicPr>
          <p:cNvPr id="5" name="Image 0" descr="/home/nyz/dsaa2011/figures/confusion_logistic_re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47145"/>
            <a:ext cx="5559552" cy="1718958"/>
          </a:xfrm>
          <a:prstGeom prst="rect">
            <a:avLst/>
          </a:prstGeom>
        </p:spPr>
      </p:pic>
      <p:pic>
        <p:nvPicPr>
          <p:cNvPr id="6" name="Image 1" descr="/home/nyz/dsaa2011/figures/confusion_decision_tr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47145"/>
            <a:ext cx="5559552" cy="17189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4828032"/>
            <a:ext cx="10424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1F2933"/>
                </a:solidFill>
              </a:rPr>
              <a:t>Binary target: Dropout is positive, Graduate is negative.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868680" y="5212080"/>
            <a:ext cx="10424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1F2933"/>
                </a:solidFill>
              </a:rPr>
              <a:t>Logistic regression test matrix: 376 true Dropout detected, 50 missed.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68680" y="5596128"/>
            <a:ext cx="10424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1F2933"/>
                </a:solidFill>
              </a:rPr>
              <a:t>Decision tree test matrix: 342 true Dropout detected, 84 missed.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464040" y="64739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0"/>
                </a:solidFill>
              </a:rPr>
              <a:t>DSAA2011 Student Dropout Reference | 3/6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Evaluation &amp; Intervention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29768" y="621792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</a:rPr>
              <a:t>ROC/AUC plus coverage under limited advising capacity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05256"/>
            <a:ext cx="11384280" cy="0"/>
          </a:xfrm>
          <a:prstGeom prst="line">
            <a:avLst/>
          </a:prstGeom>
          <a:noFill/>
          <a:ln w="9525">
            <a:solidFill>
              <a:srgbClr val="D7DEE7"/>
            </a:solidFill>
            <a:prstDash val="solid"/>
          </a:ln>
        </p:spPr>
      </p:sp>
      <p:pic>
        <p:nvPicPr>
          <p:cNvPr id="5" name="Image 0" descr="/home/nyz/dsaa2011/figures/roc_lr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22218"/>
            <a:ext cx="4297680" cy="3516284"/>
          </a:xfrm>
          <a:prstGeom prst="rect">
            <a:avLst/>
          </a:prstGeom>
        </p:spPr>
      </p:pic>
      <p:pic>
        <p:nvPicPr>
          <p:cNvPr id="6" name="Image 1" descr="/home/nyz/dsaa2011/figures/intervention_coverage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78900"/>
            <a:ext cx="4343400" cy="180292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345168" y="1261872"/>
            <a:ext cx="786384" cy="393192"/>
          </a:xfrm>
          <a:prstGeom prst="rect">
            <a:avLst/>
          </a:prstGeom>
          <a:solidFill>
            <a:srgbClr val="E9EEF5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400032" y="1335024"/>
            <a:ext cx="676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F2933"/>
                </a:solidFill>
              </a:rPr>
              <a:t>Model</a:t>
            </a:r>
            <a:endParaRPr lang="en-US" sz="780" dirty="0"/>
          </a:p>
        </p:txBody>
      </p:sp>
      <p:sp>
        <p:nvSpPr>
          <p:cNvPr id="9" name="Shape 5"/>
          <p:cNvSpPr/>
          <p:nvPr/>
        </p:nvSpPr>
        <p:spPr>
          <a:xfrm>
            <a:off x="10131552" y="1261872"/>
            <a:ext cx="438912" cy="393192"/>
          </a:xfrm>
          <a:prstGeom prst="rect">
            <a:avLst/>
          </a:prstGeom>
          <a:solidFill>
            <a:srgbClr val="E9EEF5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186416" y="1335024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F2933"/>
                </a:solidFill>
              </a:rPr>
              <a:t>Acc.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10570464" y="1261872"/>
            <a:ext cx="512064" cy="393192"/>
          </a:xfrm>
          <a:prstGeom prst="rect">
            <a:avLst/>
          </a:prstGeom>
          <a:solidFill>
            <a:srgbClr val="E9EEF5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625328" y="1335024"/>
            <a:ext cx="4023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F2933"/>
                </a:solidFill>
              </a:rPr>
              <a:t>Recall</a:t>
            </a:r>
            <a:endParaRPr lang="en-US" sz="780" dirty="0"/>
          </a:p>
        </p:txBody>
      </p:sp>
      <p:sp>
        <p:nvSpPr>
          <p:cNvPr id="13" name="Shape 9"/>
          <p:cNvSpPr/>
          <p:nvPr/>
        </p:nvSpPr>
        <p:spPr>
          <a:xfrm>
            <a:off x="11082528" y="1261872"/>
            <a:ext cx="438912" cy="393192"/>
          </a:xfrm>
          <a:prstGeom prst="rect">
            <a:avLst/>
          </a:prstGeom>
          <a:solidFill>
            <a:srgbClr val="E9EEF5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137392" y="1335024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F2933"/>
                </a:solidFill>
              </a:rPr>
              <a:t>F1</a:t>
            </a:r>
            <a:endParaRPr lang="en-US" sz="780" dirty="0"/>
          </a:p>
        </p:txBody>
      </p:sp>
      <p:sp>
        <p:nvSpPr>
          <p:cNvPr id="15" name="Shape 11"/>
          <p:cNvSpPr/>
          <p:nvPr/>
        </p:nvSpPr>
        <p:spPr>
          <a:xfrm>
            <a:off x="11521440" y="1261872"/>
            <a:ext cx="438912" cy="393192"/>
          </a:xfrm>
          <a:prstGeom prst="rect">
            <a:avLst/>
          </a:prstGeom>
          <a:solidFill>
            <a:srgbClr val="E9EEF5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576304" y="1335024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F2933"/>
                </a:solidFill>
              </a:rPr>
              <a:t>AUC</a:t>
            </a:r>
            <a:endParaRPr lang="en-US" sz="780" dirty="0"/>
          </a:p>
        </p:txBody>
      </p:sp>
      <p:sp>
        <p:nvSpPr>
          <p:cNvPr id="17" name="Shape 13"/>
          <p:cNvSpPr/>
          <p:nvPr/>
        </p:nvSpPr>
        <p:spPr>
          <a:xfrm>
            <a:off x="9345168" y="1655064"/>
            <a:ext cx="786384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400032" y="1728216"/>
            <a:ext cx="676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3"/>
                </a:solidFill>
              </a:rPr>
              <a:t>Logistic</a:t>
            </a:r>
            <a:endParaRPr lang="en-US" sz="740" dirty="0"/>
          </a:p>
        </p:txBody>
      </p:sp>
      <p:sp>
        <p:nvSpPr>
          <p:cNvPr id="19" name="Shape 15"/>
          <p:cNvSpPr/>
          <p:nvPr/>
        </p:nvSpPr>
        <p:spPr>
          <a:xfrm>
            <a:off x="10131552" y="1655064"/>
            <a:ext cx="43891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186416" y="1728216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3"/>
                </a:solidFill>
              </a:rPr>
              <a:t>0.923</a:t>
            </a:r>
            <a:endParaRPr lang="en-US" sz="740" dirty="0"/>
          </a:p>
        </p:txBody>
      </p:sp>
      <p:sp>
        <p:nvSpPr>
          <p:cNvPr id="21" name="Shape 17"/>
          <p:cNvSpPr/>
          <p:nvPr/>
        </p:nvSpPr>
        <p:spPr>
          <a:xfrm>
            <a:off x="10570464" y="1655064"/>
            <a:ext cx="512064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625328" y="1728216"/>
            <a:ext cx="4023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3"/>
                </a:solidFill>
              </a:rPr>
              <a:t>0.883</a:t>
            </a:r>
            <a:endParaRPr lang="en-US" sz="740" dirty="0"/>
          </a:p>
        </p:txBody>
      </p:sp>
      <p:sp>
        <p:nvSpPr>
          <p:cNvPr id="23" name="Shape 19"/>
          <p:cNvSpPr/>
          <p:nvPr/>
        </p:nvSpPr>
        <p:spPr>
          <a:xfrm>
            <a:off x="11082528" y="1655064"/>
            <a:ext cx="43891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1137392" y="1728216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3"/>
                </a:solidFill>
              </a:rPr>
              <a:t>0.900</a:t>
            </a:r>
            <a:endParaRPr lang="en-US" sz="740" dirty="0"/>
          </a:p>
        </p:txBody>
      </p:sp>
      <p:sp>
        <p:nvSpPr>
          <p:cNvPr id="25" name="Shape 21"/>
          <p:cNvSpPr/>
          <p:nvPr/>
        </p:nvSpPr>
        <p:spPr>
          <a:xfrm>
            <a:off x="11521440" y="1655064"/>
            <a:ext cx="43891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576304" y="1728216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3"/>
                </a:solidFill>
              </a:rPr>
              <a:t>0.964</a:t>
            </a:r>
            <a:endParaRPr lang="en-US" sz="740" dirty="0"/>
          </a:p>
        </p:txBody>
      </p:sp>
      <p:sp>
        <p:nvSpPr>
          <p:cNvPr id="27" name="Shape 23"/>
          <p:cNvSpPr/>
          <p:nvPr/>
        </p:nvSpPr>
        <p:spPr>
          <a:xfrm>
            <a:off x="9345168" y="2048256"/>
            <a:ext cx="786384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400032" y="2121408"/>
            <a:ext cx="676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3"/>
                </a:solidFill>
              </a:rPr>
              <a:t>Tree</a:t>
            </a:r>
            <a:endParaRPr lang="en-US" sz="740" dirty="0"/>
          </a:p>
        </p:txBody>
      </p:sp>
      <p:sp>
        <p:nvSpPr>
          <p:cNvPr id="29" name="Shape 25"/>
          <p:cNvSpPr/>
          <p:nvPr/>
        </p:nvSpPr>
        <p:spPr>
          <a:xfrm>
            <a:off x="10131552" y="2048256"/>
            <a:ext cx="43891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0186416" y="2121408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3"/>
                </a:solidFill>
              </a:rPr>
              <a:t>0.894</a:t>
            </a:r>
            <a:endParaRPr lang="en-US" sz="740" dirty="0"/>
          </a:p>
        </p:txBody>
      </p:sp>
      <p:sp>
        <p:nvSpPr>
          <p:cNvPr id="31" name="Shape 27"/>
          <p:cNvSpPr/>
          <p:nvPr/>
        </p:nvSpPr>
        <p:spPr>
          <a:xfrm>
            <a:off x="10570464" y="2048256"/>
            <a:ext cx="512064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0625328" y="2121408"/>
            <a:ext cx="4023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3"/>
                </a:solidFill>
              </a:rPr>
              <a:t>0.803</a:t>
            </a:r>
            <a:endParaRPr lang="en-US" sz="740" dirty="0"/>
          </a:p>
        </p:txBody>
      </p:sp>
      <p:sp>
        <p:nvSpPr>
          <p:cNvPr id="33" name="Shape 29"/>
          <p:cNvSpPr/>
          <p:nvPr/>
        </p:nvSpPr>
        <p:spPr>
          <a:xfrm>
            <a:off x="11082528" y="2048256"/>
            <a:ext cx="43891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1137392" y="2121408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3"/>
                </a:solidFill>
              </a:rPr>
              <a:t>0.856</a:t>
            </a:r>
            <a:endParaRPr lang="en-US" sz="740" dirty="0"/>
          </a:p>
        </p:txBody>
      </p:sp>
      <p:sp>
        <p:nvSpPr>
          <p:cNvPr id="35" name="Shape 31"/>
          <p:cNvSpPr/>
          <p:nvPr/>
        </p:nvSpPr>
        <p:spPr>
          <a:xfrm>
            <a:off x="11521440" y="2048256"/>
            <a:ext cx="43891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1576304" y="2121408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3"/>
                </a:solidFill>
              </a:rPr>
              <a:t>0.906</a:t>
            </a:r>
            <a:endParaRPr lang="en-US" sz="740" dirty="0"/>
          </a:p>
        </p:txBody>
      </p:sp>
      <p:sp>
        <p:nvSpPr>
          <p:cNvPr id="37" name="Shape 33"/>
          <p:cNvSpPr/>
          <p:nvPr/>
        </p:nvSpPr>
        <p:spPr>
          <a:xfrm>
            <a:off x="9345168" y="2441448"/>
            <a:ext cx="786384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400032" y="2514600"/>
            <a:ext cx="676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3"/>
                </a:solidFill>
              </a:rPr>
              <a:t>RF tuned</a:t>
            </a:r>
            <a:endParaRPr lang="en-US" sz="740" dirty="0"/>
          </a:p>
        </p:txBody>
      </p:sp>
      <p:sp>
        <p:nvSpPr>
          <p:cNvPr id="39" name="Shape 35"/>
          <p:cNvSpPr/>
          <p:nvPr/>
        </p:nvSpPr>
        <p:spPr>
          <a:xfrm>
            <a:off x="10131552" y="2441448"/>
            <a:ext cx="43891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0186416" y="2514600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3"/>
                </a:solidFill>
              </a:rPr>
              <a:t>0.921</a:t>
            </a:r>
            <a:endParaRPr lang="en-US" sz="740" dirty="0"/>
          </a:p>
        </p:txBody>
      </p:sp>
      <p:sp>
        <p:nvSpPr>
          <p:cNvPr id="41" name="Shape 37"/>
          <p:cNvSpPr/>
          <p:nvPr/>
        </p:nvSpPr>
        <p:spPr>
          <a:xfrm>
            <a:off x="10570464" y="2441448"/>
            <a:ext cx="512064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10625328" y="2514600"/>
            <a:ext cx="4023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3"/>
                </a:solidFill>
              </a:rPr>
              <a:t>0.857</a:t>
            </a:r>
            <a:endParaRPr lang="en-US" sz="740" dirty="0"/>
          </a:p>
        </p:txBody>
      </p:sp>
      <p:sp>
        <p:nvSpPr>
          <p:cNvPr id="43" name="Shape 39"/>
          <p:cNvSpPr/>
          <p:nvPr/>
        </p:nvSpPr>
        <p:spPr>
          <a:xfrm>
            <a:off x="11082528" y="2441448"/>
            <a:ext cx="43891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11137392" y="2514600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3"/>
                </a:solidFill>
              </a:rPr>
              <a:t>0.895</a:t>
            </a:r>
            <a:endParaRPr lang="en-US" sz="740" dirty="0"/>
          </a:p>
        </p:txBody>
      </p:sp>
      <p:sp>
        <p:nvSpPr>
          <p:cNvPr id="45" name="Shape 41"/>
          <p:cNvSpPr/>
          <p:nvPr/>
        </p:nvSpPr>
        <p:spPr>
          <a:xfrm>
            <a:off x="11521440" y="2441448"/>
            <a:ext cx="43891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1576304" y="2514600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3"/>
                </a:solidFill>
              </a:rPr>
              <a:t>0.958</a:t>
            </a:r>
            <a:endParaRPr lang="en-US" sz="740" dirty="0"/>
          </a:p>
        </p:txBody>
      </p:sp>
      <p:sp>
        <p:nvSpPr>
          <p:cNvPr id="47" name="Text 43"/>
          <p:cNvSpPr/>
          <p:nvPr/>
        </p:nvSpPr>
        <p:spPr>
          <a:xfrm>
            <a:off x="804672" y="5010912"/>
            <a:ext cx="10607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1F2933"/>
                </a:solidFill>
              </a:rPr>
              <a:t>5-fold CV AUC: logistic 0.951±0.006, tree 0.914±0.004.</a:t>
            </a:r>
            <a:endParaRPr lang="en-US" sz="1100" dirty="0"/>
          </a:p>
        </p:txBody>
      </p:sp>
      <p:sp>
        <p:nvSpPr>
          <p:cNvPr id="48" name="Text 44"/>
          <p:cNvSpPr/>
          <p:nvPr/>
        </p:nvSpPr>
        <p:spPr>
          <a:xfrm>
            <a:off x="804672" y="5449824"/>
            <a:ext cx="10607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1F2933"/>
                </a:solidFill>
              </a:rPr>
              <a:t>Top 25% actionable first-semester follow-up covers 0.627 of true Dropout cases.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804672" y="5888736"/>
            <a:ext cx="10607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1F2933"/>
                </a:solidFill>
              </a:rPr>
              <a:t>Full second-semester model covers 0.638 at the same capacity, but is later for prevention.</a:t>
            </a:r>
            <a:endParaRPr lang="en-US" sz="1100" dirty="0"/>
          </a:p>
        </p:txBody>
      </p:sp>
      <p:sp>
        <p:nvSpPr>
          <p:cNvPr id="50" name="Text 46"/>
          <p:cNvSpPr/>
          <p:nvPr/>
        </p:nvSpPr>
        <p:spPr>
          <a:xfrm>
            <a:off x="9464040" y="64739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0"/>
                </a:solidFill>
              </a:rPr>
              <a:t>DSAA2011 Student Dropout Reference | 4/6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Early Warning &amp; Ablation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29768" y="621792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</a:rPr>
              <a:t>The first semester is the practical intervention window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05256"/>
            <a:ext cx="11384280" cy="0"/>
          </a:xfrm>
          <a:prstGeom prst="line">
            <a:avLst/>
          </a:prstGeom>
          <a:noFill/>
          <a:ln w="9525">
            <a:solidFill>
              <a:srgbClr val="D7DEE7"/>
            </a:solidFill>
            <a:prstDash val="solid"/>
          </a:ln>
        </p:spPr>
      </p:sp>
      <p:pic>
        <p:nvPicPr>
          <p:cNvPr id="5" name="Image 0" descr="/home/nyz/dsaa2011/figures/early_warning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38638"/>
            <a:ext cx="5440680" cy="2846867"/>
          </a:xfrm>
          <a:prstGeom prst="rect">
            <a:avLst/>
          </a:prstGeom>
        </p:spPr>
      </p:pic>
      <p:pic>
        <p:nvPicPr>
          <p:cNvPr id="6" name="Image 1" descr="/home/nyz/dsaa2011/figures/feature_abl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409163"/>
            <a:ext cx="5440680" cy="29058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5138928"/>
            <a:ext cx="10835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1F2933"/>
                </a:solidFill>
              </a:rPr>
              <a:t>Enrollment-only AUC 0.838 rises to 0.939 after first-semester data.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31520" y="5522976"/>
            <a:ext cx="10835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1F2933"/>
                </a:solidFill>
              </a:rPr>
              <a:t>Adding second-semester data reaches AUC 0.964, useful but later for intervention.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31520" y="5907024"/>
            <a:ext cx="10835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1F2933"/>
                </a:solidFill>
              </a:rPr>
              <a:t>Removing both semesters drops recall by 0.249; removing second semester drops AUC by 0.025.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464040" y="64739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0"/>
                </a:solidFill>
              </a:rPr>
              <a:t>DSAA2011 Student Dropout Reference | 5/6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Trustworthy Explanation &amp; Risk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29768" y="621792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</a:rPr>
              <a:t>Calibrated probability, uncertainty, and failure-mode analysis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05256"/>
            <a:ext cx="11384280" cy="0"/>
          </a:xfrm>
          <a:prstGeom prst="line">
            <a:avLst/>
          </a:prstGeom>
          <a:noFill/>
          <a:ln w="9525">
            <a:solidFill>
              <a:srgbClr val="D7DEE7"/>
            </a:solidFill>
            <a:prstDash val="solid"/>
          </a:ln>
        </p:spPr>
      </p:sp>
      <p:pic>
        <p:nvPicPr>
          <p:cNvPr id="5" name="Image 0" descr="/home/nyz/dsaa2011/figures/calibrated_model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46505"/>
            <a:ext cx="3886200" cy="3130550"/>
          </a:xfrm>
          <a:prstGeom prst="rect">
            <a:avLst/>
          </a:prstGeom>
        </p:spPr>
      </p:pic>
      <p:pic>
        <p:nvPicPr>
          <p:cNvPr id="6" name="Image 1" descr="/home/nyz/dsaa2011/figures/false_negative_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1577340"/>
            <a:ext cx="4526280" cy="2468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345168" y="1115568"/>
            <a:ext cx="2359152" cy="3310128"/>
          </a:xfrm>
          <a:prstGeom prst="rect">
            <a:avLst/>
          </a:prstGeom>
          <a:solidFill>
            <a:srgbClr val="F9FAFB"/>
          </a:solidFill>
          <a:ln w="8890">
            <a:solidFill>
              <a:srgbClr val="D7DEE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509760" y="1353312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Deployment Checks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9509760" y="1764792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A2E"/>
                </a:solidFill>
              </a:rPr>
              <a:t>0.057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509760" y="2139696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</a:rPr>
              <a:t>best Brier score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9509760" y="263347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13F4A"/>
                </a:solidFill>
              </a:rPr>
              <a:t>0.951-0.976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509760" y="2971800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B6770"/>
                </a:solidFill>
              </a:rPr>
              <a:t>LR AUC 95% CI</a:t>
            </a:r>
            <a:endParaRPr lang="en-US" sz="730" dirty="0"/>
          </a:p>
        </p:txBody>
      </p:sp>
      <p:sp>
        <p:nvSpPr>
          <p:cNvPr id="13" name="Text 9"/>
          <p:cNvSpPr/>
          <p:nvPr/>
        </p:nvSpPr>
        <p:spPr>
          <a:xfrm>
            <a:off x="9509760" y="341071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9F"/>
                </a:solidFill>
              </a:rPr>
              <a:t>50 FN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509760" y="3730752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B6770"/>
                </a:solidFill>
              </a:rPr>
              <a:t>missed Dropout cases</a:t>
            </a:r>
            <a:endParaRPr lang="en-US" sz="730" dirty="0"/>
          </a:p>
        </p:txBody>
      </p:sp>
      <p:sp>
        <p:nvSpPr>
          <p:cNvPr id="15" name="Text 11"/>
          <p:cNvSpPr/>
          <p:nvPr/>
        </p:nvSpPr>
        <p:spPr>
          <a:xfrm>
            <a:off x="804672" y="4956048"/>
            <a:ext cx="10607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1F2933"/>
                </a:solidFill>
              </a:rPr>
              <a:t>Counterfactual-style scenario: tuition up-to-date and +3 approved units lowers predicted risk by 0.166 on average.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04672" y="5376672"/>
            <a:ext cx="10607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1F2933"/>
                </a:solidFill>
              </a:rPr>
              <a:t>False negatives look stronger academically; top FN contrast is Curricular units 2nd sem (approved).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04672" y="5797296"/>
            <a:ext cx="10607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1F2933"/>
                </a:solidFill>
              </a:rPr>
              <a:t>本答案仅供参考评分标准，学生核心ML实现需独立完成。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22960" y="615391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B6770"/>
                </a:solidFill>
              </a:rPr>
              <a:t>Dataset: UCI Predict Students' Dropout and Academic Success | Tools: pandas, scikit-learn, matplotlib, seaborn, imbalanced-learn</a:t>
            </a:r>
            <a:endParaRPr lang="en-US" sz="720" dirty="0"/>
          </a:p>
        </p:txBody>
      </p:sp>
      <p:sp>
        <p:nvSpPr>
          <p:cNvPr id="19" name="Text 15"/>
          <p:cNvSpPr/>
          <p:nvPr/>
        </p:nvSpPr>
        <p:spPr>
          <a:xfrm>
            <a:off x="9464040" y="64739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0"/>
                </a:solidFill>
              </a:rPr>
              <a:t>DSAA2011 Student Dropout Reference | 6/6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HKUST(GZ)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DSAA2011 Student Dropout Project</dc:title>
  <dc:subject>Student Dropout Project</dc:subject>
  <dc:creator>DSAA2011 Teaching Reference</dc:creator>
  <cp:lastModifiedBy>DSAA2011 Teaching Reference</cp:lastModifiedBy>
  <cp:revision>1</cp:revision>
  <dcterms:created xsi:type="dcterms:W3CDTF">2026-06-25T09:23:18Z</dcterms:created>
  <dcterms:modified xsi:type="dcterms:W3CDTF">2026-06-25T09:23:18Z</dcterms:modified>
</cp:coreProperties>
</file>