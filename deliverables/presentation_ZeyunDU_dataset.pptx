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74" r:id="rId5"/>
    <p:sldId id="258" r:id="rId6"/>
    <p:sldId id="259" r:id="rId7"/>
    <p:sldId id="278" r:id="rId8"/>
    <p:sldId id="262" r:id="rId9"/>
    <p:sldId id="276" r:id="rId10"/>
    <p:sldId id="264" r:id="rId11"/>
    <p:sldId id="277" r:id="rId12"/>
    <p:sldId id="279" r:id="rId13"/>
    <p:sldId id="267" r:id="rId14"/>
    <p:sldId id="265" r:id="rId15"/>
    <p:sldId id="272" r:id="rId16"/>
    <p:sldId id="275"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0" autoAdjust="0"/>
    <p:restoredTop sz="97389"/>
  </p:normalViewPr>
  <p:slideViewPr>
    <p:cSldViewPr snapToGrid="0">
      <p:cViewPr varScale="1">
        <p:scale>
          <a:sx n="105" d="100"/>
          <a:sy n="105" d="100"/>
        </p:scale>
        <p:origin x="132" y="16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a:t>
            </a:r>
          </a:p>
          <a:p>
            <a:pPr marL="0" indent="0" algn="l">
              <a:lnSpc>
                <a:spcPct val="100000"/>
              </a:lnSpc>
            </a:pPr>
            <a:r>
              <a:rPr lang="en-US" sz="1400" b="0" i="0" u="none" strike="noStrike">
                <a:solidFill>
                  <a:srgbClr val="000000"/>
                </a:solidFill>
              </a:rPr>
              <a:t>I'm Alex Morgan, and today I'll be presenting my DSAA2011 Summer Project titled "Analysis and Prediction of Forest Cover Types".</a:t>
            </a:r>
          </a:p>
          <a:p>
            <a:pPr marL="0" indent="0" algn="l">
              <a:lnSpc>
                <a:spcPct val="100000"/>
              </a:lnSpc>
            </a:pPr>
            <a:r>
              <a:rPr lang="en-US" sz="1400" b="0" i="0" u="none" strike="noStrike">
                <a:solidFill>
                  <a:srgbClr val="000000"/>
                </a:solidFill>
              </a:rPr>
              <a:t>This project explores the application of machine learning algorithms to predict forest cover types based on cartographic variables, which has significant implications for ecological research and forest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introduces the UCI Forest Covertype dataset, a well-known benchmark in machine learning.</a:t>
            </a:r>
          </a:p>
          <a:p>
            <a:pPr marL="0" indent="0" algn="l">
              <a:lnSpc>
                <a:spcPct val="100000"/>
              </a:lnSpc>
            </a:pPr>
            <a:r>
              <a:rPr lang="en-US" sz="1400" b="0" i="0" u="none" strike="noStrike">
                <a:solidFill>
                  <a:srgbClr val="000000"/>
                </a:solidFill>
              </a:rPr>
              <a:t>Key highlights:</a:t>
            </a:r>
          </a:p>
          <a:p>
            <a:pPr marL="0" indent="0" algn="l">
              <a:lnSpc>
                <a:spcPct val="100000"/>
              </a:lnSpc>
            </a:pPr>
            <a:r>
              <a:rPr lang="en-US" sz="1400" b="0" i="0" u="none" strike="noStrike">
                <a:solidFill>
                  <a:srgbClr val="000000"/>
                </a:solidFill>
              </a:rPr>
              <a:t>1. **Scale**: With over 580,000 samples, it's a large dataset that tests model efficiency.</a:t>
            </a:r>
          </a:p>
          <a:p>
            <a:pPr marL="0" indent="0" algn="l">
              <a:lnSpc>
                <a:spcPct val="100000"/>
              </a:lnSpc>
            </a:pPr>
            <a:r>
              <a:rPr lang="en-US" sz="1400" b="0" i="0" u="none" strike="noStrike">
                <a:solidFill>
                  <a:srgbClr val="000000"/>
                </a:solidFill>
              </a:rPr>
              <a:t>2. **Features**: The 54 attributes are a mix of continuous environmental variables and categorical soil/wilderness indicators, providing rich spatial context.</a:t>
            </a:r>
          </a:p>
          <a:p>
            <a:pPr marL="0" indent="0" algn="l">
              <a:lnSpc>
                <a:spcPct val="100000"/>
              </a:lnSpc>
            </a:pPr>
            <a:r>
              <a:rPr lang="en-US" sz="1400" b="0" i="0" u="none" strike="noStrike">
                <a:solidFill>
                  <a:srgbClr val="000000"/>
                </a:solidFill>
              </a:rPr>
              <a:t>3. **Classes**: The goal is to predict one of seven forest cover types.</a:t>
            </a:r>
          </a:p>
          <a:p>
            <a:pPr marL="0" indent="0" algn="l">
              <a:lnSpc>
                <a:spcPct val="100000"/>
              </a:lnSpc>
            </a:pPr>
            <a:r>
              <a:rPr lang="en-US" sz="1400" b="0" i="0" u="none" strike="noStrike">
                <a:solidFill>
                  <a:srgbClr val="000000"/>
                </a:solidFill>
              </a:rPr>
              <a:t>4. **Challenge**: The most important aspect to note is the **class imbalance**. As seen in the chart, two classes (Spruce/Fir and Lodgepole Pine) make up the vast majority of the data, while others like Cottonwood/Willow are very rare. This imbalance is a critical factor to address during model training to avoid biased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give you a more intuitive understanding of our prediction targets, here are real photos of the seven forest cover types. From cold-tolerant spruce and fir, to tall and straight lodgepole pine and Douglas-fir, to the uniquely shaped krummholz, each tree adapts to a different ecological environment. Understanding these differences helps us grasp the significance of subsequent data analysis.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Before building any models, we thoroughly examined the dataset for preprocessing needs.</a:t>
            </a:r>
          </a:p>
          <a:p>
            <a:pPr marL="0" indent="0" algn="l">
              <a:lnSpc>
                <a:spcPct val="100000"/>
              </a:lnSpc>
            </a:pPr>
            <a:r>
              <a:rPr lang="en-US" sz="1400" b="0" i="0" u="none" strike="noStrike">
                <a:solidFill>
                  <a:srgbClr val="000000"/>
                </a:solidFill>
              </a:rPr>
              <a:t>First, the dataset is remarkably clean with zero missing values across all 54 features, which saves us from dealing with imputation complexities.</a:t>
            </a:r>
          </a:p>
          <a:p>
            <a:pPr marL="0" indent="0" algn="l">
              <a:lnSpc>
                <a:spcPct val="100000"/>
              </a:lnSpc>
            </a:pPr>
            <a:r>
              <a:rPr lang="en-US" sz="1400" b="0" i="0" u="none" strike="noStrike">
                <a:solidFill>
                  <a:srgbClr val="000000"/>
                </a:solidFill>
              </a:rPr>
              <a:t>Second, we have a mix of 10 continuous environmental variables (like elevation and slope) and 44 binary indicators (representing wilderness areas and soil types). Importantly, all data is already in numeric format, so we don't need to perform one-hot encoding.</a:t>
            </a:r>
          </a:p>
          <a:p>
            <a:pPr marL="0" indent="0" algn="l">
              <a:lnSpc>
                <a:spcPct val="100000"/>
              </a:lnSpc>
            </a:pPr>
            <a:r>
              <a:rPr lang="en-US" sz="1400" b="0" i="0" u="none" strike="noStrike">
                <a:solidFill>
                  <a:srgbClr val="000000"/>
                </a:solidFill>
              </a:rPr>
              <a:t>Finally, our preprocessing pipeline focuses on scaling: continuous features are standardized to a mean of 0 and standard deviation of 1 using StandardScaler to ensure they contribute equally to the model, while binary features are left as-is since scaling is unnecessary for 0/1 variables.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t-SNE visualization of the forest cover type dataset.</a:t>
            </a:r>
          </a:p>
          <a:p>
            <a:pPr marL="0" indent="0" algn="l">
              <a:lnSpc>
                <a:spcPct val="100000"/>
              </a:lnSpc>
            </a:pPr>
            <a:r>
              <a:rPr lang="en-US" sz="1400" b="0" i="0" u="none" strike="noStrike">
                <a:solidFill>
                  <a:srgbClr val="000000"/>
                </a:solidFill>
              </a:rPr>
              <a:t>t-SNE (t-Distributed Stochastic Neighbor Embedding) is a dimensionality reduction technique that is particularly well-suited for visualizing high-dimensional data in 2D or 3D space.</a:t>
            </a:r>
          </a:p>
          <a:p>
            <a:pPr marL="0" indent="0" algn="l">
              <a:lnSpc>
                <a:spcPct val="100000"/>
              </a:lnSpc>
            </a:pPr>
            <a:r>
              <a:rPr lang="en-US" sz="1400" b="0" i="0" u="none" strike="noStrike">
                <a:solidFill>
                  <a:srgbClr val="000000"/>
                </a:solidFill>
              </a:rPr>
              <a:t>Looking at the plot on the left, we can see the 7 different cover types projected onto a 2D plane, each represented by a different color.</a:t>
            </a:r>
          </a:p>
          <a:p>
            <a:pPr marL="0" indent="0" algn="l">
              <a:lnSpc>
                <a:spcPct val="100000"/>
              </a:lnSpc>
            </a:pPr>
            <a:r>
              <a:rPr lang="en-US" sz="1400" b="0" i="0" u="none" strike="noStrike">
                <a:solidFill>
                  <a:srgbClr val="000000"/>
                </a:solidFill>
              </a:rPr>
              <a:t>Key takeaways from this visualization:</a:t>
            </a:r>
          </a:p>
          <a:p>
            <a:pPr marL="0" indent="0" algn="l">
              <a:lnSpc>
                <a:spcPct val="100000"/>
              </a:lnSpc>
            </a:pPr>
            <a:r>
              <a:rPr lang="en-US" sz="1400" b="0" i="0" u="none" strike="noStrike">
                <a:solidFill>
                  <a:srgbClr val="000000"/>
                </a:solidFill>
              </a:rPr>
              <a:t>1. The sheer size of clusters 1 and 2 (Spruce/Fir and Lodgepole Pine) indicates they are the most common classes in the dataset.</a:t>
            </a:r>
          </a:p>
          <a:p>
            <a:pPr marL="0" indent="0" algn="l">
              <a:lnSpc>
                <a:spcPct val="100000"/>
              </a:lnSpc>
            </a:pPr>
            <a:r>
              <a:rPr lang="en-US" sz="1400" b="0" i="0" u="none" strike="noStrike">
                <a:solidFill>
                  <a:srgbClr val="000000"/>
                </a:solidFill>
              </a:rPr>
              <a:t>2. Class 4 (Cottonwood/Willow) is distinctly separated, which is likely due to its unique environmental requirements compared to the other coniferous-dominated classes.</a:t>
            </a:r>
          </a:p>
          <a:p>
            <a:pPr marL="0" indent="0" algn="l">
              <a:lnSpc>
                <a:spcPct val="100000"/>
              </a:lnSpc>
            </a:pPr>
            <a:r>
              <a:rPr lang="en-US" sz="1400" b="0" i="0" u="none" strike="noStrike">
                <a:solidFill>
                  <a:srgbClr val="000000"/>
                </a:solidFill>
              </a:rPr>
              <a:t>3. The overlap between classes 5 and 6 suggests that based on the input features, these two types are harder to distinguish, which is a common challenge in ecological datasets.</a:t>
            </a:r>
          </a:p>
          <a:p>
            <a:pPr marL="0" indent="0" algn="l">
              <a:lnSpc>
                <a:spcPct val="100000"/>
              </a:lnSpc>
            </a:pPr>
            <a:r>
              <a:rPr lang="en-US" sz="1400" b="0" i="0" u="none" strike="noStrike">
                <a:solidFill>
                  <a:srgbClr val="000000"/>
                </a:solidFill>
              </a:rPr>
              <a:t>4. This visualization confirms that the data has an inherent structure that is not linearly separable, supporting the use of more complex machine learning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4F5C-C67B-C79C-E1F0-34E39B3AA86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CB0BE1-7538-2B91-6090-C356BCED91C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DC0700B-AD87-41E6-30D7-BD2C4CA1090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73DF0E5-FE61-8148-ED28-76FED4E115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4A59C92-D39A-8FCA-9B73-E425EC5C6EE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two popular unsupervised clustering algorithms—K-Means and Hierarchical Clustering—applied to a t-SNE projection of high-dimensional ecological data.</a:t>
            </a:r>
          </a:p>
          <a:p>
            <a:pPr marL="0" indent="0" algn="l">
              <a:lnSpc>
                <a:spcPct val="100000"/>
              </a:lnSpc>
            </a:pPr>
            <a:r>
              <a:rPr lang="en-US" sz="1400" b="0" i="0" u="none" strike="noStrike">
                <a:solidFill>
                  <a:srgbClr val="000000"/>
                </a:solidFill>
              </a:rPr>
              <a:t>Looking at the image in the center, we see a side-by-side comparison. On the left, K-Means with K=3 successfully identifies three distinct natural groupings within the data, highlighting the presence of inherent substructures.</a:t>
            </a:r>
          </a:p>
          <a:p>
            <a:pPr marL="0" indent="0" algn="l">
              <a:lnSpc>
                <a:spcPct val="100000"/>
              </a:lnSpc>
            </a:pPr>
            <a:r>
              <a:rPr lang="en-US" sz="1400" b="0" i="0" u="none" strike="noStrike">
                <a:solidFill>
                  <a:srgbClr val="000000"/>
                </a:solidFill>
              </a:rPr>
              <a:t>On the right, Hierarchical Clustering using Ward's linkage merges these into two main super-clusters, which can be useful for understanding broader categorical separations.</a:t>
            </a:r>
          </a:p>
          <a:p>
            <a:pPr marL="0" indent="0" algn="l">
              <a:lnSpc>
                <a:spcPct val="100000"/>
              </a:lnSpc>
            </a:pPr>
            <a:r>
              <a:rPr lang="en-US" sz="1400" b="0" i="0" u="none" strike="noStrike">
                <a:solidFill>
                  <a:srgbClr val="000000"/>
                </a:solidFill>
              </a:rPr>
              <a:t>However, it's important to note that neither method fully recovers the true 7-class structure present in the original data. This limitation emphasizes why supervised learning is often necessary for tasks requiring precise, predefined class distinctions.</a:t>
            </a:r>
          </a:p>
          <a:p>
            <a:pPr marL="0" indent="0" algn="l">
              <a:lnSpc>
                <a:spcPct val="100000"/>
              </a:lnSpc>
            </a:pPr>
            <a:r>
              <a:rPr lang="en-US" sz="1400" b="0" i="0" u="none" strike="noStrike">
                <a:solidFill>
                  <a:srgbClr val="000000"/>
                </a:solidFill>
              </a:rPr>
              <a:t>Finally, we observe that the cluster boundaries align with elevation-based ecological zones, which adds biological validity to these unsupervised findings.</a:t>
            </a:r>
          </a:p>
        </p:txBody>
      </p:sp>
      <p:sp>
        <p:nvSpPr>
          <p:cNvPr id="6" name="Footer Placeholder 5">
            <a:extLst>
              <a:ext uri="{FF2B5EF4-FFF2-40B4-BE49-F238E27FC236}">
                <a16:creationId xmlns:a16="http://schemas.microsoft.com/office/drawing/2014/main" id="{07D8ED5E-0B42-66BD-CA44-567C7C6EBB2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6AC974-F43C-0F92-CBFF-4B275F5DE9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38126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look at the results of our model training.</a:t>
            </a:r>
          </a:p>
          <a:p>
            <a:pPr marL="0" indent="0" algn="l">
              <a:lnSpc>
                <a:spcPct val="100000"/>
              </a:lnSpc>
            </a:pPr>
            <a:r>
              <a:rPr lang="en-US" sz="1400" b="0" i="0" u="none" strike="noStrike">
                <a:solidFill>
                  <a:srgbClr val="000000"/>
                </a:solidFill>
              </a:rPr>
              <a:t>We compared two models: a baseline Logistic Regression and an optimized Decision Tree.</a:t>
            </a:r>
          </a:p>
          <a:p>
            <a:pPr marL="0" indent="0" algn="l">
              <a:lnSpc>
                <a:spcPct val="100000"/>
              </a:lnSpc>
            </a:pPr>
            <a:r>
              <a:rPr lang="en-US" sz="1400" b="0" i="0" u="none" strike="noStrike">
                <a:solidFill>
                  <a:srgbClr val="000000"/>
                </a:solidFill>
              </a:rPr>
              <a:t>As you can see, the Decision Tree outperformed the Logistic Regression significantly, achieving a test accuracy of 82.28% and a Macro F1 score of 0.8191. The Logistic Regression, while simpler and faster to train, only reached 67.56% accuracy.</a:t>
            </a:r>
          </a:p>
          <a:p>
            <a:pPr marL="0" indent="0" algn="l">
              <a:lnSpc>
                <a:spcPct val="100000"/>
              </a:lnSpc>
            </a:pPr>
            <a:r>
              <a:rPr lang="en-US" sz="1400" b="0" i="0" u="none" strike="noStrike">
                <a:solidFill>
                  <a:srgbClr val="000000"/>
                </a:solidFill>
              </a:rPr>
              <a:t>For the Decision Tree, we set a max depth of 24 and a minimum of 15 samples per leaf to balance complexity and generalization. There was a mild overfitting observed, with a small difference in F1 scores between training and testing, which is manageable and indicates the model is capturing meaningful patterns.</a:t>
            </a:r>
          </a:p>
          <a:p>
            <a:pPr marL="0" indent="0" algn="l">
              <a:lnSpc>
                <a:spcPct val="100000"/>
              </a:lnSpc>
            </a:pPr>
            <a:r>
              <a:rPr lang="en-US" sz="1400" b="0" i="0" u="none" strike="noStrike">
                <a:solidFill>
                  <a:srgbClr val="000000"/>
                </a:solidFill>
              </a:rPr>
              <a:t>We split the dataset into 70% training and 30% testing, using stratified sampling to preserve class distribution. Additionally, to handle class imbalance, we used class-weighted training to ensure fair performance across all categories.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310994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outlines six key areas for open-ended exploration to enhance your modeling beyond the initial baseline.</a:t>
            </a:r>
          </a:p>
          <a:p>
            <a:pPr marL="0" indent="0" algn="l">
              <a:lnSpc>
                <a:spcPct val="100000"/>
              </a:lnSpc>
            </a:pPr>
            <a:r>
              <a:rPr lang="en-US" sz="1400" b="0" i="0" u="none" strike="noStrike">
                <a:solidFill>
                  <a:srgbClr val="000000"/>
                </a:solidFill>
              </a:rPr>
              <a:t>1. **Advanced Model Comparison**: Move beyond simple models to compare powerful algorithms like Random Forest and Gradient Boosting, understanding their strengths in different scenarios.</a:t>
            </a:r>
          </a:p>
          <a:p>
            <a:pPr marL="0" indent="0" algn="l">
              <a:lnSpc>
                <a:spcPct val="100000"/>
              </a:lnSpc>
            </a:pPr>
            <a:r>
              <a:rPr lang="en-US" sz="1400" b="0" i="0" u="none" strike="noStrike">
                <a:solidFill>
                  <a:srgbClr val="000000"/>
                </a:solidFill>
              </a:rPr>
              <a:t>2. **Feature Importance**: Don't just build models—interpret them. Use both built-in tree importance and permutation importance to validate which features truly drive predictions.</a:t>
            </a:r>
          </a:p>
          <a:p>
            <a:pPr marL="0" indent="0" algn="l">
              <a:lnSpc>
                <a:spcPct val="100000"/>
              </a:lnSpc>
            </a:pPr>
            <a:r>
              <a:rPr lang="en-US" sz="1400" b="0" i="0" u="none" strike="noStrike">
                <a:solidFill>
                  <a:srgbClr val="000000"/>
                </a:solidFill>
              </a:rPr>
              <a:t>3. **Hyperparameter Tuning**: Fine-tune your models systematically using GridSearchCV to find the optimal configuration and avoid overfitting.</a:t>
            </a:r>
          </a:p>
          <a:p>
            <a:pPr marL="0" indent="0" algn="l">
              <a:lnSpc>
                <a:spcPct val="100000"/>
              </a:lnSpc>
            </a:pPr>
            <a:r>
              <a:rPr lang="en-US" sz="1400" b="0" i="0" u="none" strike="noStrike">
                <a:solidFill>
                  <a:srgbClr val="000000"/>
                </a:solidFill>
              </a:rPr>
              <a:t>4. **Class Imbalance**: If your dataset is skewed, use techniques like SMOTE to ensure your model doesn't just predict the majority class.</a:t>
            </a:r>
          </a:p>
          <a:p>
            <a:pPr marL="0" indent="0" algn="l">
              <a:lnSpc>
                <a:spcPct val="100000"/>
              </a:lnSpc>
            </a:pPr>
            <a:r>
              <a:rPr lang="en-US" sz="1400" b="0" i="0" u="none" strike="noStrike">
                <a:solidFill>
                  <a:srgbClr val="000000"/>
                </a:solidFill>
              </a:rPr>
              <a:t>5. **Model Calibration**: Ensure your model's predicted probabilities are trustworthy, which is crucial for applications where decision thresholds matter.</a:t>
            </a:r>
          </a:p>
          <a:p>
            <a:pPr marL="0" indent="0" algn="l">
              <a:lnSpc>
                <a:spcPct val="100000"/>
              </a:lnSpc>
            </a:pPr>
            <a:r>
              <a:rPr lang="en-US" sz="1400" b="0" i="0" u="none" strike="noStrike">
                <a:solidFill>
                  <a:srgbClr val="000000"/>
                </a:solidFill>
              </a:rPr>
              <a:t>6. **Ensemble Methods**: Combine the strengths of multiple models using voting classifiers to create a more robust and accurate final predictor.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we move to Part 5 for an in-depth analysis. We used a Random Forest model to analyze the importance of each feature. The results are very intuitive: Elevation is the most important feature, with an importance score far exceeding all others. This aligns perfectly with our common sense—elevation determines key environmental factors like temperature and precipitation, which in turn determine tree species distribution. Additionally, distance to roads, fire stations, and water bodies also play important roles.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6EE1-2A70-521D-267C-938E2034A6A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2EE9AA-5F6F-86EC-3269-E8B216E106D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8EAB85-1356-911E-32F2-6ACDC5706B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263805A-127F-6BCE-4924-3C6C95133DE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A2F5B3-89A6-35BD-D63C-93AB9A9DFB2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3B36308-D5AC-F243-0676-4BAB0AC891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47C3D68-5312-A7D2-A2FE-6B642D956BB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1773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our model calibration analysis.</a:t>
            </a:r>
          </a:p>
          <a:p>
            <a:pPr marL="0" indent="0" algn="l">
              <a:lnSpc>
                <a:spcPct val="100000"/>
              </a:lnSpc>
            </a:pPr>
            <a:r>
              <a:rPr lang="en-US" sz="1400" b="0" i="0" u="none" strike="noStrike">
                <a:solidFill>
                  <a:srgbClr val="000000"/>
                </a:solidFill>
              </a:rPr>
              <a:t>On the left, you see two key visualizations: the top chart is the average calibration curve across all classes, comparing the baseline Random Forest against the calibrated model and the perfect calibration line (dashed). The bottom chart breaks this down by individual classes.</a:t>
            </a:r>
          </a:p>
          <a:p>
            <a:pPr marL="0" indent="0" algn="l">
              <a:lnSpc>
                <a:spcPct val="100000"/>
              </a:lnSpc>
            </a:pPr>
            <a:r>
              <a:rPr lang="en-US" sz="1400" b="0" i="0" u="none" strike="noStrike">
                <a:solidFill>
                  <a:srgbClr val="000000"/>
                </a:solidFill>
              </a:rPr>
              <a:t>On the right, we highlight the quantitative improvement: the Brier Score dropped from 0.0240 to 0.0215 after applying Platt Scaling (Sigmoid calibration), which is a 10% reduction in error.</a:t>
            </a:r>
          </a:p>
          <a:p>
            <a:pPr marL="0" indent="0" algn="l">
              <a:lnSpc>
                <a:spcPct val="100000"/>
              </a:lnSpc>
            </a:pPr>
            <a:r>
              <a:rPr lang="en-US" sz="1400" b="0" i="0" u="none" strike="noStrike">
                <a:solidFill>
                  <a:srgbClr val="000000"/>
                </a:solidFill>
              </a:rPr>
              <a:t>Key takeaways include: the baseline model was slightly overconfident, especially in the mid-probability range; the smallest class (Class 4) remains the most challenging to calibrate; and this calibration step is essential for applications where probability estimates directly inform business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This slide presents a comprehensive comparison of various machine learning models evaluated for our task.</a:t>
            </a:r>
          </a:p>
          <a:p>
            <a:pPr marL="0" indent="0" algn="l">
              <a:lnSpc>
                <a:spcPct val="100000"/>
              </a:lnSpc>
            </a:pPr>
            <a:r>
              <a:rPr lang="en-US" sz="1400" b="0" i="0" u="none" strike="noStrike" dirty="0">
                <a:solidFill>
                  <a:srgbClr val="000000"/>
                </a:solidFill>
              </a:rPr>
              <a:t>Looking at the bar chart on the top left, we can see a clear hierarchy of performance. The Random Forest models  with top 30 features stand out with the highest F1 Macro scores of 0.909.</a:t>
            </a:r>
          </a:p>
          <a:p>
            <a:pPr marL="0" indent="0" algn="l">
              <a:lnSpc>
                <a:spcPct val="100000"/>
              </a:lnSpc>
            </a:pPr>
            <a:r>
              <a:rPr lang="en-US" sz="1400" b="0" i="0" u="none" strike="noStrike" dirty="0">
                <a:solidFill>
                  <a:srgbClr val="000000"/>
                </a:solidFill>
              </a:rPr>
              <a:t>The table on the bottom left provides detailed metrics. Notice that the Random Forest with 120 trees performs identically to the 200-tree version in terms of F1 score (0.907) and AUC (0.992), but it trains 30% faster (1.4 seconds vs 2.0 seconds). This is a crucial efficiency gain.</a:t>
            </a:r>
          </a:p>
          <a:p>
            <a:pPr marL="0" indent="0" algn="l">
              <a:lnSpc>
                <a:spcPct val="100000"/>
              </a:lnSpc>
            </a:pPr>
            <a:r>
              <a:rPr lang="en-US" sz="1400" b="0" i="0" u="none" strike="noStrike" dirty="0">
                <a:solidFill>
                  <a:srgbClr val="000000"/>
                </a:solidFill>
              </a:rPr>
              <a:t>In contrast, Gradient Boosting, while competitive in accuracy, has a very long training time of over 160 seconds, which is impractical for scenarios requiring quick retraining or real-time inference.</a:t>
            </a:r>
          </a:p>
          <a:p>
            <a:pPr marL="0" indent="0" algn="l">
              <a:lnSpc>
                <a:spcPct val="100000"/>
              </a:lnSpc>
            </a:pPr>
            <a:r>
              <a:rPr lang="en-US" sz="1400" b="0" i="0" u="none" strike="noStrike" dirty="0">
                <a:solidFill>
                  <a:srgbClr val="000000"/>
                </a:solidFill>
              </a:rPr>
              <a:t>Baseline models like the standard Decision Tree lag significantly behind, highlighting the value of ensemble methods like Random Forest for this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项目进行总结。我们的主要结论是：随机森林是最佳模型；无监督学习在此任务中无效；海拔是最关键的预测因子；并且在评估模型时必须考虑数据不均衡性。对于未来的工作，我们可以从特征工程、超参数调优、模型融合和处理少数类等方面进一步提升模型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sv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3.svg"/><Relationship Id="rId5" Type="http://schemas.openxmlformats.org/officeDocument/2006/relationships/image" Target="../media/image52.sv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svg"/></Relationships>
</file>

<file path=ppt/slides/_rels/slide15.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2F2E">
                <a:alpha val="100000"/>
              </a:srgbClr>
            </a:gs>
            <a:gs pos="100000">
              <a:srgbClr val="164E44">
                <a:alpha val="100000"/>
              </a:srgbClr>
            </a:gs>
          </a:gsLst>
          <a:lin ang="2700000"/>
        </a:gradFill>
        <a:effectLst/>
      </p:bgPr>
    </p:bg>
    <p:spTree>
      <p:nvGrpSpPr>
        <p:cNvPr id="1" name=""/>
        <p:cNvGrpSpPr/>
        <p:nvPr/>
      </p:nvGrpSpPr>
      <p:grpSpPr>
        <a:xfrm>
          <a:off x="0" y="0"/>
          <a:ext cx="0" cy="0"/>
          <a:chOff x="0" y="0"/>
          <a:chExt cx="0" cy="0"/>
        </a:xfrm>
      </p:grpSpPr>
      <p:sp>
        <p:nvSpPr>
          <p:cNvPr id="4" name="AutoShape 4"/>
          <p:cNvSpPr/>
          <p:nvPr/>
        </p:nvSpPr>
        <p:spPr>
          <a:xfrm>
            <a:off x="1905000" y="2220685"/>
            <a:ext cx="152400" cy="1524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0" y="5776685"/>
            <a:ext cx="101600" cy="1016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176000" y="1712685"/>
            <a:ext cx="203200" cy="2032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458685"/>
            <a:ext cx="609600" cy="609600"/>
          </a:xfrm>
          <a:prstGeom prst="rect">
            <a:avLst/>
          </a:prstGeom>
        </p:spPr>
      </p:pic>
      <p:sp>
        <p:nvSpPr>
          <p:cNvPr id="8" name="AutoShape 8"/>
          <p:cNvSpPr/>
          <p:nvPr/>
        </p:nvSpPr>
        <p:spPr>
          <a:xfrm>
            <a:off x="381000" y="2474685"/>
            <a:ext cx="1143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FFFFFF"/>
                </a:solidFill>
                <a:latin typeface="Liberation Sans"/>
                <a:ea typeface="Liberation Sans"/>
                <a:cs typeface="Liberation Sans"/>
                <a:sym typeface="Liberation Sans"/>
              </a:rPr>
              <a:t>Analysis and Prediction of Forest Cover Types</a:t>
            </a:r>
            <a:endParaRPr lang="en-US" sz="1100"/>
          </a:p>
        </p:txBody>
      </p:sp>
      <p:cxnSp>
        <p:nvCxnSpPr>
          <p:cNvPr id="9" name="Connector 9"/>
          <p:cNvCxnSpPr/>
          <p:nvPr/>
        </p:nvCxnSpPr>
        <p:spPr>
          <a:xfrm rot="-8594">
            <a:off x="3556008" y="4119335"/>
            <a:ext cx="5080000" cy="12700"/>
          </a:xfrm>
          <a:prstGeom prst="line">
            <a:avLst/>
          </a:prstGeom>
          <a:solidFill>
            <a:srgbClr val="DEE0E3">
              <a:alpha val="100000"/>
            </a:srgbClr>
          </a:solidFill>
          <a:ln w="25400" cap="flat" cmpd="sng">
            <a:solidFill>
              <a:srgbClr val="6EE7B7">
                <a:alpha val="40000"/>
              </a:srgbClr>
            </a:solidFill>
            <a:prstDash val="solid"/>
            <a:round/>
            <a:headEnd type="none" w="lg" len="lg"/>
            <a:tailEnd type="none" w="lg" len="lg"/>
          </a:ln>
        </p:spPr>
      </p:cxnSp>
      <p:sp>
        <p:nvSpPr>
          <p:cNvPr id="10" name="AutoShape 10"/>
          <p:cNvSpPr/>
          <p:nvPr/>
        </p:nvSpPr>
        <p:spPr>
          <a:xfrm>
            <a:off x="1828800" y="4343400"/>
            <a:ext cx="8531352" cy="960120"/>
          </a:xfrm>
          <a:prstGeom prst="rect">
            <a:avLst/>
          </a:prstGeom>
          <a:noFill/>
          <a:ln w="12700" cap="flat" cmpd="sng">
            <a:noFill/>
            <a:prstDash val="solid"/>
            <a:round/>
          </a:ln>
        </p:spPr>
        <p:txBody>
          <a:bodyPr vert="horz" wrap="square" lIns="0" tIns="0" rIns="0" bIns="0" rtlCol="0" anchor="ctr" anchorCtr="0"/>
          <a:lstStyle/>
          <a:p>
            <a:pPr algn="ctr">
              <a:spcAft>
                <a:spcPts val="300"/>
              </a:spcAft>
            </a:pPr>
            <a:r>
              <a:rPr lang="en-US" sz="1700" b="0" i="0" u="none" strike="noStrike">
                <a:solidFill>
                  <a:srgbClr val="B7D6CF">
                    <a:alpha val="90196"/>
                  </a:srgbClr>
                </a:solidFill>
                <a:latin typeface="Liberation Sans"/>
                <a:ea typeface="Liberation Sans"/>
                <a:cs typeface="Liberation Sans"/>
                <a:sym typeface="Liberation Sans"/>
              </a:rPr>
              <a:t>DSAA2011 Machine Learning Course Project</a:t>
            </a:r>
          </a:p>
          <a:p>
            <a:pPr algn="ctr"/>
            <a:r>
              <a:rPr lang="en-US" sz="1300" b="0" i="0" u="none" strike="noStrike">
                <a:solidFill>
                  <a:srgbClr val="D8EAE6">
                    <a:alpha val="90196"/>
                  </a:srgbClr>
                </a:solidFill>
                <a:latin typeface="Liberation Sans"/>
                <a:ea typeface="Liberation Sans"/>
                <a:cs typeface="Liberation Sans"/>
                <a:sym typeface="Liberation Sans"/>
              </a:rPr>
              <a:t>Zeyun DU  ·  Zixiang QIN  ·  Chunfeng GAO</a:t>
            </a:r>
          </a:p>
        </p:txBody>
      </p:sp>
    </p:spTree>
  </p:cSld>
  <p:clrMapOvr>
    <a:masterClrMapping/>
  </p:clrMapOvr>
  <mc:AlternateContent xmlns:mc="http://schemas.openxmlformats.org/markup-compatibility/2006">
    <mc:Choice xmlns:p14="http://schemas.microsoft.com/office/powerpoint/2010/main" Requires="p14">
      <p:transition spd="slow" p14:dur="2000" advTm="31163"/>
    </mc:Choice>
    <mc:Fallback>
      <p:transition spd="slow" advTm="311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5863772" y="449742"/>
            <a:ext cx="5884638"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i="0" u="none" strike="noStrike" dirty="0">
                <a:solidFill>
                  <a:srgbClr val="1F2329"/>
                </a:solidFill>
                <a:latin typeface="Liberation Sans"/>
                <a:ea typeface="Liberation Sans"/>
                <a:cs typeface="Liberation Sans"/>
                <a:sym typeface="Liberation Sans"/>
              </a:rPr>
              <a:t>01</a:t>
            </a:r>
            <a:r>
              <a:rPr lang="zh-CN" altLang="en-US" sz="3200" b="1" i="0" u="none" strike="noStrike" dirty="0">
                <a:solidFill>
                  <a:srgbClr val="1F2329"/>
                </a:solidFill>
                <a:latin typeface="Liberation Sans"/>
                <a:ea typeface="Liberation Sans"/>
                <a:cs typeface="Liberation Sans"/>
                <a:sym typeface="Liberation Sans"/>
              </a:rPr>
              <a:t> </a:t>
            </a:r>
            <a:r>
              <a:rPr lang="en-US" sz="3200" b="1" i="0" u="none" strike="noStrike" dirty="0">
                <a:solidFill>
                  <a:srgbClr val="1F2329"/>
                </a:solidFill>
                <a:latin typeface="Liberation Sans"/>
                <a:ea typeface="Liberation Sans"/>
                <a:cs typeface="Liberation Sans"/>
                <a:sym typeface="Liberation Sans"/>
              </a:rPr>
              <a:t>Dataset: UCI Forest </a:t>
            </a:r>
            <a:r>
              <a:rPr lang="en-US" sz="3200" b="1" i="0" u="none" strike="noStrike" dirty="0" err="1">
                <a:solidFill>
                  <a:srgbClr val="1F2329"/>
                </a:solidFill>
                <a:latin typeface="Liberation Sans"/>
                <a:ea typeface="Liberation Sans"/>
                <a:cs typeface="Liberation Sans"/>
                <a:sym typeface="Liberation Sans"/>
              </a:rPr>
              <a:t>Covertype</a:t>
            </a:r>
            <a:endParaRPr lang="en-US" sz="1100" dirty="0"/>
          </a:p>
        </p:txBody>
      </p:sp>
      <p:sp>
        <p:nvSpPr>
          <p:cNvPr id="5" name="AutoShape 5"/>
          <p:cNvSpPr/>
          <p:nvPr/>
        </p:nvSpPr>
        <p:spPr>
          <a:xfrm>
            <a:off x="633685" y="2866687"/>
            <a:ext cx="4572000" cy="1079500"/>
          </a:xfrm>
          <a:prstGeom prst="roundRect">
            <a:avLst>
              <a:gd name="adj" fmla="val 0"/>
            </a:avLst>
          </a:prstGeom>
          <a:solidFill>
            <a:srgbClr val="3B82F6">
              <a:alpha val="7000"/>
            </a:srgbClr>
          </a:solidFill>
          <a:ln cap="flat" cmpd="sng">
            <a:solidFill>
              <a:srgbClr val="1F67DD">
                <a:alpha val="7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185" y="3095287"/>
            <a:ext cx="609600" cy="609600"/>
          </a:xfrm>
          <a:prstGeom prst="rect">
            <a:avLst/>
          </a:prstGeom>
        </p:spPr>
      </p:pic>
      <p:sp>
        <p:nvSpPr>
          <p:cNvPr id="7" name="AutoShape 7"/>
          <p:cNvSpPr/>
          <p:nvPr/>
        </p:nvSpPr>
        <p:spPr>
          <a:xfrm>
            <a:off x="1586185" y="2993687"/>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Liberation Sans"/>
                <a:ea typeface="Liberation Sans"/>
                <a:cs typeface="Liberation Sans"/>
                <a:sym typeface="Liberation Sans"/>
              </a:rPr>
              <a:t>581,012 Total Samples</a:t>
            </a:r>
            <a:endParaRPr lang="en-US" sz="1100"/>
          </a:p>
          <a:p>
            <a:pPr marL="0" indent="0" algn="l">
              <a:lnSpc>
                <a:spcPct val="100000"/>
              </a:lnSpc>
            </a:pPr>
            <a:r>
              <a:rPr lang="en-US" sz="1300" b="0" i="0" u="none" strike="noStrike">
                <a:solidFill>
                  <a:srgbClr val="6B7280"/>
                </a:solidFill>
                <a:latin typeface="Liberation Sans"/>
                <a:ea typeface="Liberation Sans"/>
                <a:cs typeface="Liberation Sans"/>
                <a:sym typeface="Liberation Sans"/>
              </a:rPr>
              <a:t>A massive repository of georeferenced observations covering 30x30 meter cells in the Roosevelt National Forest, Colorado.</a:t>
            </a:r>
          </a:p>
        </p:txBody>
      </p:sp>
      <p:sp>
        <p:nvSpPr>
          <p:cNvPr id="8" name="AutoShape 8"/>
          <p:cNvSpPr/>
          <p:nvPr/>
        </p:nvSpPr>
        <p:spPr>
          <a:xfrm>
            <a:off x="628242" y="4122258"/>
            <a:ext cx="4572000" cy="1079500"/>
          </a:xfrm>
          <a:prstGeom prst="roundRect">
            <a:avLst>
              <a:gd name="adj" fmla="val 0"/>
            </a:avLst>
          </a:prstGeom>
          <a:solidFill>
            <a:srgbClr val="10B981">
              <a:alpha val="7000"/>
            </a:srgbClr>
          </a:solidFill>
          <a:ln cap="flat" cmpd="sng">
            <a:solidFill>
              <a:srgbClr val="00A06B">
                <a:alpha val="7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8742" y="4350858"/>
            <a:ext cx="609600" cy="609600"/>
          </a:xfrm>
          <a:prstGeom prst="rect">
            <a:avLst/>
          </a:prstGeom>
        </p:spPr>
      </p:pic>
      <p:sp>
        <p:nvSpPr>
          <p:cNvPr id="10" name="AutoShape 10"/>
          <p:cNvSpPr/>
          <p:nvPr/>
        </p:nvSpPr>
        <p:spPr>
          <a:xfrm>
            <a:off x="1580742" y="42492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dirty="0">
                <a:solidFill>
                  <a:srgbClr val="1F2329"/>
                </a:solidFill>
                <a:latin typeface="Liberation Sans"/>
                <a:ea typeface="Liberation Sans"/>
                <a:cs typeface="Liberation Sans"/>
                <a:sym typeface="Liberation Sans"/>
              </a:rPr>
              <a:t>54 Cartographic Features</a:t>
            </a:r>
            <a:endParaRPr lang="en-US" sz="1100" dirty="0"/>
          </a:p>
          <a:p>
            <a:pPr marL="0" indent="0" algn="l">
              <a:lnSpc>
                <a:spcPct val="100000"/>
              </a:lnSpc>
            </a:pPr>
            <a:r>
              <a:rPr lang="en-US" sz="1300" b="0" i="0" u="none" strike="noStrike" dirty="0">
                <a:solidFill>
                  <a:srgbClr val="6B7280"/>
                </a:solidFill>
                <a:latin typeface="Liberation Sans"/>
                <a:ea typeface="Liberation Sans"/>
                <a:cs typeface="Liberation Sans"/>
                <a:sym typeface="Liberation Sans"/>
              </a:rPr>
              <a:t>Includes 10 quantitative metrics (elevation, slope), 4 binary wilderness area flags, and 40 binary soil type indicators.</a:t>
            </a:r>
          </a:p>
        </p:txBody>
      </p:sp>
      <p:sp>
        <p:nvSpPr>
          <p:cNvPr id="11" name="AutoShape 11"/>
          <p:cNvSpPr/>
          <p:nvPr/>
        </p:nvSpPr>
        <p:spPr>
          <a:xfrm>
            <a:off x="628242" y="5328758"/>
            <a:ext cx="4572000" cy="10795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8742" y="5557358"/>
            <a:ext cx="609600" cy="609600"/>
          </a:xfrm>
          <a:prstGeom prst="rect">
            <a:avLst/>
          </a:prstGeom>
        </p:spPr>
      </p:pic>
      <p:sp>
        <p:nvSpPr>
          <p:cNvPr id="13" name="AutoShape 13"/>
          <p:cNvSpPr/>
          <p:nvPr/>
        </p:nvSpPr>
        <p:spPr>
          <a:xfrm>
            <a:off x="1580742" y="54557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Liberation Sans"/>
                <a:ea typeface="Liberation Sans"/>
                <a:cs typeface="Liberation Sans"/>
                <a:sym typeface="Liberation Sans"/>
              </a:rPr>
              <a:t>7 Forest Cover Classes</a:t>
            </a:r>
            <a:endParaRPr lang="en-US" sz="1100"/>
          </a:p>
          <a:p>
            <a:pPr marL="0" indent="0" algn="l">
              <a:lnSpc>
                <a:spcPct val="100000"/>
              </a:lnSpc>
            </a:pPr>
            <a:r>
              <a:rPr lang="en-US" sz="1300" b="0" i="0" u="none" strike="noStrike">
                <a:solidFill>
                  <a:srgbClr val="6B7280"/>
                </a:solidFill>
                <a:latin typeface="Liberation Sans"/>
                <a:ea typeface="Liberation Sans"/>
                <a:cs typeface="Liberation Sans"/>
                <a:sym typeface="Liberation Sans"/>
              </a:rPr>
              <a:t>Classifies forest cover based on dominant tree species, ranging from Spruce/Fir (Class 1) to Krummholz (Class 7).</a:t>
            </a:r>
          </a:p>
        </p:txBody>
      </p:sp>
      <p:pic>
        <p:nvPicPr>
          <p:cNvPr id="18" name="Picture 4">
            <a:extLst>
              <a:ext uri="{FF2B5EF4-FFF2-40B4-BE49-F238E27FC236}">
                <a16:creationId xmlns:a16="http://schemas.microsoft.com/office/drawing/2014/main" id="{B3790391-0FDC-AEEE-6745-92725874D6AF}"/>
              </a:ext>
            </a:extLst>
          </p:cNvPr>
          <p:cNvPicPr>
            <a:picLocks noChangeAspect="1"/>
          </p:cNvPicPr>
          <p:nvPr/>
        </p:nvPicPr>
        <p:blipFill>
          <a:blip r:embed="rId6"/>
          <a:srcRect l="67" r="67"/>
          <a:stretch>
            <a:fillRect/>
          </a:stretch>
        </p:blipFill>
        <p:spPr>
          <a:xfrm>
            <a:off x="771117" y="753669"/>
            <a:ext cx="4286250" cy="1546112"/>
          </a:xfrm>
          <a:prstGeom prst="rect">
            <a:avLst/>
          </a:prstGeom>
          <a:ln w="228600" cap="sq" cmpd="thickThin">
            <a:solidFill>
              <a:srgbClr val="000000"/>
            </a:solidFill>
            <a:prstDash val="solid"/>
            <a:miter lim="800000"/>
          </a:ln>
          <a:effectLst>
            <a:innerShdw blurRad="76200">
              <a:srgbClr val="000000"/>
            </a:innerShdw>
          </a:effectLst>
        </p:spPr>
      </p:pic>
      <p:sp>
        <p:nvSpPr>
          <p:cNvPr id="20" name="AutoShape 17">
            <a:extLst>
              <a:ext uri="{FF2B5EF4-FFF2-40B4-BE49-F238E27FC236}">
                <a16:creationId xmlns:a16="http://schemas.microsoft.com/office/drawing/2014/main" id="{31802829-19DA-3CE0-AC77-00A2C56227E3}"/>
              </a:ext>
            </a:extLst>
          </p:cNvPr>
          <p:cNvSpPr/>
          <p:nvPr/>
        </p:nvSpPr>
        <p:spPr>
          <a:xfrm>
            <a:off x="6312978" y="4947849"/>
            <a:ext cx="5029936" cy="1460409"/>
          </a:xfrm>
          <a:prstGeom prst="roundRect">
            <a:avLst>
              <a:gd name="adj" fmla="val 0"/>
            </a:avLst>
          </a:prstGeom>
          <a:solidFill>
            <a:srgbClr val="22543D">
              <a:alpha val="8000"/>
            </a:srgb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a:p>
        </p:txBody>
      </p:sp>
      <p:sp>
        <p:nvSpPr>
          <p:cNvPr id="21" name="AutoShape 18">
            <a:extLst>
              <a:ext uri="{FF2B5EF4-FFF2-40B4-BE49-F238E27FC236}">
                <a16:creationId xmlns:a16="http://schemas.microsoft.com/office/drawing/2014/main" id="{8629F95D-C161-8D10-FBBE-56C16ADA3064}"/>
              </a:ext>
            </a:extLst>
          </p:cNvPr>
          <p:cNvSpPr/>
          <p:nvPr/>
        </p:nvSpPr>
        <p:spPr>
          <a:xfrm>
            <a:off x="7375912" y="4997998"/>
            <a:ext cx="3317818"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2543D"/>
                </a:solidFill>
                <a:latin typeface="Liberation Sans"/>
                <a:ea typeface="Liberation Sans"/>
                <a:cs typeface="Liberation Sans"/>
                <a:sym typeface="Liberation Sans"/>
              </a:rPr>
              <a:t>Key Finding: Severe Class Imbalance</a:t>
            </a:r>
            <a:endParaRPr lang="en-US" sz="1100" dirty="0"/>
          </a:p>
        </p:txBody>
      </p:sp>
      <p:sp>
        <p:nvSpPr>
          <p:cNvPr id="22" name="AutoShape 19">
            <a:extLst>
              <a:ext uri="{FF2B5EF4-FFF2-40B4-BE49-F238E27FC236}">
                <a16:creationId xmlns:a16="http://schemas.microsoft.com/office/drawing/2014/main" id="{35C7F9E8-A760-4FAB-B8C5-2DD6821990B0}"/>
              </a:ext>
            </a:extLst>
          </p:cNvPr>
          <p:cNvSpPr/>
          <p:nvPr/>
        </p:nvSpPr>
        <p:spPr>
          <a:xfrm>
            <a:off x="6455535" y="5265258"/>
            <a:ext cx="4744821" cy="1143000"/>
          </a:xfrm>
          <a:prstGeom prst="rect">
            <a:avLst/>
          </a:prstGeom>
          <a:noFill/>
          <a:ln w="12700" cap="flat" cmpd="sng">
            <a:noFill/>
            <a:prstDash val="solid"/>
            <a:round/>
          </a:ln>
        </p:spPr>
        <p:txBody>
          <a:bodyPr vert="horz" wrap="square" lIns="0" tIns="0" rIns="0" bIns="0" rtlCol="0" anchor="ctr" anchorCtr="0"/>
          <a:lstStyle/>
          <a:p>
            <a:r>
              <a:rPr lang="en-US" sz="1050" b="1" i="0" u="none" strike="noStrike" dirty="0">
                <a:solidFill>
                  <a:srgbClr val="374151"/>
                </a:solidFill>
                <a:latin typeface="Liberation Sans"/>
                <a:ea typeface="Liberation Sans"/>
                <a:cs typeface="Liberation Sans"/>
                <a:sym typeface="Liberation Sans"/>
              </a:rPr>
              <a:t>Classes 1 and 2 account for 85.3% of all observations. </a:t>
            </a:r>
            <a:r>
              <a:rPr lang="en-US" sz="1050" b="0" i="0" u="none" strike="noStrike" dirty="0">
                <a:solidFill>
                  <a:srgbClr val="374151"/>
                </a:solidFill>
                <a:latin typeface="Liberation Sans"/>
                <a:ea typeface="Liberation Sans"/>
                <a:cs typeface="Liberation Sans"/>
                <a:sym typeface="Liberation Sans"/>
              </a:rPr>
              <a:t>Cottonwood/Willow is only 0.5%, so model selection emphasizes macro-F1 rather than accuracy alone. The supervised modeling sample contains 97,950 observations (≈17% of the full dataset).</a:t>
            </a:r>
          </a:p>
        </p:txBody>
      </p:sp>
      <p:pic>
        <p:nvPicPr>
          <p:cNvPr id="23" name="图片 22">
            <a:extLst>
              <a:ext uri="{FF2B5EF4-FFF2-40B4-BE49-F238E27FC236}">
                <a16:creationId xmlns:a16="http://schemas.microsoft.com/office/drawing/2014/main" id="{F219B36C-1534-711F-621A-EF8621C7D272}"/>
              </a:ext>
            </a:extLst>
          </p:cNvPr>
          <p:cNvPicPr>
            <a:picLocks noChangeAspect="1"/>
          </p:cNvPicPr>
          <p:nvPr/>
        </p:nvPicPr>
        <p:blipFill>
          <a:blip r:embed="rId7"/>
          <a:stretch>
            <a:fillRect/>
          </a:stretch>
        </p:blipFill>
        <p:spPr>
          <a:xfrm>
            <a:off x="5970243" y="1469562"/>
            <a:ext cx="5478470" cy="32514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mc:Choice xmlns:p14="http://schemas.microsoft.com/office/powerpoint/2010/main" Requires="p14">
      <p:transition spd="slow" p14:dur="2000" advTm="565"/>
    </mc:Choice>
    <mc:Fallback>
      <p:transition spd="slow" advTm="56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10">
            <a:extLst>
              <a:ext uri="{FF2B5EF4-FFF2-40B4-BE49-F238E27FC236}">
                <a16:creationId xmlns:a16="http://schemas.microsoft.com/office/drawing/2014/main" id="{C2F1D397-2444-B1D7-098B-EE291462CB36}"/>
              </a:ext>
            </a:extLst>
          </p:cNvPr>
          <p:cNvSpPr/>
          <p:nvPr/>
        </p:nvSpPr>
        <p:spPr>
          <a:xfrm>
            <a:off x="606056" y="1270000"/>
            <a:ext cx="10950944" cy="889000"/>
          </a:xfrm>
          <a:prstGeom prst="roundRect">
            <a:avLst>
              <a:gd name="adj" fmla="val 0"/>
            </a:avLst>
          </a:prstGeom>
          <a:solidFill>
            <a:srgbClr val="FFFFFF">
              <a:alpha val="60000"/>
            </a:srgbClr>
          </a:solidFill>
          <a:ln w="12700" cap="flat" cmpd="sng">
            <a:solidFill>
              <a:srgbClr val="22543D">
                <a:alpha val="10000"/>
              </a:srgbClr>
            </a:solidFill>
            <a:prstDash val="solid"/>
            <a:round/>
          </a:ln>
        </p:spPr>
        <p:txBody>
          <a:bodyPr vert="horz" wrap="square" lIns="63500" tIns="63500" rIns="63500" bIns="63500" rtlCol="0" anchor="ctr"/>
          <a:lstStyle/>
          <a:p>
            <a:pPr algn="ctr">
              <a:defRPr/>
            </a:pPr>
            <a:endParaRPr/>
          </a:p>
        </p:txBody>
      </p:sp>
      <p:sp>
        <p:nvSpPr>
          <p:cNvPr id="2" name="AutoShape 2"/>
          <p:cNvSpPr/>
          <p:nvPr/>
        </p:nvSpPr>
        <p:spPr>
          <a:xfrm>
            <a:off x="9525"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411034"/>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937"/>
                </a:solidFill>
                <a:latin typeface="Liberation Sans"/>
                <a:ea typeface="Liberation Sans"/>
                <a:cs typeface="Liberation Sans"/>
                <a:sym typeface="Liberation Sans"/>
              </a:rPr>
              <a:t>Overview of the Seven Forest Cover Types</a:t>
            </a:r>
            <a:endParaRPr lang="en-US" sz="1100" dirty="0"/>
          </a:p>
        </p:txBody>
      </p:sp>
      <p:sp>
        <p:nvSpPr>
          <p:cNvPr id="4" name="AutoShape 4"/>
          <p:cNvSpPr/>
          <p:nvPr/>
        </p:nvSpPr>
        <p:spPr>
          <a:xfrm>
            <a:off x="762000" y="1333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Liberation Sans"/>
                <a:ea typeface="Liberation Sans"/>
                <a:cs typeface="Liberation Sans"/>
                <a:sym typeface="Liberation Sans"/>
              </a:rPr>
              <a:t>Forest cover types are fundamental indicators for ecological monitoring and land use analysis. This page visually presents seven representative forest vegetation types in North America through typical imagery, from high-altitude coniferous forests to riparian broadleaf forests</a:t>
            </a:r>
            <a:r>
              <a:rPr lang="en-US" sz="1300" dirty="0">
                <a:solidFill>
                  <a:srgbClr val="4B5563"/>
                </a:solidFill>
                <a:latin typeface="Liberation Sans"/>
                <a:ea typeface="Liberation Sans"/>
                <a:cs typeface="Liberation Sans"/>
                <a:sym typeface="Liberation Sans"/>
              </a:rPr>
              <a:t>.</a:t>
            </a:r>
            <a:endParaRPr lang="en-US" sz="1100" dirty="0"/>
          </a:p>
        </p:txBody>
      </p:sp>
      <p:sp>
        <p:nvSpPr>
          <p:cNvPr id="5" name="AutoShape 5"/>
          <p:cNvSpPr/>
          <p:nvPr/>
        </p:nvSpPr>
        <p:spPr>
          <a:xfrm>
            <a:off x="762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srcRect l="16649" r="16649"/>
          <a:stretch>
            <a:fillRect/>
          </a:stretch>
        </p:blipFill>
        <p:spPr>
          <a:xfrm>
            <a:off x="889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AutoShape 7"/>
          <p:cNvSpPr/>
          <p:nvPr/>
        </p:nvSpPr>
        <p:spPr>
          <a:xfrm>
            <a:off x="2095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Liberation Sans"/>
                <a:ea typeface="Liberation Sans"/>
                <a:cs typeface="Liberation Sans"/>
                <a:sym typeface="Liberation Sans"/>
              </a:rPr>
              <a:t>01</a:t>
            </a:r>
            <a:endParaRPr lang="en-US" sz="1100" dirty="0"/>
          </a:p>
          <a:p>
            <a:pPr marL="0" indent="0" algn="l">
              <a:lnSpc>
                <a:spcPct val="100000"/>
              </a:lnSpc>
            </a:pPr>
            <a:r>
              <a:rPr lang="en-US" sz="1200" b="1" i="0" u="none" strike="noStrike" dirty="0">
                <a:solidFill>
                  <a:srgbClr val="1F2937"/>
                </a:solidFill>
                <a:latin typeface="Liberation Sans"/>
                <a:ea typeface="Liberation Sans"/>
                <a:cs typeface="Liberation Sans"/>
                <a:sym typeface="Liberation Sans"/>
              </a:rPr>
              <a:t>Spruce/Fir</a:t>
            </a:r>
          </a:p>
          <a:p>
            <a:pPr marL="0" indent="0" algn="l">
              <a:lnSpc>
                <a:spcPct val="100000"/>
              </a:lnSpc>
              <a:spcBef>
                <a:spcPts val="400"/>
              </a:spcBef>
            </a:pPr>
            <a:r>
              <a:rPr lang="en-US" sz="1000" b="0" i="0" u="none" strike="noStrike" dirty="0">
                <a:solidFill>
                  <a:srgbClr val="4B5563"/>
                </a:solidFill>
                <a:latin typeface="Liberation Sans"/>
                <a:ea typeface="Liberation Sans"/>
                <a:cs typeface="Liberation Sans"/>
                <a:sym typeface="Liberation Sans"/>
              </a:rPr>
              <a:t>Cold-hardy evergreen conifers with dense foliage, adapted to cold high-altitude climates, and are dominant species in the boreal forest.</a:t>
            </a:r>
          </a:p>
        </p:txBody>
      </p:sp>
      <p:sp>
        <p:nvSpPr>
          <p:cNvPr id="8" name="AutoShape 8"/>
          <p:cNvSpPr/>
          <p:nvPr/>
        </p:nvSpPr>
        <p:spPr>
          <a:xfrm>
            <a:off x="3492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l="14192" r="14192"/>
          <a:stretch>
            <a:fillRect/>
          </a:stretch>
        </p:blipFill>
        <p:spPr>
          <a:xfrm>
            <a:off x="3619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AutoShape 10"/>
          <p:cNvSpPr/>
          <p:nvPr/>
        </p:nvSpPr>
        <p:spPr>
          <a:xfrm>
            <a:off x="4826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Liberation Sans"/>
                <a:ea typeface="Liberation Sans"/>
                <a:cs typeface="Liberation Sans"/>
                <a:sym typeface="Liberation Sans"/>
              </a:rPr>
              <a:t>02</a:t>
            </a:r>
            <a:endParaRPr lang="en-US" sz="1100" dirty="0"/>
          </a:p>
          <a:p>
            <a:pPr marL="0" indent="0" algn="l">
              <a:lnSpc>
                <a:spcPct val="100000"/>
              </a:lnSpc>
            </a:pPr>
            <a:r>
              <a:rPr lang="en-US" sz="1200" b="1" i="0" u="none" strike="noStrike" dirty="0">
                <a:solidFill>
                  <a:srgbClr val="1F2937"/>
                </a:solidFill>
                <a:latin typeface="Liberation Sans"/>
                <a:ea typeface="Liberation Sans"/>
                <a:cs typeface="Liberation Sans"/>
                <a:sym typeface="Liberation Sans"/>
              </a:rPr>
              <a:t>Lodgepole Pine</a:t>
            </a:r>
          </a:p>
          <a:p>
            <a:pPr marL="0" indent="0" algn="l">
              <a:lnSpc>
                <a:spcPct val="100000"/>
              </a:lnSpc>
              <a:spcBef>
                <a:spcPts val="400"/>
              </a:spcBef>
            </a:pPr>
            <a:r>
              <a:rPr lang="en-US" sz="1000" b="0" i="0" u="none" strike="noStrike" dirty="0">
                <a:solidFill>
                  <a:srgbClr val="4B5563"/>
                </a:solidFill>
                <a:latin typeface="Liberation Sans"/>
                <a:ea typeface="Liberation Sans"/>
                <a:cs typeface="Liberation Sans"/>
                <a:sym typeface="Liberation Sans"/>
              </a:rPr>
              <a:t>Tall, straight trunks, often densely distributed, and one of the pioneer species for post-fire forest recovery in western North America.</a:t>
            </a:r>
          </a:p>
        </p:txBody>
      </p:sp>
      <p:sp>
        <p:nvSpPr>
          <p:cNvPr id="11" name="AutoShape 11"/>
          <p:cNvSpPr/>
          <p:nvPr/>
        </p:nvSpPr>
        <p:spPr>
          <a:xfrm>
            <a:off x="6223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srcRect l="20687" r="20687"/>
          <a:stretch>
            <a:fillRect/>
          </a:stretch>
        </p:blipFill>
        <p:spPr>
          <a:xfrm>
            <a:off x="6350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AutoShape 13"/>
          <p:cNvSpPr/>
          <p:nvPr/>
        </p:nvSpPr>
        <p:spPr>
          <a:xfrm>
            <a:off x="7556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Liberation Sans"/>
                <a:ea typeface="Liberation Sans"/>
                <a:cs typeface="Liberation Sans"/>
                <a:sym typeface="Liberation Sans"/>
              </a:rPr>
              <a:t>03</a:t>
            </a:r>
            <a:endParaRPr lang="en-US" sz="1100" dirty="0"/>
          </a:p>
          <a:p>
            <a:pPr marL="0" indent="0" algn="l">
              <a:lnSpc>
                <a:spcPct val="100000"/>
              </a:lnSpc>
            </a:pPr>
            <a:r>
              <a:rPr lang="en-US" sz="1200" b="1" i="0" u="none" strike="noStrike" dirty="0">
                <a:solidFill>
                  <a:srgbClr val="1F2937"/>
                </a:solidFill>
                <a:latin typeface="Liberation Sans"/>
                <a:ea typeface="Liberation Sans"/>
                <a:cs typeface="Liberation Sans"/>
                <a:sym typeface="Liberation Sans"/>
              </a:rPr>
              <a:t>Ponderosa Pine</a:t>
            </a:r>
          </a:p>
          <a:p>
            <a:pPr marL="0" indent="0" algn="l">
              <a:lnSpc>
                <a:spcPct val="100000"/>
              </a:lnSpc>
              <a:spcBef>
                <a:spcPts val="400"/>
              </a:spcBef>
            </a:pPr>
            <a:r>
              <a:rPr lang="en-US" sz="1000" b="0" i="0" u="none" strike="noStrike" dirty="0">
                <a:solidFill>
                  <a:srgbClr val="4B5563"/>
                </a:solidFill>
                <a:latin typeface="Liberation Sans"/>
                <a:ea typeface="Liberation Sans"/>
                <a:cs typeface="Liberation Sans"/>
                <a:sym typeface="Liberation Sans"/>
              </a:rPr>
              <a:t>Distinctive orange-yellow scaly bark, drought-tolerant, mainly distributed in warm, dry low-altitude mountainous areas.</a:t>
            </a:r>
          </a:p>
        </p:txBody>
      </p:sp>
      <p:sp>
        <p:nvSpPr>
          <p:cNvPr id="14" name="AutoShape 14"/>
          <p:cNvSpPr/>
          <p:nvPr/>
        </p:nvSpPr>
        <p:spPr>
          <a:xfrm>
            <a:off x="8953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0000" b="10000"/>
          <a:stretch>
            <a:fillRect/>
          </a:stretch>
        </p:blipFill>
        <p:spPr>
          <a:xfrm>
            <a:off x="9080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6" name="AutoShape 16"/>
          <p:cNvSpPr/>
          <p:nvPr/>
        </p:nvSpPr>
        <p:spPr>
          <a:xfrm>
            <a:off x="10287000" y="2413000"/>
            <a:ext cx="1244600" cy="1714500"/>
          </a:xfrm>
          <a:prstGeom prst="rect">
            <a:avLst/>
          </a:prstGeom>
          <a:noFill/>
          <a:ln w="12700" cap="flat" cmpd="sng">
            <a:noFill/>
            <a:prstDash val="solid"/>
            <a:round/>
          </a:ln>
        </p:spPr>
        <p:txBody>
          <a:bodyPr vert="horz" wrap="square" lIns="0" tIns="0" rIns="0" bIns="0" rtlCol="0" anchor="ctr" anchorCtr="0"/>
          <a:lstStyle/>
          <a:p>
            <a:r>
              <a:rPr lang="en-US" sz="720" b="0" i="0" u="none" strike="noStrike" dirty="0">
                <a:solidFill>
                  <a:srgbClr val="374151"/>
                </a:solidFill>
                <a:latin typeface="Liberation Sans"/>
                <a:ea typeface="Liberation Sans"/>
                <a:cs typeface="Liberation Sans"/>
                <a:sym typeface="Liberation Sans"/>
              </a:rPr>
              <a:t>04 Cottonwood/Willow Typical riparian deciduous broadleaf forests, fast-growing, highly dependent on water, with unique winter branch morphology.</a:t>
            </a:r>
          </a:p>
        </p:txBody>
      </p:sp>
      <p:sp>
        <p:nvSpPr>
          <p:cNvPr id="17" name="AutoShape 17"/>
          <p:cNvSpPr/>
          <p:nvPr/>
        </p:nvSpPr>
        <p:spPr>
          <a:xfrm>
            <a:off x="7620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7"/>
          <a:srcRect l="16484" r="16484"/>
          <a:stretch>
            <a:fillRect/>
          </a:stretch>
        </p:blipFill>
        <p:spPr>
          <a:xfrm>
            <a:off x="889000" y="45339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AutoShape 19"/>
          <p:cNvSpPr/>
          <p:nvPr/>
        </p:nvSpPr>
        <p:spPr>
          <a:xfrm>
            <a:off x="20955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Liberation Sans"/>
                <a:ea typeface="Liberation Sans"/>
                <a:cs typeface="Liberation Sans"/>
                <a:sym typeface="Liberation Sans"/>
              </a:rPr>
              <a:t>05 Aspen</a:t>
            </a:r>
            <a:endParaRPr lang="en-US" sz="1100" dirty="0"/>
          </a:p>
          <a:p>
            <a:pPr marL="0" indent="0" algn="l">
              <a:lnSpc>
                <a:spcPct val="100000"/>
              </a:lnSpc>
              <a:spcBef>
                <a:spcPts val="400"/>
              </a:spcBef>
            </a:pPr>
            <a:r>
              <a:rPr lang="en-US" sz="1100" b="0" i="0" u="none" strike="noStrike" dirty="0">
                <a:solidFill>
                  <a:srgbClr val="4B5563"/>
                </a:solidFill>
                <a:latin typeface="Liberation Sans"/>
                <a:ea typeface="Liberation Sans"/>
                <a:cs typeface="Liberation Sans"/>
                <a:sym typeface="Liberation Sans"/>
              </a:rPr>
              <a:t>Smooth white trunks, golden leaves in autumn, often forming spectacular pure stands. As a fast-growing species, it plays an important role in forest succession.</a:t>
            </a:r>
          </a:p>
        </p:txBody>
      </p:sp>
      <p:sp>
        <p:nvSpPr>
          <p:cNvPr id="20" name="AutoShape 20"/>
          <p:cNvSpPr/>
          <p:nvPr/>
        </p:nvSpPr>
        <p:spPr>
          <a:xfrm>
            <a:off x="43942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8"/>
          <a:srcRect t="16629" b="16629"/>
          <a:stretch>
            <a:fillRect/>
          </a:stretch>
        </p:blipFill>
        <p:spPr>
          <a:xfrm>
            <a:off x="4489450" y="4575432"/>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AutoShape 22"/>
          <p:cNvSpPr/>
          <p:nvPr/>
        </p:nvSpPr>
        <p:spPr>
          <a:xfrm>
            <a:off x="57277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a:solidFill>
                  <a:srgbClr val="22543D"/>
                </a:solidFill>
                <a:latin typeface="Liberation Sans"/>
                <a:ea typeface="Liberation Sans"/>
                <a:cs typeface="Liberation Sans"/>
                <a:sym typeface="Liberation Sans"/>
              </a:rPr>
              <a:t>06 Douglas-fir</a:t>
            </a:r>
            <a:endParaRPr lang="en-US" sz="1100"/>
          </a:p>
          <a:p>
            <a:pPr marL="0" indent="0" algn="l">
              <a:lnSpc>
                <a:spcPct val="100000"/>
              </a:lnSpc>
              <a:spcBef>
                <a:spcPts val="400"/>
              </a:spcBef>
            </a:pPr>
            <a:r>
              <a:rPr lang="en-US" sz="1100" b="0" i="0" u="none" strike="noStrike">
                <a:solidFill>
                  <a:srgbClr val="4B5563"/>
                </a:solidFill>
                <a:latin typeface="Liberation Sans"/>
                <a:ea typeface="Liberation Sans"/>
                <a:cs typeface="Liberation Sans"/>
                <a:sym typeface="Liberation Sans"/>
              </a:rPr>
              <a:t>One of the tallest tree species in the world, with a straight shape and excellent wood quality. It is not only an important commercial timber but also a key component of forest ecosystems.</a:t>
            </a:r>
          </a:p>
        </p:txBody>
      </p:sp>
      <p:sp>
        <p:nvSpPr>
          <p:cNvPr id="23" name="AutoShape 23"/>
          <p:cNvSpPr/>
          <p:nvPr/>
        </p:nvSpPr>
        <p:spPr>
          <a:xfrm>
            <a:off x="80264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3599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Liberation Sans"/>
                <a:ea typeface="Liberation Sans"/>
                <a:cs typeface="Liberation Sans"/>
                <a:sym typeface="Liberation Sans"/>
              </a:rPr>
              <a:t>07 Krummholz</a:t>
            </a:r>
            <a:endParaRPr lang="en-US" sz="1100" dirty="0"/>
          </a:p>
          <a:p>
            <a:pPr marL="0" indent="0" algn="l">
              <a:lnSpc>
                <a:spcPct val="100000"/>
              </a:lnSpc>
              <a:spcBef>
                <a:spcPts val="400"/>
              </a:spcBef>
            </a:pPr>
            <a:r>
              <a:rPr lang="en-US" sz="1100" b="0" i="0" u="none" strike="noStrike" dirty="0">
                <a:solidFill>
                  <a:srgbClr val="4B5563"/>
                </a:solidFill>
                <a:latin typeface="Liberation Sans"/>
                <a:ea typeface="Liberation Sans"/>
                <a:cs typeface="Liberation Sans"/>
                <a:sym typeface="Liberation Sans"/>
              </a:rPr>
              <a:t>Growing above the alpine tree line, shaped into low, curved shrubs by strong winds and severe cold, it is a unique symbol of high-altitude ecosystems.</a:t>
            </a:r>
          </a:p>
        </p:txBody>
      </p:sp>
      <p:pic>
        <p:nvPicPr>
          <p:cNvPr id="27" name="图片 26" descr="Krummholz: Tough Trees at Timberline | Montana Natural History Center">
            <a:extLst>
              <a:ext uri="{FF2B5EF4-FFF2-40B4-BE49-F238E27FC236}">
                <a16:creationId xmlns:a16="http://schemas.microsoft.com/office/drawing/2014/main" id="{680F4347-152F-02F0-F636-41EDD7DB8732}"/>
              </a:ext>
            </a:extLst>
          </p:cNvPr>
          <p:cNvPicPr>
            <a:picLocks noChangeAspect="1"/>
          </p:cNvPicPr>
          <p:nvPr/>
        </p:nvPicPr>
        <p:blipFill>
          <a:blip r:embed="rId9"/>
          <a:srcRect l="25106" t="7985" r="17393"/>
          <a:stretch>
            <a:fillRect/>
          </a:stretch>
        </p:blipFill>
        <p:spPr>
          <a:xfrm>
            <a:off x="8167509" y="4508500"/>
            <a:ext cx="1065391" cy="12768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mc:Choice xmlns:p14="http://schemas.microsoft.com/office/powerpoint/2010/main" Requires="p14">
      <p:transition spd="slow" p14:dur="2000" advTm="60587"/>
    </mc:Choice>
    <mc:Fallback>
      <p:transition spd="slow" advTm="6058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508000" y="508000"/>
            <a:ext cx="3987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B82F6"/>
                </a:solidFill>
                <a:latin typeface="Liberation Sans"/>
                <a:ea typeface="Liberation Sans"/>
                <a:cs typeface="Liberation Sans"/>
                <a:sym typeface="Liberation Sans"/>
              </a:rPr>
              <a:t>02</a:t>
            </a:r>
            <a:r>
              <a:rPr lang="zh-CN" altLang="en-US" sz="3200" b="1" i="0" u="none" strike="noStrike" dirty="0">
                <a:solidFill>
                  <a:srgbClr val="3B82F6"/>
                </a:solidFill>
                <a:latin typeface="Liberation Sans"/>
                <a:ea typeface="Liberation Sans"/>
                <a:cs typeface="Liberation Sans"/>
                <a:sym typeface="Liberation Sans"/>
              </a:rPr>
              <a:t> </a:t>
            </a:r>
            <a:r>
              <a:rPr lang="en-US" sz="3200" b="1" i="0" u="none" strike="noStrike" dirty="0">
                <a:solidFill>
                  <a:srgbClr val="1F2329"/>
                </a:solidFill>
                <a:latin typeface="Liberation Sans"/>
                <a:ea typeface="Liberation Sans"/>
                <a:cs typeface="Liberation Sans"/>
                <a:sym typeface="Liberation Sans"/>
              </a:rPr>
              <a:t>Data Preprocessing</a:t>
            </a:r>
            <a:endParaRPr lang="en-US" sz="1100" dirty="0"/>
          </a:p>
        </p:txBody>
      </p:sp>
      <p:sp>
        <p:nvSpPr>
          <p:cNvPr id="5" name="AutoShape 5"/>
          <p:cNvSpPr/>
          <p:nvPr/>
        </p:nvSpPr>
        <p:spPr>
          <a:xfrm>
            <a:off x="4560561" y="508000"/>
            <a:ext cx="3324835" cy="1292650"/>
          </a:xfrm>
          <a:prstGeom prst="roundRect">
            <a:avLst>
              <a:gd name="adj" fmla="val 0"/>
            </a:avLst>
          </a:prstGeom>
          <a:solidFill>
            <a:srgbClr val="F0FDF4">
              <a:alpha val="5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710395" y="748512"/>
            <a:ext cx="2053417"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329"/>
                </a:solidFill>
                <a:latin typeface="Liberation Sans"/>
                <a:ea typeface="Liberation Sans"/>
                <a:cs typeface="Liberation Sans"/>
                <a:sym typeface="Liberation Sans"/>
              </a:rPr>
              <a:t>Missing Value Audit</a:t>
            </a:r>
            <a:endParaRPr lang="en-US" sz="1100" dirty="0"/>
          </a:p>
        </p:txBody>
      </p:sp>
      <p:sp>
        <p:nvSpPr>
          <p:cNvPr id="8" name="AutoShape 8"/>
          <p:cNvSpPr/>
          <p:nvPr/>
        </p:nvSpPr>
        <p:spPr>
          <a:xfrm>
            <a:off x="9657851" y="905164"/>
            <a:ext cx="2081567"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0B981"/>
                </a:solidFill>
                <a:latin typeface="Liberation Sans"/>
                <a:ea typeface="Liberation Sans"/>
                <a:cs typeface="Liberation Sans"/>
                <a:sym typeface="Liberation Sans"/>
              </a:rPr>
              <a:t>100% Complete</a:t>
            </a:r>
            <a:endParaRPr lang="en-US" sz="1100" dirty="0"/>
          </a:p>
        </p:txBody>
      </p:sp>
      <p:sp>
        <p:nvSpPr>
          <p:cNvPr id="9" name="AutoShape 9"/>
          <p:cNvSpPr/>
          <p:nvPr/>
        </p:nvSpPr>
        <p:spPr>
          <a:xfrm>
            <a:off x="4710395" y="1303790"/>
            <a:ext cx="3175001" cy="412224"/>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Liberation Sans"/>
                <a:ea typeface="Liberation Sans"/>
                <a:cs typeface="Liberation Sans"/>
                <a:sym typeface="Liberation Sans"/>
              </a:rPr>
              <a:t>No null values detected across all 54 features </a:t>
            </a:r>
            <a:endParaRPr lang="en-US" sz="1100" dirty="0"/>
          </a:p>
        </p:txBody>
      </p:sp>
      <p:sp>
        <p:nvSpPr>
          <p:cNvPr id="20" name="AutoShape 20"/>
          <p:cNvSpPr/>
          <p:nvPr/>
        </p:nvSpPr>
        <p:spPr>
          <a:xfrm>
            <a:off x="508000" y="1790652"/>
            <a:ext cx="1117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74151"/>
                </a:solidFill>
                <a:latin typeface="Liberation Sans"/>
                <a:ea typeface="Liberation Sans"/>
                <a:cs typeface="Liberation Sans"/>
                <a:sym typeface="Liberation Sans"/>
              </a:rPr>
              <a:t>Feature Engineering Summary Matrix</a:t>
            </a:r>
            <a:endParaRPr lang="en-US" sz="1100" dirty="0"/>
          </a:p>
        </p:txBody>
      </p:sp>
      <p:graphicFrame>
        <p:nvGraphicFramePr>
          <p:cNvPr id="21" name="Table 21"/>
          <p:cNvGraphicFramePr>
            <a:graphicFrameLocks noGrp="1"/>
          </p:cNvGraphicFramePr>
          <p:nvPr>
            <p:extLst>
              <p:ext uri="{D42A27DB-BD31-4B8C-83A1-F6EECF244321}">
                <p14:modId xmlns:p14="http://schemas.microsoft.com/office/powerpoint/2010/main" val="3259178527"/>
              </p:ext>
            </p:extLst>
          </p:nvPr>
        </p:nvGraphicFramePr>
        <p:xfrm>
          <a:off x="508000" y="2324386"/>
          <a:ext cx="10911114" cy="1817000"/>
        </p:xfrm>
        <a:graphic>
          <a:graphicData uri="http://schemas.openxmlformats.org/drawingml/2006/table">
            <a:tbl>
              <a:tblPr>
                <a:effectLst/>
              </a:tblPr>
              <a:tblGrid>
                <a:gridCol w="1821543">
                  <a:extLst>
                    <a:ext uri="{9D8B030D-6E8A-4147-A177-3AD203B41FA5}">
                      <a16:colId xmlns:a16="http://schemas.microsoft.com/office/drawing/2014/main" val="20000"/>
                    </a:ext>
                  </a:extLst>
                </a:gridCol>
                <a:gridCol w="1734457">
                  <a:extLst>
                    <a:ext uri="{9D8B030D-6E8A-4147-A177-3AD203B41FA5}">
                      <a16:colId xmlns:a16="http://schemas.microsoft.com/office/drawing/2014/main" val="20001"/>
                    </a:ext>
                  </a:extLst>
                </a:gridCol>
                <a:gridCol w="3947886">
                  <a:extLst>
                    <a:ext uri="{9D8B030D-6E8A-4147-A177-3AD203B41FA5}">
                      <a16:colId xmlns:a16="http://schemas.microsoft.com/office/drawing/2014/main" val="20002"/>
                    </a:ext>
                  </a:extLst>
                </a:gridCol>
                <a:gridCol w="3407228">
                  <a:extLst>
                    <a:ext uri="{9D8B030D-6E8A-4147-A177-3AD203B41FA5}">
                      <a16:colId xmlns:a16="http://schemas.microsoft.com/office/drawing/2014/main" val="20003"/>
                    </a:ext>
                  </a:extLst>
                </a:gridCol>
              </a:tblGrid>
              <a:tr h="509720">
                <a:tc>
                  <a:txBody>
                    <a:bodyPr/>
                    <a:lstStyle/>
                    <a:p>
                      <a:pPr marL="0" indent="0" algn="ctr">
                        <a:lnSpc>
                          <a:spcPct val="100000"/>
                        </a:lnSpc>
                        <a:defRPr/>
                      </a:pPr>
                      <a:r>
                        <a:rPr lang="en-US" sz="1300" b="1" i="0" u="none" strike="noStrike" dirty="0">
                          <a:solidFill>
                            <a:srgbClr val="FFFFFF"/>
                          </a:solidFill>
                          <a:latin typeface="Liberation Sans"/>
                          <a:ea typeface="Liberation Sans"/>
                          <a:cs typeface="Liberation Sans"/>
                          <a:sym typeface="Liberation Sans"/>
                        </a:rPr>
                        <a:t>Category</a:t>
                      </a:r>
                      <a:endParaRPr lang="en-US" sz="1100" dirty="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Liberation Sans"/>
                          <a:ea typeface="Liberation Sans"/>
                          <a:cs typeface="Liberation Sans"/>
                          <a:sym typeface="Liberation Sans"/>
                        </a:rPr>
                        <a:t>Count</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Liberation Sans"/>
                          <a:ea typeface="Liberation Sans"/>
                          <a:cs typeface="Liberation Sans"/>
                          <a:sym typeface="Liberation Sans"/>
                        </a:rPr>
                        <a:t>Representative Examples</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dirty="0">
                          <a:solidFill>
                            <a:srgbClr val="FFFFFF"/>
                          </a:solidFill>
                          <a:latin typeface="Liberation Sans"/>
                          <a:ea typeface="Liberation Sans"/>
                          <a:cs typeface="Liberation Sans"/>
                          <a:sym typeface="Liberation Sans"/>
                        </a:rPr>
                        <a:t>Applied Preprocessing</a:t>
                      </a:r>
                      <a:endParaRPr lang="en-US" sz="1100" dirty="0"/>
                    </a:p>
                  </a:txBody>
                  <a:tcPr marL="101600" marR="101600" marT="101600" marB="101600" anchor="ctr">
                    <a:lnL>
                      <a:noFill/>
                    </a:lnL>
                    <a:lnR>
                      <a:noFill/>
                    </a:lnR>
                    <a:lnT>
                      <a:noFill/>
                    </a:lnT>
                    <a:lnB>
                      <a:noFill/>
                    </a:lnB>
                    <a:solidFill>
                      <a:srgbClr val="3B82F6">
                        <a:alpha val="100000"/>
                      </a:srgbClr>
                    </a:solidFill>
                  </a:tcPr>
                </a:tc>
                <a:extLst>
                  <a:ext uri="{0D108BD9-81ED-4DB2-BD59-A6C34878D82A}">
                    <a16:rowId xmlns:a16="http://schemas.microsoft.com/office/drawing/2014/main" val="10000"/>
                  </a:ext>
                </a:extLst>
              </a:tr>
              <a:tr h="692865">
                <a:tc>
                  <a:txBody>
                    <a:bodyPr/>
                    <a:lstStyle/>
                    <a:p>
                      <a:pPr marL="0" indent="0" algn="ctr">
                        <a:lnSpc>
                          <a:spcPct val="100000"/>
                        </a:lnSpc>
                        <a:defRPr/>
                      </a:pPr>
                      <a:r>
                        <a:rPr lang="en-US" sz="1300" b="0" i="0" u="none" strike="noStrike" dirty="0">
                          <a:solidFill>
                            <a:srgbClr val="1F2329"/>
                          </a:solidFill>
                          <a:latin typeface="Liberation Sans"/>
                          <a:ea typeface="Liberation Sans"/>
                          <a:cs typeface="Liberation Sans"/>
                          <a:sym typeface="Liberation Sans"/>
                        </a:rPr>
                        <a:t>Continuous</a:t>
                      </a:r>
                      <a:endParaRPr lang="en-US" sz="1100" dirty="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Liberation Sans"/>
                          <a:ea typeface="Liberation Sans"/>
                          <a:cs typeface="Liberation Sans"/>
                          <a:sym typeface="Liberation Sans"/>
                        </a:rPr>
                        <a:t>10</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127000" indent="0" algn="l">
                        <a:lnSpc>
                          <a:spcPct val="100000"/>
                        </a:lnSpc>
                        <a:defRPr/>
                      </a:pPr>
                      <a:r>
                        <a:rPr lang="en-US" sz="1300" b="0" i="0" u="none" strike="noStrike" dirty="0">
                          <a:solidFill>
                            <a:srgbClr val="374151"/>
                          </a:solidFill>
                          <a:latin typeface="Liberation Sans"/>
                          <a:ea typeface="Liberation Sans"/>
                          <a:cs typeface="Liberation Sans"/>
                          <a:sym typeface="Liberation Sans"/>
                        </a:rPr>
                        <a:t>Elevation, Aspect, Slope, </a:t>
                      </a:r>
                      <a:r>
                        <a:rPr lang="en-US" sz="1300" b="0" i="0" u="none" strike="noStrike" dirty="0" err="1">
                          <a:solidFill>
                            <a:srgbClr val="374151"/>
                          </a:solidFill>
                          <a:latin typeface="Liberation Sans"/>
                          <a:ea typeface="Liberation Sans"/>
                          <a:cs typeface="Liberation Sans"/>
                          <a:sym typeface="Liberation Sans"/>
                        </a:rPr>
                        <a:t>Hillshade</a:t>
                      </a:r>
                      <a:r>
                        <a:rPr lang="en-US" sz="1300" b="0" i="0" u="none" strike="noStrike" dirty="0">
                          <a:solidFill>
                            <a:srgbClr val="374151"/>
                          </a:solidFill>
                          <a:latin typeface="Liberation Sans"/>
                          <a:ea typeface="Liberation Sans"/>
                          <a:cs typeface="Liberation Sans"/>
                          <a:sym typeface="Liberation Sans"/>
                        </a:rPr>
                        <a:t> (9am/noon/3pm), Distances to Hydrology/Road/Fire</a:t>
                      </a:r>
                      <a:endParaRPr lang="en-US" sz="1100" dirty="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Liberation Sans"/>
                          <a:ea typeface="Liberation Sans"/>
                          <a:cs typeface="Liberation Sans"/>
                          <a:sym typeface="Liberation Sans"/>
                        </a:rPr>
                        <a:t>StandardScaler (Mean=0, Std=1)</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1"/>
                  </a:ext>
                </a:extLst>
              </a:tr>
              <a:tr h="509720">
                <a:tc>
                  <a:txBody>
                    <a:bodyPr/>
                    <a:lstStyle/>
                    <a:p>
                      <a:pPr algn="l"/>
                      <a:r>
                        <a:rPr lang="en-US" sz="1400" b="0" i="0" u="none" strike="noStrike" dirty="0">
                          <a:solidFill>
                            <a:srgbClr val="1F2329"/>
                          </a:solidFill>
                          <a:latin typeface="Liberation Sans"/>
                          <a:ea typeface="Liberation Sans"/>
                          <a:cs typeface="Liberation Sans"/>
                          <a:sym typeface="Liberation Sans"/>
                        </a:rPr>
                        <a:t>Binary indicators</a:t>
                      </a:r>
                    </a:p>
                  </a:txBody>
                  <a:tcPr marL="101600" marR="101600" marT="101600" marB="101600" anchor="ctr">
                    <a:lnL>
                      <a:noFill/>
                    </a:lnL>
                    <a:lnR>
                      <a:noFill/>
                    </a:lnR>
                    <a:lnT>
                      <a:noFill/>
                    </a:lnT>
                    <a:lnB>
                      <a:noFill/>
                    </a:lnB>
                    <a:solidFill>
                      <a:srgbClr val="FFFFFF">
                        <a:alpha val="100000"/>
                      </a:srgbClr>
                    </a:solidFill>
                  </a:tcPr>
                </a:tc>
                <a:tc>
                  <a:txBody>
                    <a:bodyPr/>
                    <a:lstStyle/>
                    <a:p>
                      <a:pPr algn="ctr"/>
                      <a:r>
                        <a:rPr lang="en-US" sz="780" b="0" i="0" u="none" strike="noStrike" dirty="0">
                          <a:solidFill>
                            <a:srgbClr val="1F2329"/>
                          </a:solidFill>
                          <a:latin typeface="Liberation Sans"/>
                          <a:ea typeface="Liberation Sans"/>
                          <a:cs typeface="Liberation Sans"/>
                          <a:sym typeface="Liberation Sans"/>
                        </a:rPr>
                        <a:t>44 (4 wilderness, 40 soil)</a:t>
                      </a:r>
                    </a:p>
                  </a:txBody>
                  <a:tcPr marL="101600" marR="101600" marT="101600" marB="101600" anchor="ctr">
                    <a:lnL>
                      <a:noFill/>
                    </a:lnL>
                    <a:lnR>
                      <a:noFill/>
                    </a:lnR>
                    <a:lnT>
                      <a:noFill/>
                    </a:lnT>
                    <a:lnB>
                      <a:noFill/>
                    </a:lnB>
                    <a:solidFill>
                      <a:srgbClr val="FFFFFF">
                        <a:alpha val="100000"/>
                      </a:srgbClr>
                    </a:solidFill>
                  </a:tcPr>
                </a:tc>
                <a:tc>
                  <a:txBody>
                    <a:bodyPr/>
                    <a:lstStyle/>
                    <a:p>
                      <a:pPr algn="ctr"/>
                      <a:r>
                        <a:rPr lang="en-US" sz="780" b="0" i="0" u="none" strike="noStrike" dirty="0">
                          <a:solidFill>
                            <a:srgbClr val="374151"/>
                          </a:solidFill>
                          <a:latin typeface="Liberation Sans"/>
                          <a:ea typeface="Liberation Sans"/>
                          <a:cs typeface="Liberation Sans"/>
                          <a:sym typeface="Liberation Sans"/>
                        </a:rPr>
                        <a:t>Rawah, Neota, Comanche Peak, Cache la Poudre; Soil_Type_1–40</a:t>
                      </a:r>
                    </a:p>
                  </a:txBody>
                  <a:tcPr marL="101600" marR="101600" marT="101600" marB="101600" anchor="ctr">
                    <a:lnL>
                      <a:noFill/>
                    </a:lnL>
                    <a:lnR>
                      <a:noFill/>
                    </a:lnR>
                    <a:lnT>
                      <a:noFill/>
                    </a:lnT>
                    <a:lnB>
                      <a:noFill/>
                    </a:lnB>
                    <a:solidFill>
                      <a:srgbClr val="FFFFFF">
                        <a:alpha val="100000"/>
                      </a:srgbClr>
                    </a:solidFill>
                  </a:tcPr>
                </a:tc>
                <a:tc>
                  <a:txBody>
                    <a:bodyPr/>
                    <a:lstStyle/>
                    <a:p>
                      <a:pPr algn="ctr"/>
                      <a:r>
                        <a:rPr lang="en-US" altLang="zh-CN" sz="780" b="0" i="0" u="none" strike="noStrike" dirty="0">
                          <a:solidFill>
                            <a:srgbClr val="4B5563"/>
                          </a:solidFill>
                          <a:latin typeface="Liberation Sans"/>
                          <a:ea typeface="Liberation Sans"/>
                          <a:cs typeface="Liberation Sans"/>
                          <a:sym typeface="Liberation Sans"/>
                        </a:rPr>
                        <a:t>Keep as 0/1; mode-imputation ready; no scaling</a:t>
                      </a:r>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bl>
          </a:graphicData>
        </a:graphic>
      </p:graphicFrame>
      <p:pic>
        <p:nvPicPr>
          <p:cNvPr id="22" name="Picture 8">
            <a:extLst>
              <a:ext uri="{FF2B5EF4-FFF2-40B4-BE49-F238E27FC236}">
                <a16:creationId xmlns:a16="http://schemas.microsoft.com/office/drawing/2014/main" id="{F24B5045-1602-BAC1-25CB-DA020C3BDEE4}"/>
              </a:ext>
            </a:extLst>
          </p:cNvPr>
          <p:cNvPicPr>
            <a:picLocks noChangeAspect="1"/>
          </p:cNvPicPr>
          <p:nvPr/>
        </p:nvPicPr>
        <p:blipFill>
          <a:blip r:embed="rId3"/>
          <a:srcRect l="92" r="92"/>
          <a:stretch>
            <a:fillRect/>
          </a:stretch>
        </p:blipFill>
        <p:spPr>
          <a:xfrm>
            <a:off x="8222343" y="519612"/>
            <a:ext cx="3044372" cy="16309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文本框 23">
            <a:extLst>
              <a:ext uri="{FF2B5EF4-FFF2-40B4-BE49-F238E27FC236}">
                <a16:creationId xmlns:a16="http://schemas.microsoft.com/office/drawing/2014/main" id="{48EF9579-29AA-19E6-F105-99D967529E6B}"/>
              </a:ext>
            </a:extLst>
          </p:cNvPr>
          <p:cNvSpPr txBox="1"/>
          <p:nvPr/>
        </p:nvSpPr>
        <p:spPr>
          <a:xfrm>
            <a:off x="406048" y="2085465"/>
            <a:ext cx="7399010" cy="236988"/>
          </a:xfrm>
          <a:prstGeom prst="rect">
            <a:avLst/>
          </a:prstGeom>
          <a:noFill/>
        </p:spPr>
        <p:txBody>
          <a:bodyPr wrap="square">
            <a:spAutoFit/>
          </a:bodyPr>
          <a:lstStyle/>
          <a:p>
            <a:r>
              <a:rPr lang="en-US" altLang="zh-CN" sz="940" b="0" i="0" u="none" strike="noStrike" dirty="0">
                <a:solidFill>
                  <a:srgbClr val="475569"/>
                </a:solidFill>
                <a:latin typeface="Liberation Sans"/>
                <a:ea typeface="Liberation Sans"/>
                <a:cs typeface="Liberation Sans"/>
                <a:sym typeface="Liberation Sans"/>
              </a:rPr>
              <a:t>Leakage control: StandardScaler is fitted only on the relevant analysis/training subset; all binary indicators remain 0/1.</a:t>
            </a:r>
          </a:p>
        </p:txBody>
      </p:sp>
      <p:pic>
        <p:nvPicPr>
          <p:cNvPr id="25" name="图片 24">
            <a:extLst>
              <a:ext uri="{FF2B5EF4-FFF2-40B4-BE49-F238E27FC236}">
                <a16:creationId xmlns:a16="http://schemas.microsoft.com/office/drawing/2014/main" id="{171E0D64-C82A-D9D1-9711-FB5F0B9DAA93}"/>
              </a:ext>
            </a:extLst>
          </p:cNvPr>
          <p:cNvPicPr>
            <a:picLocks noChangeAspect="1"/>
          </p:cNvPicPr>
          <p:nvPr/>
        </p:nvPicPr>
        <p:blipFill>
          <a:blip r:embed="rId4"/>
          <a:srcRect b="5117"/>
          <a:stretch>
            <a:fillRect/>
          </a:stretch>
        </p:blipFill>
        <p:spPr>
          <a:xfrm>
            <a:off x="508000" y="4264769"/>
            <a:ext cx="4654948" cy="2177727"/>
          </a:xfrm>
          <a:prstGeom prst="rect">
            <a:avLst/>
          </a:prstGeom>
        </p:spPr>
      </p:pic>
      <p:pic>
        <p:nvPicPr>
          <p:cNvPr id="26" name="图片 25">
            <a:extLst>
              <a:ext uri="{FF2B5EF4-FFF2-40B4-BE49-F238E27FC236}">
                <a16:creationId xmlns:a16="http://schemas.microsoft.com/office/drawing/2014/main" id="{226D7070-C621-CF9C-7E92-FFC92067D192}"/>
              </a:ext>
            </a:extLst>
          </p:cNvPr>
          <p:cNvPicPr>
            <a:picLocks noChangeAspect="1"/>
          </p:cNvPicPr>
          <p:nvPr/>
        </p:nvPicPr>
        <p:blipFill>
          <a:blip r:embed="rId5"/>
          <a:srcRect b="5117"/>
          <a:stretch>
            <a:fillRect/>
          </a:stretch>
        </p:blipFill>
        <p:spPr>
          <a:xfrm>
            <a:off x="6764165" y="4258410"/>
            <a:ext cx="4654949" cy="2177727"/>
          </a:xfrm>
          <a:prstGeom prst="rect">
            <a:avLst/>
          </a:prstGeom>
        </p:spPr>
      </p:pic>
      <p:cxnSp>
        <p:nvCxnSpPr>
          <p:cNvPr id="28" name="直线箭头连接符 27">
            <a:extLst>
              <a:ext uri="{FF2B5EF4-FFF2-40B4-BE49-F238E27FC236}">
                <a16:creationId xmlns:a16="http://schemas.microsoft.com/office/drawing/2014/main" id="{FDB25222-136E-B770-AC4C-B24F78C723DC}"/>
              </a:ext>
            </a:extLst>
          </p:cNvPr>
          <p:cNvCxnSpPr>
            <a:cxnSpLocks/>
          </p:cNvCxnSpPr>
          <p:nvPr/>
        </p:nvCxnSpPr>
        <p:spPr>
          <a:xfrm>
            <a:off x="5350328" y="5521552"/>
            <a:ext cx="132921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082FD40-8706-9979-4416-BABE8F832CBA}"/>
              </a:ext>
            </a:extLst>
          </p:cNvPr>
          <p:cNvSpPr txBox="1"/>
          <p:nvPr/>
        </p:nvSpPr>
        <p:spPr>
          <a:xfrm>
            <a:off x="5350328" y="5039497"/>
            <a:ext cx="1329210" cy="307777"/>
          </a:xfrm>
          <a:prstGeom prst="rect">
            <a:avLst/>
          </a:prstGeom>
          <a:noFill/>
        </p:spPr>
        <p:txBody>
          <a:bodyPr wrap="none" rtlCol="0">
            <a:spAutoFit/>
          </a:bodyPr>
          <a:lstStyle/>
          <a:p>
            <a:r>
              <a:rPr kumimoji="1" lang="en-US" altLang="zh-CN" dirty="0"/>
              <a:t>Preprocessing</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17613"/>
    </mc:Choice>
    <mc:Fallback>
      <p:transition spd="slow" advTm="1761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4" name="AutoShape 17">
            <a:extLst>
              <a:ext uri="{FF2B5EF4-FFF2-40B4-BE49-F238E27FC236}">
                <a16:creationId xmlns:a16="http://schemas.microsoft.com/office/drawing/2014/main" id="{4B25A843-8BFD-1B48-07D1-A076680D9103}"/>
              </a:ext>
            </a:extLst>
          </p:cNvPr>
          <p:cNvSpPr/>
          <p:nvPr/>
        </p:nvSpPr>
        <p:spPr>
          <a:xfrm>
            <a:off x="833701" y="5770275"/>
            <a:ext cx="10639059" cy="637165"/>
          </a:xfrm>
          <a:prstGeom prst="roundRect">
            <a:avLst>
              <a:gd name="adj" fmla="val 0"/>
            </a:avLst>
          </a:prstGeom>
          <a:solidFill>
            <a:schemeClr val="accent6">
              <a:alpha val="8000"/>
            </a:scheme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dirty="0">
              <a:solidFill>
                <a:schemeClr val="accent6"/>
              </a:solidFill>
            </a:endParaRPr>
          </a:p>
        </p:txBody>
      </p:sp>
      <p:sp>
        <p:nvSpPr>
          <p:cNvPr id="4" name="AutoShape 4"/>
          <p:cNvSpPr/>
          <p:nvPr/>
        </p:nvSpPr>
        <p:spPr>
          <a:xfrm>
            <a:off x="899511" y="311634"/>
            <a:ext cx="11176000" cy="762000"/>
          </a:xfrm>
          <a:prstGeom prst="rect">
            <a:avLst/>
          </a:prstGeom>
          <a:noFill/>
          <a:ln w="12700" cap="flat" cmpd="sng">
            <a:noFill/>
            <a:prstDash val="solid"/>
            <a:round/>
          </a:ln>
        </p:spPr>
        <p:txBody>
          <a:bodyPr vert="horz" wrap="square" lIns="0" tIns="0" rIns="0" bIns="0" rtlCol="0" anchor="ctr" anchorCtr="0"/>
          <a:lstStyle/>
          <a:p>
            <a:r>
              <a:rPr lang="en-US" sz="3000" b="1" i="0" u="none" strike="noStrike" dirty="0">
                <a:solidFill>
                  <a:srgbClr val="111827"/>
                </a:solidFill>
                <a:latin typeface="Liberation Sans"/>
                <a:ea typeface="Liberation Sans"/>
                <a:cs typeface="Liberation Sans"/>
                <a:sym typeface="Liberation Sans"/>
              </a:rPr>
              <a:t>03A t-SNE Data Visualization</a:t>
            </a:r>
          </a:p>
        </p:txBody>
      </p:sp>
      <p:sp>
        <p:nvSpPr>
          <p:cNvPr id="6" name="AutoShape 6"/>
          <p:cNvSpPr/>
          <p:nvPr/>
        </p:nvSpPr>
        <p:spPr>
          <a:xfrm>
            <a:off x="1042220" y="1120980"/>
            <a:ext cx="4064000" cy="508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200" b="0" i="0" u="none" strike="noStrike" dirty="0">
                <a:solidFill>
                  <a:srgbClr val="64748B"/>
                </a:solidFill>
                <a:latin typeface="Liberation Sans"/>
                <a:ea typeface="Liberation Sans"/>
                <a:cs typeface="Liberation Sans"/>
                <a:sym typeface="Liberation Sans"/>
              </a:rPr>
              <a:t>Figure: t-SNE 2D Embedding of 7 Forest Cover Types</a:t>
            </a:r>
            <a:endParaRPr lang="en-US" sz="1100" dirty="0"/>
          </a:p>
        </p:txBody>
      </p:sp>
      <p:sp>
        <p:nvSpPr>
          <p:cNvPr id="7" name="AutoShape 7"/>
          <p:cNvSpPr/>
          <p:nvPr/>
        </p:nvSpPr>
        <p:spPr>
          <a:xfrm>
            <a:off x="7085782" y="1260375"/>
            <a:ext cx="380595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4155"/>
                </a:solidFill>
                <a:latin typeface="Liberation Sans"/>
                <a:ea typeface="Liberation Sans"/>
                <a:cs typeface="Liberation Sans"/>
                <a:sym typeface="Liberation Sans"/>
              </a:rPr>
              <a:t>Key Observations &amp; Interpretations</a:t>
            </a:r>
            <a:endParaRPr lang="en-US" sz="1100" dirty="0"/>
          </a:p>
        </p:txBody>
      </p:sp>
      <p:sp>
        <p:nvSpPr>
          <p:cNvPr id="8" name="AutoShape 8"/>
          <p:cNvSpPr/>
          <p:nvPr/>
        </p:nvSpPr>
        <p:spPr>
          <a:xfrm>
            <a:off x="5726371" y="2029425"/>
            <a:ext cx="6342744" cy="812800"/>
          </a:xfrm>
          <a:prstGeom prst="roundRect">
            <a:avLst>
              <a:gd name="adj" fmla="val 0"/>
            </a:avLst>
          </a:prstGeom>
          <a:solidFill>
            <a:srgbClr val="3B82F6">
              <a:alpha val="6000"/>
            </a:srgbClr>
          </a:solidFill>
          <a:ln cap="flat" cmpd="sng">
            <a:solidFill>
              <a:srgbClr val="1F67DD">
                <a:alpha val="6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8771" y="2232625"/>
            <a:ext cx="390323" cy="406400"/>
          </a:xfrm>
          <a:prstGeom prst="rect">
            <a:avLst/>
          </a:prstGeom>
        </p:spPr>
      </p:pic>
      <p:sp>
        <p:nvSpPr>
          <p:cNvPr id="10" name="AutoShape 10"/>
          <p:cNvSpPr/>
          <p:nvPr/>
        </p:nvSpPr>
        <p:spPr>
          <a:xfrm>
            <a:off x="6437571" y="2105625"/>
            <a:ext cx="5549901" cy="660400"/>
          </a:xfrm>
          <a:prstGeom prst="rect">
            <a:avLst/>
          </a:prstGeom>
          <a:noFill/>
          <a:ln w="12700" cap="flat" cmpd="sng">
            <a:noFill/>
            <a:prstDash val="solid"/>
            <a:round/>
          </a:ln>
        </p:spPr>
        <p:txBody>
          <a:bodyPr vert="horz" wrap="square" lIns="0" tIns="0" rIns="0" bIns="0" rtlCol="0" anchor="ctr" anchorCtr="0"/>
          <a:lstStyle/>
          <a:p>
            <a:r>
              <a:rPr lang="en-US" sz="1080" b="1" i="0" u="none" strike="noStrike">
                <a:solidFill>
                  <a:srgbClr val="475569"/>
                </a:solidFill>
                <a:latin typeface="Liberation Sans"/>
                <a:ea typeface="Liberation Sans"/>
                <a:cs typeface="Liberation Sans"/>
                <a:sym typeface="Liberation Sans"/>
              </a:rPr>
              <a:t>Local Structure, Not Clean Clusters — </a:t>
            </a:r>
            <a:r>
              <a:rPr lang="en-US" sz="1080" b="0" i="0" u="none" strike="noStrike">
                <a:solidFill>
                  <a:srgbClr val="475569"/>
                </a:solidFill>
                <a:latin typeface="Liberation Sans"/>
                <a:ea typeface="Liberation Sans"/>
                <a:cs typeface="Liberation Sans"/>
                <a:sym typeface="Liberation Sans"/>
              </a:rPr>
              <a:t>Classes 1 and 2 overlap across much of the embedding; prevalence does not imply separability.</a:t>
            </a:r>
          </a:p>
        </p:txBody>
      </p:sp>
      <p:sp>
        <p:nvSpPr>
          <p:cNvPr id="11" name="AutoShape 11"/>
          <p:cNvSpPr/>
          <p:nvPr/>
        </p:nvSpPr>
        <p:spPr>
          <a:xfrm>
            <a:off x="5726371" y="2918425"/>
            <a:ext cx="6342744" cy="8128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8771" y="3121625"/>
            <a:ext cx="390323" cy="406400"/>
          </a:xfrm>
          <a:prstGeom prst="rect">
            <a:avLst/>
          </a:prstGeom>
        </p:spPr>
      </p:pic>
      <p:sp>
        <p:nvSpPr>
          <p:cNvPr id="13" name="AutoShape 13"/>
          <p:cNvSpPr/>
          <p:nvPr/>
        </p:nvSpPr>
        <p:spPr>
          <a:xfrm>
            <a:off x="6437571" y="2994625"/>
            <a:ext cx="5549901" cy="660400"/>
          </a:xfrm>
          <a:prstGeom prst="rect">
            <a:avLst/>
          </a:prstGeom>
          <a:noFill/>
          <a:ln w="12700" cap="flat" cmpd="sng">
            <a:noFill/>
            <a:prstDash val="solid"/>
            <a:round/>
          </a:ln>
        </p:spPr>
        <p:txBody>
          <a:bodyPr vert="horz" wrap="square" lIns="0" tIns="0" rIns="0" bIns="0" rtlCol="0" anchor="ctr" anchorCtr="0"/>
          <a:lstStyle/>
          <a:p>
            <a:r>
              <a:rPr lang="en-US" sz="1080" b="1" i="0" u="none" strike="noStrike">
                <a:solidFill>
                  <a:srgbClr val="475569"/>
                </a:solidFill>
                <a:latin typeface="Liberation Sans"/>
                <a:ea typeface="Liberation Sans"/>
                <a:cs typeface="Liberation Sans"/>
                <a:sym typeface="Liberation Sans"/>
              </a:rPr>
              <a:t>Rare-Class Pockets — </a:t>
            </a:r>
            <a:r>
              <a:rPr lang="en-US" sz="1080" b="0" i="0" u="none" strike="noStrike">
                <a:solidFill>
                  <a:srgbClr val="475569"/>
                </a:solidFill>
                <a:latin typeface="Liberation Sans"/>
                <a:ea typeface="Liberation Sans"/>
                <a:cs typeface="Liberation Sans"/>
                <a:sym typeface="Liberation Sans"/>
              </a:rPr>
              <a:t>Rare cover types form local pockets, but they are not globally isolated from the dominant classes.</a:t>
            </a:r>
          </a:p>
        </p:txBody>
      </p:sp>
      <p:sp>
        <p:nvSpPr>
          <p:cNvPr id="14" name="AutoShape 14"/>
          <p:cNvSpPr/>
          <p:nvPr/>
        </p:nvSpPr>
        <p:spPr>
          <a:xfrm>
            <a:off x="5726371" y="3807425"/>
            <a:ext cx="6342744" cy="812800"/>
          </a:xfrm>
          <a:prstGeom prst="roundRect">
            <a:avLst>
              <a:gd name="adj" fmla="val 0"/>
            </a:avLst>
          </a:prstGeom>
          <a:solidFill>
            <a:srgbClr val="F59E0B">
              <a:alpha val="6000"/>
            </a:srgbClr>
          </a:solidFill>
          <a:ln cap="flat" cmpd="sng">
            <a:solidFill>
              <a:srgbClr val="DC8A00">
                <a:alpha val="6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8771" y="4010625"/>
            <a:ext cx="390323" cy="406400"/>
          </a:xfrm>
          <a:prstGeom prst="rect">
            <a:avLst/>
          </a:prstGeom>
        </p:spPr>
      </p:pic>
      <p:sp>
        <p:nvSpPr>
          <p:cNvPr id="16" name="AutoShape 16"/>
          <p:cNvSpPr/>
          <p:nvPr/>
        </p:nvSpPr>
        <p:spPr>
          <a:xfrm>
            <a:off x="6437571" y="3883625"/>
            <a:ext cx="5549901" cy="660400"/>
          </a:xfrm>
          <a:prstGeom prst="rect">
            <a:avLst/>
          </a:prstGeom>
          <a:noFill/>
          <a:ln w="12700" cap="flat" cmpd="sng">
            <a:noFill/>
            <a:prstDash val="solid"/>
            <a:round/>
          </a:ln>
        </p:spPr>
        <p:txBody>
          <a:bodyPr vert="horz" wrap="square" lIns="0" tIns="0" rIns="0" bIns="0" rtlCol="0" anchor="ctr" anchorCtr="0"/>
          <a:lstStyle/>
          <a:p>
            <a:r>
              <a:rPr lang="en-US" sz="1080" b="1" i="0" u="none" strike="noStrike">
                <a:solidFill>
                  <a:srgbClr val="475569"/>
                </a:solidFill>
                <a:latin typeface="Liberation Sans"/>
                <a:ea typeface="Liberation Sans"/>
                <a:cs typeface="Liberation Sans"/>
                <a:sym typeface="Liberation Sans"/>
              </a:rPr>
              <a:t>High-Elevation Signal — </a:t>
            </a:r>
            <a:r>
              <a:rPr lang="en-US" sz="1080" b="0" i="0" u="none" strike="noStrike">
                <a:solidFill>
                  <a:srgbClr val="475569"/>
                </a:solidFill>
                <a:latin typeface="Liberation Sans"/>
                <a:ea typeface="Liberation Sans"/>
                <a:cs typeface="Liberation Sans"/>
                <a:sym typeface="Liberation Sans"/>
              </a:rPr>
              <a:t>Krummholz and some Spruce/Fir observations occupy more distinctive high-elevation regions.</a:t>
            </a:r>
          </a:p>
        </p:txBody>
      </p:sp>
      <p:sp>
        <p:nvSpPr>
          <p:cNvPr id="17" name="AutoShape 17"/>
          <p:cNvSpPr/>
          <p:nvPr/>
        </p:nvSpPr>
        <p:spPr>
          <a:xfrm>
            <a:off x="5726371" y="4696425"/>
            <a:ext cx="6342744" cy="812800"/>
          </a:xfrm>
          <a:prstGeom prst="roundRect">
            <a:avLst>
              <a:gd name="adj" fmla="val 0"/>
            </a:avLst>
          </a:prstGeom>
          <a:solidFill>
            <a:srgbClr val="8B5CF6">
              <a:alpha val="6000"/>
            </a:srgbClr>
          </a:solidFill>
          <a:ln cap="flat" cmpd="sng">
            <a:solidFill>
              <a:srgbClr val="6D3CDD">
                <a:alpha val="6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771" y="4899625"/>
            <a:ext cx="390323" cy="406400"/>
          </a:xfrm>
          <a:prstGeom prst="rect">
            <a:avLst/>
          </a:prstGeom>
        </p:spPr>
      </p:pic>
      <p:sp>
        <p:nvSpPr>
          <p:cNvPr id="19" name="AutoShape 19"/>
          <p:cNvSpPr/>
          <p:nvPr/>
        </p:nvSpPr>
        <p:spPr>
          <a:xfrm>
            <a:off x="6437571" y="4772625"/>
            <a:ext cx="5549901" cy="660400"/>
          </a:xfrm>
          <a:prstGeom prst="rect">
            <a:avLst/>
          </a:prstGeom>
          <a:noFill/>
          <a:ln w="12700" cap="flat" cmpd="sng">
            <a:noFill/>
            <a:prstDash val="solid"/>
            <a:round/>
          </a:ln>
        </p:spPr>
        <p:txBody>
          <a:bodyPr vert="horz" wrap="square" lIns="0" tIns="0" rIns="0" bIns="0" rtlCol="0" anchor="ctr" anchorCtr="0"/>
          <a:lstStyle/>
          <a:p>
            <a:r>
              <a:rPr lang="en-US" sz="1080" b="1" i="0" u="none" strike="noStrike" dirty="0">
                <a:solidFill>
                  <a:srgbClr val="475569"/>
                </a:solidFill>
                <a:latin typeface="Liberation Sans"/>
                <a:ea typeface="Liberation Sans"/>
                <a:cs typeface="Liberation Sans"/>
                <a:sym typeface="Liberation Sans"/>
              </a:rPr>
              <a:t>Visualization Caveat — </a:t>
            </a:r>
            <a:r>
              <a:rPr lang="en-US" sz="1080" b="0" i="0" u="none" strike="noStrike" dirty="0">
                <a:solidFill>
                  <a:srgbClr val="475569"/>
                </a:solidFill>
                <a:latin typeface="Liberation Sans"/>
                <a:ea typeface="Liberation Sans"/>
                <a:cs typeface="Liberation Sans"/>
                <a:sym typeface="Liberation Sans"/>
              </a:rPr>
              <a:t>t-SNE preserves local neighborhoods—not global distances—and cannot justify a specific number of clusters.</a:t>
            </a:r>
          </a:p>
        </p:txBody>
      </p:sp>
      <p:sp>
        <p:nvSpPr>
          <p:cNvPr id="23" name="文本框 22">
            <a:extLst>
              <a:ext uri="{FF2B5EF4-FFF2-40B4-BE49-F238E27FC236}">
                <a16:creationId xmlns:a16="http://schemas.microsoft.com/office/drawing/2014/main" id="{8352F348-4C15-4DB2-5CF7-AB5887FB5615}"/>
              </a:ext>
            </a:extLst>
          </p:cNvPr>
          <p:cNvSpPr txBox="1"/>
          <p:nvPr/>
        </p:nvSpPr>
        <p:spPr>
          <a:xfrm>
            <a:off x="947336" y="5880177"/>
            <a:ext cx="10253191" cy="461665"/>
          </a:xfrm>
          <a:prstGeom prst="rect">
            <a:avLst/>
          </a:prstGeom>
          <a:noFill/>
        </p:spPr>
        <p:txBody>
          <a:bodyPr wrap="square">
            <a:spAutoFit/>
          </a:bodyPr>
          <a:lstStyle/>
          <a:p>
            <a:pPr algn="ctr"/>
            <a:r>
              <a:rPr lang="zh-CN" altLang="en-US" sz="1050" b="0" dirty="0">
                <a:solidFill>
                  <a:srgbClr val="475569"/>
                </a:solidFill>
              </a:rPr>
              <a:t>5,999 stratified observations  •  continuous variables standardized  •  PCA 54→30 components  •  t-SNE used for visualization only</a:t>
            </a:r>
          </a:p>
        </p:txBody>
      </p:sp>
      <p:pic>
        <p:nvPicPr>
          <p:cNvPr id="5" name="图片 19">
            <a:extLst>
              <a:ext uri="{FF2B5EF4-FFF2-40B4-BE49-F238E27FC236}">
                <a16:creationId xmlns:a16="http://schemas.microsoft.com/office/drawing/2014/main" id="{4159526B-7785-CBCB-D303-B44B218306ED}"/>
              </a:ext>
            </a:extLst>
          </p:cNvPr>
          <p:cNvPicPr>
            <a:picLocks noChangeAspect="1"/>
          </p:cNvPicPr>
          <p:nvPr/>
        </p:nvPicPr>
        <p:blipFill>
          <a:blip r:embed="rId7"/>
          <a:stretch>
            <a:fillRect/>
          </a:stretch>
        </p:blipFill>
        <p:spPr>
          <a:xfrm>
            <a:off x="638542" y="1657430"/>
            <a:ext cx="4811238" cy="3862681"/>
          </a:xfrm>
          <a:prstGeom prst="rect">
            <a:avLst/>
          </a:prstGeom>
          <a:ln w="88900" cap="sq">
            <a:solidFill>
              <a:srgbClr val="FFFFFF"/>
            </a:solidFill>
            <a:miter/>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2000" advTm="29578"/>
    </mc:Choice>
    <mc:Fallback>
      <p:transition spd="slow" advTm="2957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DB84-D814-8F55-65FC-CA267F6722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A8D4002-0378-C26C-7737-FD4E038ACD97}"/>
              </a:ext>
            </a:extLst>
          </p:cNvPr>
          <p:cNvSpPr/>
          <p:nvPr/>
        </p:nvSpPr>
        <p:spPr>
          <a:xfrm>
            <a:off x="381000" y="144462"/>
            <a:ext cx="11176000" cy="762000"/>
          </a:xfrm>
          <a:prstGeom prst="rect">
            <a:avLst/>
          </a:prstGeom>
          <a:noFill/>
          <a:ln w="12700" cap="flat" cmpd="sng">
            <a:noFill/>
            <a:prstDash val="solid"/>
            <a:round/>
          </a:ln>
        </p:spPr>
        <p:txBody>
          <a:bodyPr vert="horz" wrap="square" lIns="0" tIns="0" rIns="0" bIns="0" rtlCol="0" anchor="ctr" anchorCtr="0"/>
          <a:lstStyle/>
          <a:p>
            <a:r>
              <a:rPr lang="en-US" altLang="zh-CN" sz="2800" b="1" dirty="0">
                <a:solidFill>
                  <a:srgbClr val="111827"/>
                </a:solidFill>
                <a:latin typeface="Liberation Sans"/>
                <a:ea typeface="Liberation Sans"/>
                <a:cs typeface="Liberation Sans"/>
                <a:sym typeface="Liberation Sans"/>
              </a:rPr>
              <a:t>03B Clustering Analysis</a:t>
            </a:r>
          </a:p>
        </p:txBody>
      </p:sp>
      <p:pic>
        <p:nvPicPr>
          <p:cNvPr id="3" name="Picture 3">
            <a:extLst>
              <a:ext uri="{FF2B5EF4-FFF2-40B4-BE49-F238E27FC236}">
                <a16:creationId xmlns:a16="http://schemas.microsoft.com/office/drawing/2014/main" id="{F138C15F-D077-6D8F-3B94-BAA61531AF5F}"/>
              </a:ext>
            </a:extLst>
          </p:cNvPr>
          <p:cNvPicPr>
            <a:picLocks noChangeAspect="1"/>
          </p:cNvPicPr>
          <p:nvPr/>
        </p:nvPicPr>
        <p:blipFill>
          <a:blip r:embed="rId3"/>
          <a:srcRect l="47" r="47"/>
          <a:stretch>
            <a:fillRect/>
          </a:stretch>
        </p:blipFill>
        <p:spPr>
          <a:xfrm>
            <a:off x="480060" y="841248"/>
            <a:ext cx="5486400" cy="2057400"/>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07003C31-E8AA-9141-1DF8-72987E794D20}"/>
              </a:ext>
            </a:extLst>
          </p:cNvPr>
          <p:cNvSpPr/>
          <p:nvPr/>
        </p:nvSpPr>
        <p:spPr>
          <a:xfrm>
            <a:off x="411480" y="2880360"/>
            <a:ext cx="11384280" cy="411480"/>
          </a:xfrm>
          <a:prstGeom prst="rect">
            <a:avLst/>
          </a:prstGeom>
          <a:noFill/>
          <a:ln w="12700" cap="flat" cmpd="sng">
            <a:noFill/>
            <a:prstDash val="solid"/>
            <a:round/>
          </a:ln>
        </p:spPr>
        <p:txBody>
          <a:bodyPr vert="horz" wrap="square" lIns="0" tIns="0" rIns="0" bIns="0" rtlCol="0" anchor="ctr" anchorCtr="0"/>
          <a:lstStyle/>
          <a:p>
            <a:pPr algn="ctr"/>
            <a:r>
              <a:rPr lang="en-US" sz="940" b="0" i="0" u="none" strike="noStrike" dirty="0">
                <a:solidFill>
                  <a:srgbClr val="64748B"/>
                </a:solidFill>
                <a:latin typeface="Liberation Sans"/>
                <a:ea typeface="Liberation Sans"/>
                <a:cs typeface="Liberation Sans"/>
                <a:sym typeface="Liberation Sans"/>
              </a:rPr>
              <a:t>Internal diagnostics favor K=3 for MiniBatchKMeans and K=4 for Ward; neither recovers the seven ecological labels.</a:t>
            </a:r>
          </a:p>
        </p:txBody>
      </p:sp>
      <p:sp>
        <p:nvSpPr>
          <p:cNvPr id="5" name="AutoShape 5">
            <a:extLst>
              <a:ext uri="{FF2B5EF4-FFF2-40B4-BE49-F238E27FC236}">
                <a16:creationId xmlns:a16="http://schemas.microsoft.com/office/drawing/2014/main" id="{235E87A3-B1EB-FB68-210D-0D6EFC03EB8C}"/>
              </a:ext>
            </a:extLst>
          </p:cNvPr>
          <p:cNvSpPr/>
          <p:nvPr/>
        </p:nvSpPr>
        <p:spPr>
          <a:xfrm>
            <a:off x="502920" y="3456432"/>
            <a:ext cx="5440680" cy="1170432"/>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endParaRPr/>
          </a:p>
        </p:txBody>
      </p:sp>
      <p:sp>
        <p:nvSpPr>
          <p:cNvPr id="7" name="AutoShape 7">
            <a:extLst>
              <a:ext uri="{FF2B5EF4-FFF2-40B4-BE49-F238E27FC236}">
                <a16:creationId xmlns:a16="http://schemas.microsoft.com/office/drawing/2014/main" id="{D3524D9B-21FC-1816-873C-A77FAE2561BB}"/>
              </a:ext>
            </a:extLst>
          </p:cNvPr>
          <p:cNvSpPr/>
          <p:nvPr/>
        </p:nvSpPr>
        <p:spPr>
          <a:xfrm>
            <a:off x="731520" y="3593592"/>
            <a:ext cx="4983480" cy="94183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250" b="1" i="0" u="none" strike="noStrike" dirty="0" err="1">
                <a:solidFill>
                  <a:srgbClr val="111827"/>
                </a:solidFill>
                <a:latin typeface="Liberation Sans"/>
                <a:ea typeface="Liberation Sans"/>
                <a:cs typeface="Liberation Sans"/>
                <a:sym typeface="Liberation Sans"/>
              </a:rPr>
              <a:t>MiniBatchKMeans</a:t>
            </a:r>
          </a:p>
          <a:p>
            <a:r>
              <a:rPr lang="en-US" sz="940" b="0" i="0" u="none" strike="noStrike" dirty="0" err="1">
                <a:solidFill>
                  <a:srgbClr val="475569"/>
                </a:solidFill>
                <a:latin typeface="Liberation Sans"/>
                <a:ea typeface="Liberation Sans"/>
                <a:cs typeface="Liberation Sans"/>
                <a:sym typeface="Liberation Sans"/>
              </a:rPr>
              <a:t>K=3 · silhouette=0.182 · CH=1317.241 · ARI=0.075</a:t>
            </a:r>
          </a:p>
        </p:txBody>
      </p:sp>
      <p:sp>
        <p:nvSpPr>
          <p:cNvPr id="8" name="AutoShape 8">
            <a:extLst>
              <a:ext uri="{FF2B5EF4-FFF2-40B4-BE49-F238E27FC236}">
                <a16:creationId xmlns:a16="http://schemas.microsoft.com/office/drawing/2014/main" id="{03C2BF30-EF02-97F6-226D-CB9763CC387F}"/>
              </a:ext>
            </a:extLst>
          </p:cNvPr>
          <p:cNvSpPr/>
          <p:nvPr/>
        </p:nvSpPr>
        <p:spPr>
          <a:xfrm>
            <a:off x="6236208" y="3456432"/>
            <a:ext cx="5440680" cy="1170432"/>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C5EAB968-3F1E-FB7C-A79B-7A95B6BB5CAA}"/>
              </a:ext>
            </a:extLst>
          </p:cNvPr>
          <p:cNvSpPr/>
          <p:nvPr/>
        </p:nvSpPr>
        <p:spPr>
          <a:xfrm>
            <a:off x="6464808" y="3593592"/>
            <a:ext cx="4983480" cy="94183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250" b="1" i="0" u="none" strike="noStrike" dirty="0">
                <a:solidFill>
                  <a:srgbClr val="111827"/>
                </a:solidFill>
                <a:latin typeface="Liberation Sans"/>
                <a:ea typeface="Liberation Sans"/>
                <a:cs typeface="Liberation Sans"/>
                <a:sym typeface="Liberation Sans"/>
              </a:rPr>
              <a:t>Ward Hierarchical</a:t>
            </a:r>
          </a:p>
          <a:p>
            <a:r>
              <a:rPr lang="en-US" sz="940" b="0" i="0" u="none" strike="noStrike" dirty="0">
                <a:solidFill>
                  <a:srgbClr val="475569"/>
                </a:solidFill>
                <a:latin typeface="Liberation Sans"/>
                <a:ea typeface="Liberation Sans"/>
                <a:cs typeface="Liberation Sans"/>
                <a:sym typeface="Liberation Sans"/>
              </a:rPr>
              <a:t>K=4 · silhouette=0.156 · CH=406.764 · ARI=0.103</a:t>
            </a:r>
          </a:p>
        </p:txBody>
      </p:sp>
      <p:sp>
        <p:nvSpPr>
          <p:cNvPr id="11" name="AutoShape 11">
            <a:extLst>
              <a:ext uri="{FF2B5EF4-FFF2-40B4-BE49-F238E27FC236}">
                <a16:creationId xmlns:a16="http://schemas.microsoft.com/office/drawing/2014/main" id="{CFECB1FD-1524-4780-DE98-BB6491944425}"/>
              </a:ext>
            </a:extLst>
          </p:cNvPr>
          <p:cNvSpPr/>
          <p:nvPr/>
        </p:nvSpPr>
        <p:spPr>
          <a:xfrm>
            <a:off x="502920" y="4846320"/>
            <a:ext cx="5440680" cy="1170432"/>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endParaRPr/>
          </a:p>
        </p:txBody>
      </p:sp>
      <p:sp>
        <p:nvSpPr>
          <p:cNvPr id="13" name="AutoShape 13">
            <a:extLst>
              <a:ext uri="{FF2B5EF4-FFF2-40B4-BE49-F238E27FC236}">
                <a16:creationId xmlns:a16="http://schemas.microsoft.com/office/drawing/2014/main" id="{03E3E60B-31C2-7759-FE42-F3FC76344AC4}"/>
              </a:ext>
            </a:extLst>
          </p:cNvPr>
          <p:cNvSpPr/>
          <p:nvPr/>
        </p:nvSpPr>
        <p:spPr>
          <a:xfrm>
            <a:off x="731520" y="4983480"/>
            <a:ext cx="4983480" cy="94183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250" b="1" i="0" u="none" strike="noStrike" dirty="0">
                <a:solidFill>
                  <a:srgbClr val="111827"/>
                </a:solidFill>
                <a:latin typeface="Liberation Sans"/>
                <a:ea typeface="Liberation Sans"/>
                <a:cs typeface="Liberation Sans"/>
                <a:sym typeface="Liberation Sans"/>
              </a:rPr>
              <a:t>Why Labels Are Not Recovered</a:t>
            </a:r>
          </a:p>
          <a:p>
            <a:r>
              <a:rPr lang="en-US" sz="940" b="0" i="0" u="none" strike="noStrike" dirty="0">
                <a:solidFill>
                  <a:srgbClr val="475569"/>
                </a:solidFill>
                <a:latin typeface="Liberation Sans"/>
                <a:ea typeface="Liberation Sans"/>
                <a:cs typeface="Liberation Sans"/>
                <a:sym typeface="Liberation Sans"/>
              </a:rPr>
              <a:t>Euclidean compactness on 10 continuous + 44 binary variables is not aligned with ecological class definitions.</a:t>
            </a:r>
          </a:p>
        </p:txBody>
      </p:sp>
      <p:sp>
        <p:nvSpPr>
          <p:cNvPr id="14" name="AutoShape 14">
            <a:extLst>
              <a:ext uri="{FF2B5EF4-FFF2-40B4-BE49-F238E27FC236}">
                <a16:creationId xmlns:a16="http://schemas.microsoft.com/office/drawing/2014/main" id="{EFED215B-D4A9-221E-8BF7-65AB568E62DB}"/>
              </a:ext>
            </a:extLst>
          </p:cNvPr>
          <p:cNvSpPr/>
          <p:nvPr/>
        </p:nvSpPr>
        <p:spPr>
          <a:xfrm>
            <a:off x="6236208" y="4846320"/>
            <a:ext cx="5440680" cy="1170432"/>
          </a:xfrm>
          <a:prstGeom prst="roundRect">
            <a:avLst>
              <a:gd name="adj" fmla="val 0"/>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endParaRPr/>
          </a:p>
        </p:txBody>
      </p:sp>
      <p:sp>
        <p:nvSpPr>
          <p:cNvPr id="16" name="AutoShape 16">
            <a:extLst>
              <a:ext uri="{FF2B5EF4-FFF2-40B4-BE49-F238E27FC236}">
                <a16:creationId xmlns:a16="http://schemas.microsoft.com/office/drawing/2014/main" id="{F3037DC4-4D1E-174A-1A98-971DF725C990}"/>
              </a:ext>
            </a:extLst>
          </p:cNvPr>
          <p:cNvSpPr/>
          <p:nvPr/>
        </p:nvSpPr>
        <p:spPr>
          <a:xfrm>
            <a:off x="6464808" y="4983480"/>
            <a:ext cx="4983480" cy="94183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250" b="1" i="0" u="none" strike="noStrike" dirty="0">
                <a:solidFill>
                  <a:srgbClr val="111827"/>
                </a:solidFill>
                <a:latin typeface="Liberation Sans"/>
                <a:ea typeface="Liberation Sans"/>
                <a:cs typeface="Liberation Sans"/>
                <a:sym typeface="Liberation Sans"/>
              </a:rPr>
              <a:t>Distance-Metric Check</a:t>
            </a:r>
          </a:p>
          <a:p>
            <a:r>
              <a:rPr lang="en-US" sz="940" b="0" i="0" u="none" strike="noStrike" dirty="0">
                <a:solidFill>
                  <a:srgbClr val="475569"/>
                </a:solidFill>
                <a:latin typeface="Liberation Sans"/>
                <a:ea typeface="Liberation Sans"/>
                <a:cs typeface="Liberation Sans"/>
                <a:sym typeface="Liberation Sans"/>
              </a:rPr>
              <a:t>Ward + Gower reaches ARI=0.215 at K=7—better, but still far below supervised Random Forest F1=0.908.</a:t>
            </a:r>
          </a:p>
        </p:txBody>
      </p:sp>
      <p:pic>
        <p:nvPicPr>
          <p:cNvPr id="18" name="ward_dendrogram"/>
          <p:cNvPicPr>
            <a:picLocks noChangeAspect="1"/>
          </p:cNvPicPr>
          <p:nvPr/>
        </p:nvPicPr>
        <p:blipFill>
          <a:blip r:embed="rId4"/>
          <a:srcRect l="47" r="47"/>
          <a:stretch>
            <a:fillRect/>
          </a:stretch>
        </p:blipFill>
        <p:spPr>
          <a:xfrm>
            <a:off x="6515100" y="841248"/>
            <a:ext cx="4937760" cy="2057400"/>
          </a:xfrm>
          <a:prstGeom prst="rect">
            <a:avLst/>
          </a:prstGeom>
          <a:noFill/>
          <a:ln w="25400" cap="flat" cmpd="sng">
            <a:noFill/>
            <a:prstDash val="solid"/>
            <a:round/>
          </a:ln>
        </p:spPr>
      </p:pic>
    </p:spTree>
    <p:extLst>
      <p:ext uri="{BB962C8B-B14F-4D97-AF65-F5344CB8AC3E}">
        <p14:creationId xmlns:p14="http://schemas.microsoft.com/office/powerpoint/2010/main" val="1477859994"/>
      </p:ext>
    </p:extLst>
  </p:cSld>
  <p:clrMapOvr>
    <a:masterClrMapping/>
  </p:clrMapOvr>
  <mc:AlternateContent xmlns:mc="http://schemas.openxmlformats.org/markup-compatibility/2006">
    <mc:Choice xmlns:p14="http://schemas.microsoft.com/office/powerpoint/2010/main" Requires="p14">
      <p:transition spd="slow" p14:dur="2000" advTm="39847"/>
    </mc:Choice>
    <mc:Fallback>
      <p:transition spd="slow" advTm="3984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508000" y="14367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Liberation Sans"/>
                <a:ea typeface="Liberation Sans"/>
                <a:cs typeface="Liberation Sans"/>
                <a:sym typeface="Liberation Sans"/>
              </a:rPr>
              <a:t>04 Predictive Model Training</a:t>
            </a:r>
            <a:endParaRPr lang="en-US" sz="1100" dirty="0"/>
          </a:p>
        </p:txBody>
      </p:sp>
      <p:sp>
        <p:nvSpPr>
          <p:cNvPr id="5" name="AutoShape 5"/>
          <p:cNvSpPr/>
          <p:nvPr/>
        </p:nvSpPr>
        <p:spPr>
          <a:xfrm>
            <a:off x="610720" y="1046280"/>
            <a:ext cx="5461000" cy="215900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64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563EB"/>
                </a:solidFill>
                <a:latin typeface="Liberation Sans"/>
                <a:ea typeface="Liberation Sans"/>
                <a:cs typeface="Liberation Sans"/>
                <a:sym typeface="Liberation Sans"/>
              </a:rPr>
              <a:t>Logistic Regression (Baseline)</a:t>
            </a:r>
            <a:endParaRPr lang="en-US" sz="1100" dirty="0"/>
          </a:p>
        </p:txBody>
      </p:sp>
      <p:cxnSp>
        <p:nvCxnSpPr>
          <p:cNvPr id="7" name="Connector 7"/>
          <p:cNvCxnSpPr/>
          <p:nvPr/>
        </p:nvCxnSpPr>
        <p:spPr>
          <a:xfrm rot="-8814">
            <a:off x="864728" y="1738430"/>
            <a:ext cx="4953000" cy="12700"/>
          </a:xfrm>
          <a:prstGeom prst="line">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8" name="AutoShape 8"/>
          <p:cNvSpPr/>
          <p:nvPr/>
        </p:nvSpPr>
        <p:spPr>
          <a:xfrm>
            <a:off x="864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Liberation Sans"/>
                <a:ea typeface="Liberation Sans"/>
                <a:cs typeface="Liberation Sans"/>
                <a:sym typeface="Liberation Sans"/>
              </a:rPr>
              <a:t>Test Accuracy</a:t>
            </a:r>
            <a:br>
              <a:rPr lang="en-US" sz="1600" b="0" i="0" u="none" strike="noStrike" dirty="0">
                <a:solidFill>
                  <a:srgbClr val="1F2329"/>
                </a:solidFill>
                <a:latin typeface="Liberation Sans"/>
                <a:ea typeface="Liberation Sans"/>
                <a:cs typeface="Liberation Sans"/>
                <a:sym typeface="Liberation Sans"/>
              </a:rPr>
            </a:br>
            <a:r>
              <a:rPr lang="en-US" sz="2400" b="1" i="0" u="none" strike="noStrike" dirty="0">
                <a:solidFill>
                  <a:srgbClr val="2563EB"/>
                </a:solidFill>
                <a:latin typeface="Liberation Sans"/>
                <a:ea typeface="Liberation Sans"/>
                <a:cs typeface="Liberation Sans"/>
                <a:sym typeface="Liberation Sans"/>
              </a:rPr>
              <a:t>0.676</a:t>
            </a:r>
            <a:endParaRPr lang="en-US" sz="1100" dirty="0"/>
          </a:p>
        </p:txBody>
      </p:sp>
      <p:sp>
        <p:nvSpPr>
          <p:cNvPr id="9" name="AutoShape 9"/>
          <p:cNvSpPr/>
          <p:nvPr/>
        </p:nvSpPr>
        <p:spPr>
          <a:xfrm>
            <a:off x="2553820" y="1685363"/>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Liberation Sans"/>
                <a:ea typeface="Liberation Sans"/>
                <a:cs typeface="Liberation Sans"/>
                <a:sym typeface="Liberation Sans"/>
              </a:rPr>
              <a:t>Macro F1 Score</a:t>
            </a:r>
            <a:br>
              <a:rPr lang="en-US" sz="1600" b="0" i="0" u="none" strike="noStrike" dirty="0">
                <a:solidFill>
                  <a:srgbClr val="1F2329"/>
                </a:solidFill>
                <a:latin typeface="Liberation Sans"/>
                <a:ea typeface="Liberation Sans"/>
                <a:cs typeface="Liberation Sans"/>
                <a:sym typeface="Liberation Sans"/>
              </a:rPr>
            </a:br>
            <a:r>
              <a:rPr lang="en-US" sz="2400" b="1" i="0" u="none" strike="noStrike" dirty="0">
                <a:solidFill>
                  <a:srgbClr val="2563EB"/>
                </a:solidFill>
                <a:latin typeface="Liberation Sans"/>
                <a:ea typeface="Liberation Sans"/>
                <a:cs typeface="Liberation Sans"/>
                <a:sym typeface="Liberation Sans"/>
              </a:rPr>
              <a:t>0.660</a:t>
            </a:r>
            <a:endParaRPr lang="en-US" sz="1100"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821" y="2497709"/>
            <a:ext cx="254000" cy="254000"/>
          </a:xfrm>
          <a:prstGeom prst="rect">
            <a:avLst/>
          </a:prstGeom>
        </p:spPr>
      </p:pic>
      <p:sp>
        <p:nvSpPr>
          <p:cNvPr id="11" name="AutoShape 11"/>
          <p:cNvSpPr/>
          <p:nvPr/>
        </p:nvSpPr>
        <p:spPr>
          <a:xfrm>
            <a:off x="1118737" y="2374868"/>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Liberation Sans"/>
                <a:ea typeface="Liberation Sans"/>
                <a:cs typeface="Liberation Sans"/>
                <a:sym typeface="Liberation Sans"/>
              </a:rPr>
              <a:t>Speed:</a:t>
            </a:r>
            <a:r>
              <a:rPr lang="zh-CN" altLang="en-US" sz="1400" b="1" i="0" u="none" strike="noStrike" dirty="0">
                <a:solidFill>
                  <a:srgbClr val="475569"/>
                </a:solidFill>
                <a:latin typeface="Liberation Sans"/>
                <a:ea typeface="Liberation Sans"/>
                <a:cs typeface="Liberation Sans"/>
                <a:sym typeface="Liberation Sans"/>
              </a:rPr>
              <a:t> </a:t>
            </a:r>
            <a:endParaRPr lang="en-US" altLang="zh-CN" sz="1400" b="1" i="0" u="none" strike="noStrike" dirty="0">
              <a:solidFill>
                <a:srgbClr val="475569"/>
              </a:solidFill>
              <a:latin typeface="Liberation Sans"/>
              <a:ea typeface="Liberation Sans"/>
              <a:cs typeface="Liberation Sans"/>
              <a:sym typeface="Liberation Sans"/>
            </a:endParaRPr>
          </a:p>
          <a:p>
            <a:pPr marL="0" indent="0" algn="l">
              <a:lnSpc>
                <a:spcPct val="125000"/>
              </a:lnSpc>
              <a:defRPr/>
            </a:pPr>
            <a:r>
              <a:rPr lang="en-US" sz="1400" b="0" i="0" u="none" strike="noStrike" dirty="0">
                <a:solidFill>
                  <a:srgbClr val="475569"/>
                </a:solidFill>
                <a:latin typeface="Liberation Sans"/>
                <a:ea typeface="Liberation Sans"/>
                <a:cs typeface="Liberation Sans"/>
                <a:sym typeface="Liberation Sans"/>
              </a:rPr>
              <a:t>Fast training (linear complexity), low inference latency</a:t>
            </a:r>
            <a:endParaRPr lang="en-US" sz="1100" dirty="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821" y="2810674"/>
            <a:ext cx="254000" cy="254000"/>
          </a:xfrm>
          <a:prstGeom prst="rect">
            <a:avLst/>
          </a:prstGeom>
        </p:spPr>
      </p:pic>
      <p:sp>
        <p:nvSpPr>
          <p:cNvPr id="13" name="AutoShape 13"/>
          <p:cNvSpPr/>
          <p:nvPr/>
        </p:nvSpPr>
        <p:spPr>
          <a:xfrm>
            <a:off x="1118737" y="2804742"/>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Liberation Sans"/>
                <a:ea typeface="Liberation Sans"/>
                <a:cs typeface="Liberation Sans"/>
                <a:sym typeface="Liberation Sans"/>
              </a:rPr>
              <a:t>Stability:</a:t>
            </a:r>
            <a:r>
              <a:rPr lang="zh-CN" altLang="en-US" sz="1400" b="1" i="0" u="none" strike="noStrike" dirty="0">
                <a:solidFill>
                  <a:srgbClr val="475569"/>
                </a:solidFill>
                <a:latin typeface="Liberation Sans"/>
                <a:ea typeface="Liberation Sans"/>
                <a:cs typeface="Liberation Sans"/>
                <a:sym typeface="Liberation Sans"/>
              </a:rPr>
              <a:t> </a:t>
            </a:r>
            <a:endParaRPr lang="en-US" altLang="zh-CN" sz="1400" b="1" i="0" u="none" strike="noStrike" dirty="0">
              <a:solidFill>
                <a:srgbClr val="475569"/>
              </a:solidFill>
              <a:latin typeface="Liberation Sans"/>
              <a:ea typeface="Liberation Sans"/>
              <a:cs typeface="Liberation Sans"/>
              <a:sym typeface="Liberation Sans"/>
            </a:endParaRPr>
          </a:p>
          <a:p>
            <a:pPr marL="0" indent="0" algn="l">
              <a:lnSpc>
                <a:spcPct val="125000"/>
              </a:lnSpc>
              <a:defRPr/>
            </a:pPr>
            <a:r>
              <a:rPr lang="en-US" sz="1400" b="0" i="0" u="none" strike="noStrike" dirty="0">
                <a:solidFill>
                  <a:srgbClr val="475569"/>
                </a:solidFill>
                <a:latin typeface="Liberation Sans"/>
                <a:ea typeface="Liberation Sans"/>
                <a:cs typeface="Liberation Sans"/>
                <a:sym typeface="Liberation Sans"/>
              </a:rPr>
              <a:t>No overfitting (ΔF1 = 0.002), very robust to noise</a:t>
            </a:r>
            <a:endParaRPr lang="en-US" sz="1100" dirty="0"/>
          </a:p>
        </p:txBody>
      </p:sp>
      <p:sp>
        <p:nvSpPr>
          <p:cNvPr id="14" name="AutoShape 14"/>
          <p:cNvSpPr/>
          <p:nvPr/>
        </p:nvSpPr>
        <p:spPr>
          <a:xfrm>
            <a:off x="6313020" y="1046280"/>
            <a:ext cx="5219700" cy="2159000"/>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79720" y="1236780"/>
            <a:ext cx="5080000" cy="444500"/>
          </a:xfrm>
          <a:prstGeom prst="rect">
            <a:avLst/>
          </a:prstGeom>
          <a:noFill/>
          <a:ln w="12700" cap="flat" cmpd="sng">
            <a:noFill/>
            <a:prstDash val="solid"/>
            <a:round/>
          </a:ln>
        </p:spPr>
        <p:txBody>
          <a:bodyPr vert="horz" wrap="square" lIns="0" tIns="0" rIns="0" bIns="0" rtlCol="0" anchor="ctr" anchorCtr="0"/>
          <a:lstStyle/>
          <a:p>
            <a:r>
              <a:rPr lang="en-US" sz="1600" b="1" i="0" u="none" strike="noStrike" dirty="0">
                <a:solidFill>
                  <a:srgbClr val="059669"/>
                </a:solidFill>
                <a:latin typeface="Liberation Sans"/>
                <a:ea typeface="Liberation Sans"/>
                <a:cs typeface="Liberation Sans"/>
                <a:sym typeface="Liberation Sans"/>
              </a:rPr>
              <a:t>Decision Tree (Regularized)</a:t>
            </a:r>
          </a:p>
        </p:txBody>
      </p:sp>
      <p:cxnSp>
        <p:nvCxnSpPr>
          <p:cNvPr id="16" name="Connector 16"/>
          <p:cNvCxnSpPr/>
          <p:nvPr/>
        </p:nvCxnSpPr>
        <p:spPr>
          <a:xfrm rot="-8814">
            <a:off x="6579728" y="1738430"/>
            <a:ext cx="4953000" cy="12700"/>
          </a:xfrm>
          <a:prstGeom prst="line">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7" name="AutoShape 17"/>
          <p:cNvSpPr/>
          <p:nvPr/>
        </p:nvSpPr>
        <p:spPr>
          <a:xfrm>
            <a:off x="6579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Liberation Sans"/>
                <a:ea typeface="Liberation Sans"/>
                <a:cs typeface="Liberation Sans"/>
                <a:sym typeface="Liberation Sans"/>
              </a:rPr>
              <a:t>Test Accuracy</a:t>
            </a:r>
            <a:br>
              <a:rPr lang="en-US" sz="1600" b="0" i="0" u="none" strike="noStrike" dirty="0">
                <a:solidFill>
                  <a:srgbClr val="1F2329"/>
                </a:solidFill>
                <a:latin typeface="Liberation Sans"/>
                <a:ea typeface="Liberation Sans"/>
                <a:cs typeface="Liberation Sans"/>
                <a:sym typeface="Liberation Sans"/>
              </a:rPr>
            </a:br>
            <a:r>
              <a:rPr lang="en-US" sz="2400" b="1" i="0" u="none" strike="noStrike" dirty="0">
                <a:solidFill>
                  <a:srgbClr val="16A34A"/>
                </a:solidFill>
                <a:latin typeface="Liberation Sans"/>
                <a:ea typeface="Liberation Sans"/>
                <a:cs typeface="Liberation Sans"/>
                <a:sym typeface="Liberation Sans"/>
              </a:rPr>
              <a:t>0.823</a:t>
            </a:r>
            <a:endParaRPr lang="en-US" sz="1100" dirty="0"/>
          </a:p>
        </p:txBody>
      </p:sp>
      <p:sp>
        <p:nvSpPr>
          <p:cNvPr id="18" name="AutoShape 18"/>
          <p:cNvSpPr/>
          <p:nvPr/>
        </p:nvSpPr>
        <p:spPr>
          <a:xfrm>
            <a:off x="8268821" y="1683395"/>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Liberation Sans"/>
                <a:ea typeface="Liberation Sans"/>
                <a:cs typeface="Liberation Sans"/>
                <a:sym typeface="Liberation Sans"/>
              </a:rPr>
              <a:t>Macro F1 Score</a:t>
            </a:r>
            <a:br>
              <a:rPr lang="en-US" sz="1600" b="0" i="0" u="none" strike="noStrike" dirty="0">
                <a:solidFill>
                  <a:srgbClr val="1F2329"/>
                </a:solidFill>
                <a:latin typeface="Liberation Sans"/>
                <a:ea typeface="Liberation Sans"/>
                <a:cs typeface="Liberation Sans"/>
                <a:sym typeface="Liberation Sans"/>
              </a:rPr>
            </a:br>
            <a:r>
              <a:rPr lang="en-US" sz="2400" b="1" i="0" u="none" strike="noStrike" dirty="0">
                <a:solidFill>
                  <a:srgbClr val="16A34A"/>
                </a:solidFill>
                <a:latin typeface="Liberation Sans"/>
                <a:ea typeface="Liberation Sans"/>
                <a:cs typeface="Liberation Sans"/>
                <a:sym typeface="Liberation Sans"/>
              </a:rPr>
              <a:t>0.819</a:t>
            </a:r>
            <a:endParaRPr lang="en-US" sz="1100" dirty="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2270" y="2505874"/>
            <a:ext cx="254000" cy="254000"/>
          </a:xfrm>
          <a:prstGeom prst="rect">
            <a:avLst/>
          </a:prstGeom>
        </p:spPr>
      </p:pic>
      <p:sp>
        <p:nvSpPr>
          <p:cNvPr id="20" name="AutoShape 20"/>
          <p:cNvSpPr/>
          <p:nvPr/>
        </p:nvSpPr>
        <p:spPr>
          <a:xfrm>
            <a:off x="7036920" y="2458703"/>
            <a:ext cx="4699000" cy="304800"/>
          </a:xfrm>
          <a:prstGeom prst="rect">
            <a:avLst/>
          </a:prstGeom>
          <a:noFill/>
          <a:ln w="12700" cap="flat" cmpd="sng">
            <a:noFill/>
            <a:prstDash val="solid"/>
            <a:round/>
          </a:ln>
        </p:spPr>
        <p:txBody>
          <a:bodyPr vert="horz" wrap="square" lIns="0" tIns="0" rIns="0" bIns="0" rtlCol="0" anchor="ctr" anchorCtr="0"/>
          <a:lstStyle/>
          <a:p>
            <a:r>
              <a:rPr lang="en-US" sz="900" b="0" i="0" u="none" strike="noStrike" dirty="0">
                <a:solidFill>
                  <a:srgbClr val="475569"/>
                </a:solidFill>
                <a:latin typeface="Liberation Sans"/>
                <a:ea typeface="Liberation Sans"/>
                <a:cs typeface="Liberation Sans"/>
                <a:sym typeface="Liberation Sans"/>
              </a:rPr>
              <a:t>Config: max_depth=24, min_samples_leaf=15 (fixed baseline)</a:t>
            </a: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2270" y="2824280"/>
            <a:ext cx="254000" cy="254000"/>
          </a:xfrm>
          <a:prstGeom prst="rect">
            <a:avLst/>
          </a:prstGeom>
        </p:spPr>
      </p:pic>
      <p:sp>
        <p:nvSpPr>
          <p:cNvPr id="22" name="AutoShape 22"/>
          <p:cNvSpPr/>
          <p:nvPr/>
        </p:nvSpPr>
        <p:spPr>
          <a:xfrm>
            <a:off x="7036920" y="275987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Liberation Sans"/>
                <a:ea typeface="Liberation Sans"/>
                <a:cs typeface="Liberation Sans"/>
                <a:sym typeface="Liberation Sans"/>
              </a:rPr>
              <a:t>Fit:</a:t>
            </a:r>
            <a:r>
              <a:rPr lang="zh-CN" altLang="en-US" sz="1400" b="1" i="0" u="none" strike="noStrike" dirty="0">
                <a:solidFill>
                  <a:srgbClr val="475569"/>
                </a:solidFill>
                <a:latin typeface="Liberation Sans"/>
                <a:ea typeface="Liberation Sans"/>
                <a:cs typeface="Liberation Sans"/>
                <a:sym typeface="Liberation Sans"/>
              </a:rPr>
              <a:t> </a:t>
            </a:r>
            <a:r>
              <a:rPr lang="en-US" sz="1400" b="0" i="0" u="none" strike="noStrike" dirty="0">
                <a:solidFill>
                  <a:srgbClr val="475569"/>
                </a:solidFill>
                <a:latin typeface="Liberation Sans"/>
                <a:ea typeface="Liberation Sans"/>
                <a:cs typeface="Liberation Sans"/>
                <a:sym typeface="Liberation Sans"/>
              </a:rPr>
              <a:t>Mild overfitting (ΔF1 = 0.046), high predictive power</a:t>
            </a:r>
            <a:endParaRPr lang="en-US" sz="1100" dirty="0"/>
          </a:p>
        </p:txBody>
      </p:sp>
      <p:sp>
        <p:nvSpPr>
          <p:cNvPr id="23" name="AutoShape 23"/>
          <p:cNvSpPr/>
          <p:nvPr/>
        </p:nvSpPr>
        <p:spPr>
          <a:xfrm>
            <a:off x="702981"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31" y="5311980"/>
            <a:ext cx="304800" cy="304800"/>
          </a:xfrm>
          <a:prstGeom prst="rect">
            <a:avLst/>
          </a:prstGeom>
        </p:spPr>
      </p:pic>
      <p:sp>
        <p:nvSpPr>
          <p:cNvPr id="25" name="AutoShape 25"/>
          <p:cNvSpPr/>
          <p:nvPr/>
        </p:nvSpPr>
        <p:spPr>
          <a:xfrm>
            <a:off x="1318931" y="531198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Liberation Sans"/>
                <a:ea typeface="Liberation Sans"/>
                <a:cs typeface="Liberation Sans"/>
                <a:sym typeface="Liberation Sans"/>
              </a:rPr>
              <a:t>Dataset Partitioning Strategy</a:t>
            </a:r>
            <a:endParaRPr lang="en-US" sz="1100"/>
          </a:p>
        </p:txBody>
      </p:sp>
      <p:sp>
        <p:nvSpPr>
          <p:cNvPr id="26" name="AutoShape 26"/>
          <p:cNvSpPr/>
          <p:nvPr/>
        </p:nvSpPr>
        <p:spPr>
          <a:xfrm>
            <a:off x="937932" y="5756480"/>
            <a:ext cx="4845050" cy="825500"/>
          </a:xfrm>
          <a:prstGeom prst="rect">
            <a:avLst/>
          </a:prstGeom>
          <a:noFill/>
          <a:ln w="12700" cap="flat" cmpd="sng">
            <a:noFill/>
            <a:prstDash val="solid"/>
            <a:round/>
          </a:ln>
        </p:spPr>
        <p:txBody>
          <a:bodyPr vert="horz" wrap="square" lIns="0" tIns="0" rIns="0" bIns="0" rtlCol="0" anchor="ctr" anchorCtr="0"/>
          <a:lstStyle/>
          <a:p>
            <a:r>
              <a:rPr lang="en-US" sz="1200" b="1" i="0" u="none" strike="noStrike" dirty="0">
                <a:solidFill>
                  <a:srgbClr val="475569"/>
                </a:solidFill>
                <a:latin typeface="Liberation Sans"/>
                <a:ea typeface="Liberation Sans"/>
                <a:cs typeface="Liberation Sans"/>
                <a:sym typeface="Liberation Sans"/>
              </a:rPr>
              <a:t>Modeling sample: </a:t>
            </a:r>
            <a:r>
              <a:rPr lang="en-US" sz="1200" b="0" i="0" u="none" strike="noStrike" dirty="0">
                <a:solidFill>
                  <a:srgbClr val="475569"/>
                </a:solidFill>
                <a:latin typeface="Liberation Sans"/>
                <a:ea typeface="Liberation Sans"/>
                <a:cs typeface="Liberation Sans"/>
                <a:sym typeface="Liberation Sans"/>
              </a:rPr>
              <a:t>97,950 stratified observations from the full 581,012. </a:t>
            </a:r>
          </a:p>
          <a:p>
            <a:r>
              <a:rPr lang="en-US" sz="1200" b="1" i="0" u="none" strike="noStrike" dirty="0">
                <a:solidFill>
                  <a:srgbClr val="475569"/>
                </a:solidFill>
                <a:latin typeface="Liberation Sans"/>
                <a:ea typeface="Liberation Sans"/>
                <a:cs typeface="Liberation Sans"/>
                <a:sym typeface="Liberation Sans"/>
              </a:rPr>
              <a:t>Split: </a:t>
            </a:r>
            <a:r>
              <a:rPr lang="en-US" sz="1200" b="0" i="0" u="none" strike="noStrike" dirty="0">
                <a:solidFill>
                  <a:srgbClr val="475569"/>
                </a:solidFill>
                <a:latin typeface="Liberation Sans"/>
                <a:ea typeface="Liberation Sans"/>
                <a:cs typeface="Liberation Sans"/>
                <a:sym typeface="Liberation Sans"/>
              </a:rPr>
              <a:t>68,565 train / 29,385 held-out test (70/30).</a:t>
            </a:r>
          </a:p>
        </p:txBody>
      </p:sp>
      <p:sp>
        <p:nvSpPr>
          <p:cNvPr id="27" name="AutoShape 27"/>
          <p:cNvSpPr/>
          <p:nvPr/>
        </p:nvSpPr>
        <p:spPr>
          <a:xfrm>
            <a:off x="6325720"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79720" y="5297015"/>
            <a:ext cx="304800" cy="304800"/>
          </a:xfrm>
          <a:prstGeom prst="rect">
            <a:avLst/>
          </a:prstGeom>
        </p:spPr>
      </p:pic>
      <p:sp>
        <p:nvSpPr>
          <p:cNvPr id="29" name="AutoShape 29"/>
          <p:cNvSpPr/>
          <p:nvPr/>
        </p:nvSpPr>
        <p:spPr>
          <a:xfrm>
            <a:off x="6960720" y="5297015"/>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Liberation Sans"/>
                <a:ea typeface="Liberation Sans"/>
                <a:cs typeface="Liberation Sans"/>
                <a:sym typeface="Liberation Sans"/>
              </a:rPr>
              <a:t>Class Imbalance Mitigation</a:t>
            </a:r>
            <a:endParaRPr lang="en-US" sz="1100"/>
          </a:p>
        </p:txBody>
      </p:sp>
      <p:sp>
        <p:nvSpPr>
          <p:cNvPr id="30" name="AutoShape 30"/>
          <p:cNvSpPr/>
          <p:nvPr/>
        </p:nvSpPr>
        <p:spPr>
          <a:xfrm>
            <a:off x="6579720" y="5741515"/>
            <a:ext cx="4691156"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Liberation Sans"/>
                <a:ea typeface="Liberation Sans"/>
                <a:cs typeface="Liberation Sans"/>
                <a:sym typeface="Liberation Sans"/>
              </a:rPr>
              <a:t>Applied class-weighted training to adjust the loss function, assigning higher penalties to misclassifications of underrepresented classes. This technique improved minority class recall without significantly sacrificing overall precision.</a:t>
            </a:r>
            <a:endParaRPr lang="en-US" sz="1100" dirty="0"/>
          </a:p>
        </p:txBody>
      </p:sp>
      <p:pic>
        <p:nvPicPr>
          <p:cNvPr id="32" name="图片 31">
            <a:extLst>
              <a:ext uri="{FF2B5EF4-FFF2-40B4-BE49-F238E27FC236}">
                <a16:creationId xmlns:a16="http://schemas.microsoft.com/office/drawing/2014/main" id="{70660823-D632-2FB9-961A-C012952C98CB}"/>
              </a:ext>
            </a:extLst>
          </p:cNvPr>
          <p:cNvPicPr>
            <a:picLocks noChangeAspect="1"/>
          </p:cNvPicPr>
          <p:nvPr/>
        </p:nvPicPr>
        <p:blipFill>
          <a:blip r:embed="rId9"/>
          <a:stretch>
            <a:fillRect/>
          </a:stretch>
        </p:blipFill>
        <p:spPr>
          <a:xfrm>
            <a:off x="610719" y="3374085"/>
            <a:ext cx="5425201" cy="1685817"/>
          </a:xfrm>
          <a:prstGeom prst="rect">
            <a:avLst/>
          </a:prstGeom>
        </p:spPr>
      </p:pic>
      <p:pic>
        <p:nvPicPr>
          <p:cNvPr id="31" name="图片 30">
            <a:extLst>
              <a:ext uri="{FF2B5EF4-FFF2-40B4-BE49-F238E27FC236}">
                <a16:creationId xmlns:a16="http://schemas.microsoft.com/office/drawing/2014/main" id="{477E4C2A-EEE3-378B-AC60-5D9F9403965E}"/>
              </a:ext>
            </a:extLst>
          </p:cNvPr>
          <p:cNvPicPr>
            <a:picLocks noChangeAspect="1"/>
          </p:cNvPicPr>
          <p:nvPr/>
        </p:nvPicPr>
        <p:blipFill>
          <a:blip r:embed="rId10"/>
          <a:stretch>
            <a:fillRect/>
          </a:stretch>
        </p:blipFill>
        <p:spPr>
          <a:xfrm>
            <a:off x="6152569" y="3315550"/>
            <a:ext cx="5680202" cy="17656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79"/>
    </mc:Choice>
    <mc:Fallback>
      <p:transition spd="slow" advTm="4117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a:extLst>
              <a:ext uri="{FF2B5EF4-FFF2-40B4-BE49-F238E27FC236}">
                <a16:creationId xmlns:a16="http://schemas.microsoft.com/office/drawing/2014/main" id="{C58AD933-1291-089C-A859-014190F2ED20}"/>
              </a:ext>
            </a:extLst>
          </p:cNvPr>
          <p:cNvSpPr/>
          <p:nvPr/>
        </p:nvSpPr>
        <p:spPr>
          <a:xfrm>
            <a:off x="594360" y="4892040"/>
            <a:ext cx="11064240" cy="123444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4" name="AutoShape 4">
            <a:extLst>
              <a:ext uri="{FF2B5EF4-FFF2-40B4-BE49-F238E27FC236}">
                <a16:creationId xmlns:a16="http://schemas.microsoft.com/office/drawing/2014/main" id="{02C64AFD-34FC-26DC-B73D-2571E88E4046}"/>
              </a:ext>
            </a:extLst>
          </p:cNvPr>
          <p:cNvSpPr/>
          <p:nvPr/>
        </p:nvSpPr>
        <p:spPr>
          <a:xfrm>
            <a:off x="411480" y="109728"/>
            <a:ext cx="11155680" cy="594360"/>
          </a:xfrm>
          <a:prstGeom prst="rect">
            <a:avLst/>
          </a:prstGeom>
          <a:noFill/>
          <a:ln w="12700" cap="flat" cmpd="sng">
            <a:noFill/>
            <a:prstDash val="solid"/>
            <a:round/>
          </a:ln>
        </p:spPr>
        <p:txBody>
          <a:bodyPr vert="horz" wrap="square" lIns="0" tIns="0" rIns="0" bIns="0" rtlCol="0" anchor="ctr" anchorCtr="0"/>
          <a:lstStyle/>
          <a:p>
            <a:r>
              <a:rPr lang="en-US" sz="2700" b="1" i="0" u="none" strike="noStrike" dirty="0">
                <a:solidFill>
                  <a:srgbClr val="111827"/>
                </a:solidFill>
                <a:latin typeface="Liberation Sans"/>
                <a:ea typeface="Liberation Sans"/>
                <a:cs typeface="Liberation Sans"/>
                <a:sym typeface="Liberation Sans"/>
              </a:rPr>
              <a:t>05 Evaluation and Model Selection</a:t>
            </a:r>
          </a:p>
        </p:txBody>
      </p:sp>
      <p:sp>
        <p:nvSpPr>
          <p:cNvPr id="22" name="文本框 21">
            <a:extLst>
              <a:ext uri="{FF2B5EF4-FFF2-40B4-BE49-F238E27FC236}">
                <a16:creationId xmlns:a16="http://schemas.microsoft.com/office/drawing/2014/main" id="{5CCE3E7A-54FB-54A6-DA9A-33931E955C05}"/>
              </a:ext>
            </a:extLst>
          </p:cNvPr>
          <p:cNvSpPr txBox="1"/>
          <p:nvPr/>
        </p:nvSpPr>
        <p:spPr>
          <a:xfrm>
            <a:off x="2873970" y="746007"/>
            <a:ext cx="6826826" cy="364331"/>
          </a:xfrm>
          <a:prstGeom prst="rect">
            <a:avLst/>
          </a:prstGeom>
          <a:noFill/>
        </p:spPr>
        <p:txBody>
          <a:bodyPr wrap="square">
            <a:spAutoFit/>
          </a:bodyPr>
          <a:lstStyle/>
          <a:p>
            <a:pPr algn="ctr"/>
            <a:r>
              <a:rPr lang="zh-CN" altLang="zh-CN" sz="1500" b="1" dirty="0">
                <a:solidFill>
                  <a:srgbClr val="111827"/>
                </a:solidFill>
                <a:effectLst/>
                <a:latin typeface="Liberation Sans"/>
              </a:rPr>
              <a:t>Held-out Test and Validation Evidence</a:t>
            </a:r>
          </a:p>
        </p:txBody>
      </p:sp>
      <p:sp>
        <p:nvSpPr>
          <p:cNvPr id="24" name="文本框 23">
            <a:extLst>
              <a:ext uri="{FF2B5EF4-FFF2-40B4-BE49-F238E27FC236}">
                <a16:creationId xmlns:a16="http://schemas.microsoft.com/office/drawing/2014/main" id="{82F62E57-C7BA-5C7E-F02B-D6672AC1225B}"/>
              </a:ext>
            </a:extLst>
          </p:cNvPr>
          <p:cNvSpPr txBox="1"/>
          <p:nvPr/>
        </p:nvSpPr>
        <p:spPr>
          <a:xfrm>
            <a:off x="822960" y="5074920"/>
            <a:ext cx="10561320" cy="923774"/>
          </a:xfrm>
          <a:prstGeom prst="rect">
            <a:avLst/>
          </a:prstGeom>
          <a:noFill/>
        </p:spPr>
        <p:txBody>
          <a:bodyPr wrap="square" lIns="18000" tIns="18000" rIns="18000" bIns="18000">
            <a:spAutoFit/>
          </a:bodyPr>
          <a:lstStyle/>
          <a:p>
            <a:pPr>
              <a:spcAft>
                <a:spcPts val="200"/>
              </a:spcAft>
            </a:pPr>
            <a:r>
              <a:rPr lang="zh-CN" altLang="zh-CN" b="1" i="0" dirty="0">
                <a:solidFill>
                  <a:srgbClr val="111827"/>
                </a:solidFill>
                <a:effectLst/>
                <a:latin typeface="Liberation Sans"/>
              </a:rPr>
              <a:t>Selection: </a:t>
            </a:r>
            <a:r>
              <a:rPr lang="zh-CN" altLang="zh-CN" b="0" i="0" dirty="0">
                <a:solidFill>
                  <a:srgbClr val="111827"/>
                </a:solidFill>
                <a:effectLst/>
                <a:latin typeface="Liberation Sans"/>
              </a:rPr>
              <a:t>Random Forest has the best held-out macro-F1 (0.908) and AUC (0.992). The RF–HGB gap is stable under bootstrap but practically small (ΔF1=0.010).</a:t>
            </a:r>
          </a:p>
          <a:p>
            <a:r>
              <a:rPr lang="zh-CN" altLang="zh-CN" b="1" i="0" dirty="0">
                <a:solidFill>
                  <a:srgbClr val="475569"/>
                </a:solidFill>
                <a:effectLst/>
                <a:latin typeface="Liberation Sans"/>
              </a:rPr>
              <a:t>Statistical interpretation: </a:t>
            </a:r>
            <a:r>
              <a:rPr lang="zh-CN" altLang="zh-CN" b="0" i="0" dirty="0">
                <a:solidFill>
                  <a:srgbClr val="475569"/>
                </a:solidFill>
                <a:effectLst/>
                <a:latin typeface="Liberation Sans"/>
              </a:rPr>
              <a:t>McNemar χ²=41.5, p&lt;0.001 shows different per-sample error patterns; it does not directly test the continuous macro-F1 difference.</a:t>
            </a:r>
          </a:p>
        </p:txBody>
      </p:sp>
      <p:graphicFrame>
        <p:nvGraphicFramePr>
          <p:cNvPr id="27" name="表格 26">
            <a:extLst>
              <a:ext uri="{FF2B5EF4-FFF2-40B4-BE49-F238E27FC236}">
                <a16:creationId xmlns:a16="http://schemas.microsoft.com/office/drawing/2014/main" id="{439C0928-687F-AC84-AB6D-5685B23B7604}"/>
              </a:ext>
            </a:extLst>
          </p:cNvPr>
          <p:cNvGraphicFramePr>
            <a:graphicFrameLocks noGrp="1"/>
          </p:cNvGraphicFramePr>
          <p:nvPr>
            <p:extLst>
              <p:ext uri="{D42A27DB-BD31-4B8C-83A1-F6EECF244321}">
                <p14:modId xmlns:p14="http://schemas.microsoft.com/office/powerpoint/2010/main" val="3764660925"/>
              </p:ext>
            </p:extLst>
          </p:nvPr>
        </p:nvGraphicFramePr>
        <p:xfrm>
          <a:off x="411480" y="1234440"/>
          <a:ext cx="7406640" cy="2523744"/>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3479256633"/>
                    </a:ext>
                  </a:extLst>
                </a:gridCol>
                <a:gridCol w="685800">
                  <a:extLst>
                    <a:ext uri="{9D8B030D-6E8A-4147-A177-3AD203B41FA5}">
                      <a16:colId xmlns:a16="http://schemas.microsoft.com/office/drawing/2014/main" val="3434296135"/>
                    </a:ext>
                  </a:extLst>
                </a:gridCol>
                <a:gridCol w="822960">
                  <a:extLst>
                    <a:ext uri="{9D8B030D-6E8A-4147-A177-3AD203B41FA5}">
                      <a16:colId xmlns:a16="http://schemas.microsoft.com/office/drawing/2014/main" val="3099120836"/>
                    </a:ext>
                  </a:extLst>
                </a:gridCol>
                <a:gridCol w="822960">
                  <a:extLst>
                    <a:ext uri="{9D8B030D-6E8A-4147-A177-3AD203B41FA5}">
                      <a16:colId xmlns:a16="http://schemas.microsoft.com/office/drawing/2014/main" val="1071853305"/>
                    </a:ext>
                  </a:extLst>
                </a:gridCol>
                <a:gridCol w="685800">
                  <a:extLst>
                    <a:ext uri="{9D8B030D-6E8A-4147-A177-3AD203B41FA5}">
                      <a16:colId xmlns:a16="http://schemas.microsoft.com/office/drawing/2014/main" val="1641957214"/>
                    </a:ext>
                  </a:extLst>
                </a:gridCol>
                <a:gridCol w="1143000">
                  <a:extLst>
                    <a:ext uri="{9D8B030D-6E8A-4147-A177-3AD203B41FA5}">
                      <a16:colId xmlns:a16="http://schemas.microsoft.com/office/drawing/2014/main" val="208190481"/>
                    </a:ext>
                  </a:extLst>
                </a:gridCol>
                <a:gridCol w="1143000">
                  <a:extLst>
                    <a:ext uri="{9D8B030D-6E8A-4147-A177-3AD203B41FA5}">
                      <a16:colId xmlns:a16="http://schemas.microsoft.com/office/drawing/2014/main" val="3599110277"/>
                    </a:ext>
                  </a:extLst>
                </a:gridCol>
                <a:gridCol w="868680">
                  <a:extLst>
                    <a:ext uri="{9D8B030D-6E8A-4147-A177-3AD203B41FA5}">
                      <a16:colId xmlns:a16="http://schemas.microsoft.com/office/drawing/2014/main" val="3684723988"/>
                    </a:ext>
                  </a:extLst>
                </a:gridCol>
              </a:tblGrid>
              <a:tr h="475488">
                <a:tc>
                  <a:txBody>
                    <a:bodyPr/>
                    <a:lstStyle/>
                    <a:p>
                      <a:pPr algn="l"/>
                      <a:r>
                        <a:rPr lang="zh-CN" sz="830" b="1" i="0">
                          <a:solidFill>
                            <a:srgbClr val="F9FAFB"/>
                          </a:solidFill>
                          <a:effectLst/>
                          <a:latin typeface="Liberation Sans"/>
                        </a:rPr>
                        <a:t>Model</a:t>
                      </a:r>
                    </a:p>
                  </a:txBody>
                  <a:tcPr marL="18000" marR="18000" marT="18000" marB="18000" anchor="ctr"/>
                </a:tc>
                <a:tc>
                  <a:txBody>
                    <a:bodyPr/>
                    <a:lstStyle/>
                    <a:p>
                      <a:pPr algn="ctr"/>
                      <a:r>
                        <a:rPr lang="zh-CN" sz="830" b="1" i="0">
                          <a:solidFill>
                            <a:srgbClr val="F9FAFB"/>
                          </a:solidFill>
                          <a:effectLst/>
                          <a:latin typeface="Liberation Sans"/>
                        </a:rPr>
                        <a:t>Test Acc</a:t>
                      </a:r>
                    </a:p>
                  </a:txBody>
                  <a:tcPr marL="18000" marR="18000" marT="18000" marB="18000" anchor="ctr"/>
                </a:tc>
                <a:tc>
                  <a:txBody>
                    <a:bodyPr/>
                    <a:lstStyle/>
                    <a:p>
                      <a:pPr algn="ctr"/>
                      <a:r>
                        <a:rPr lang="zh-CN" sz="830" b="1" i="0" dirty="0">
                          <a:solidFill>
                            <a:srgbClr val="F9FAFB"/>
                          </a:solidFill>
                          <a:effectLst/>
                          <a:latin typeface="Liberation Sans"/>
                        </a:rPr>
                        <a:t>Macro Prec.</a:t>
                      </a:r>
                    </a:p>
                  </a:txBody>
                  <a:tcPr marL="18000" marR="18000" marT="18000" marB="18000" anchor="ctr"/>
                </a:tc>
                <a:tc>
                  <a:txBody>
                    <a:bodyPr/>
                    <a:lstStyle/>
                    <a:p>
                      <a:pPr algn="ctr"/>
                      <a:r>
                        <a:rPr lang="zh-CN" sz="830" b="1" i="0">
                          <a:solidFill>
                            <a:srgbClr val="F9FAFB"/>
                          </a:solidFill>
                          <a:effectLst/>
                          <a:latin typeface="Liberation Sans"/>
                        </a:rPr>
                        <a:t>Macro Recall</a:t>
                      </a:r>
                    </a:p>
                  </a:txBody>
                  <a:tcPr marL="18000" marR="18000" marT="18000" marB="18000" anchor="ctr"/>
                </a:tc>
                <a:tc>
                  <a:txBody>
                    <a:bodyPr/>
                    <a:lstStyle/>
                    <a:p>
                      <a:pPr algn="ctr"/>
                      <a:r>
                        <a:rPr lang="zh-CN" sz="830" b="1" i="0" dirty="0">
                          <a:solidFill>
                            <a:srgbClr val="F9FAFB"/>
                          </a:solidFill>
                          <a:effectLst/>
                          <a:latin typeface="Liberation Sans"/>
                        </a:rPr>
                        <a:t>Macro-F1</a:t>
                      </a:r>
                    </a:p>
                  </a:txBody>
                  <a:tcPr marL="18000" marR="18000" marT="18000" marB="18000" anchor="ctr"/>
                </a:tc>
                <a:tc>
                  <a:txBody>
                    <a:bodyPr/>
                    <a:lstStyle/>
                    <a:p>
                      <a:pPr algn="ctr"/>
                      <a:r>
                        <a:rPr lang="zh-CN" sz="830" b="1" i="0" dirty="0">
                          <a:solidFill>
                            <a:srgbClr val="F9FAFB"/>
                          </a:solidFill>
                          <a:effectLst/>
                          <a:latin typeface="Liberation Sans"/>
                        </a:rPr>
                        <a:t>95% CI</a:t>
                      </a:r>
                    </a:p>
                  </a:txBody>
                  <a:tcPr marL="18000" marR="18000" marT="18000" marB="18000" anchor="ctr"/>
                </a:tc>
                <a:tc>
                  <a:txBody>
                    <a:bodyPr/>
                    <a:lstStyle/>
                    <a:p>
                      <a:pPr algn="ctr"/>
                      <a:r>
                        <a:rPr lang="zh-CN" sz="830" b="1" i="0" dirty="0">
                          <a:solidFill>
                            <a:srgbClr val="F9FAFB"/>
                          </a:solidFill>
                          <a:effectLst/>
                          <a:latin typeface="Liberation Sans"/>
                        </a:rPr>
                        <a:t>CV-F1</a:t>
                      </a:r>
                    </a:p>
                  </a:txBody>
                  <a:tcPr marL="18000" marR="18000" marT="18000" marB="18000" anchor="ctr"/>
                </a:tc>
                <a:tc>
                  <a:txBody>
                    <a:bodyPr/>
                    <a:lstStyle/>
                    <a:p>
                      <a:pPr algn="ctr"/>
                      <a:r>
                        <a:rPr lang="zh-CN" sz="830" b="1" i="0">
                          <a:solidFill>
                            <a:srgbClr val="F9FAFB"/>
                          </a:solidFill>
                          <a:effectLst/>
                          <a:latin typeface="Liberation Sans"/>
                        </a:rPr>
                        <a:t>Macro AUC</a:t>
                      </a:r>
                    </a:p>
                  </a:txBody>
                  <a:tcPr marL="18000" marR="18000" marT="18000" marB="18000" anchor="ctr"/>
                </a:tc>
                <a:extLst>
                  <a:ext uri="{0D108BD9-81ED-4DB2-BD59-A6C34878D82A}">
                    <a16:rowId xmlns:a16="http://schemas.microsoft.com/office/drawing/2014/main" val="3090880847"/>
                  </a:ext>
                </a:extLst>
              </a:tr>
              <a:tr h="512064">
                <a:tc>
                  <a:txBody>
                    <a:bodyPr/>
                    <a:lstStyle/>
                    <a:p>
                      <a:pPr algn="l"/>
                      <a:r>
                        <a:rPr lang="zh-CN" sz="770" b="1" i="0">
                          <a:solidFill>
                            <a:schemeClr val="tx1"/>
                          </a:solidFill>
                          <a:effectLst/>
                          <a:latin typeface="Liberation Sans"/>
                        </a:rPr>
                        <a:t>Logistic Regression</a:t>
                      </a:r>
                    </a:p>
                  </a:txBody>
                  <a:tcPr marL="18000" marR="18000" marT="18000" marB="18000" anchor="ctr"/>
                </a:tc>
                <a:tc>
                  <a:txBody>
                    <a:bodyPr/>
                    <a:lstStyle/>
                    <a:p>
                      <a:pPr algn="ctr"/>
                      <a:r>
                        <a:rPr lang="zh-CN" sz="770" b="0" i="0" dirty="0">
                          <a:solidFill>
                            <a:schemeClr val="tx1"/>
                          </a:solidFill>
                          <a:effectLst/>
                          <a:latin typeface="Liberation Sans"/>
                        </a:rPr>
                        <a:t>.676</a:t>
                      </a:r>
                    </a:p>
                  </a:txBody>
                  <a:tcPr marL="18000" marR="18000" marT="18000" marB="18000" anchor="ctr"/>
                </a:tc>
                <a:tc>
                  <a:txBody>
                    <a:bodyPr/>
                    <a:lstStyle/>
                    <a:p>
                      <a:pPr algn="ctr"/>
                      <a:r>
                        <a:rPr lang="zh-CN" sz="770" b="0" i="0">
                          <a:solidFill>
                            <a:schemeClr val="tx1"/>
                          </a:solidFill>
                          <a:effectLst/>
                          <a:latin typeface="Liberation Sans"/>
                        </a:rPr>
                        <a:t>.646</a:t>
                      </a:r>
                    </a:p>
                  </a:txBody>
                  <a:tcPr marL="18000" marR="18000" marT="18000" marB="18000" anchor="ctr"/>
                </a:tc>
                <a:tc>
                  <a:txBody>
                    <a:bodyPr/>
                    <a:lstStyle/>
                    <a:p>
                      <a:pPr algn="ctr"/>
                      <a:r>
                        <a:rPr lang="zh-CN" sz="770" b="0" i="0">
                          <a:solidFill>
                            <a:schemeClr val="tx1"/>
                          </a:solidFill>
                          <a:effectLst/>
                          <a:latin typeface="Liberation Sans"/>
                        </a:rPr>
                        <a:t>.706</a:t>
                      </a:r>
                    </a:p>
                  </a:txBody>
                  <a:tcPr marL="18000" marR="18000" marT="18000" marB="18000" anchor="ctr"/>
                </a:tc>
                <a:tc>
                  <a:txBody>
                    <a:bodyPr/>
                    <a:lstStyle/>
                    <a:p>
                      <a:pPr algn="ctr"/>
                      <a:r>
                        <a:rPr lang="zh-CN" sz="770" b="0" i="0">
                          <a:solidFill>
                            <a:schemeClr val="tx1"/>
                          </a:solidFill>
                          <a:effectLst/>
                          <a:latin typeface="Liberation Sans"/>
                        </a:rPr>
                        <a:t>.660</a:t>
                      </a:r>
                    </a:p>
                  </a:txBody>
                  <a:tcPr marL="18000" marR="18000" marT="18000" marB="18000" anchor="ctr"/>
                </a:tc>
                <a:tc>
                  <a:txBody>
                    <a:bodyPr/>
                    <a:lstStyle/>
                    <a:p>
                      <a:pPr algn="ctr"/>
                      <a:r>
                        <a:rPr lang="zh-CN" sz="770" b="0" i="0">
                          <a:solidFill>
                            <a:schemeClr val="tx1"/>
                          </a:solidFill>
                          <a:effectLst/>
                          <a:latin typeface="Liberation Sans"/>
                        </a:rPr>
                        <a:t>[.654, .665]</a:t>
                      </a:r>
                    </a:p>
                  </a:txBody>
                  <a:tcPr marL="18000" marR="18000" marT="18000" marB="18000" anchor="ctr"/>
                </a:tc>
                <a:tc>
                  <a:txBody>
                    <a:bodyPr/>
                    <a:lstStyle/>
                    <a:p>
                      <a:pPr algn="ctr"/>
                      <a:r>
                        <a:rPr lang="zh-CN" sz="770" b="0" i="0">
                          <a:solidFill>
                            <a:schemeClr val="tx1"/>
                          </a:solidFill>
                          <a:effectLst/>
                          <a:latin typeface="Liberation Sans"/>
                        </a:rPr>
                        <a:t>.661±.003</a:t>
                      </a:r>
                    </a:p>
                  </a:txBody>
                  <a:tcPr marL="18000" marR="18000" marT="18000" marB="18000" anchor="ctr"/>
                </a:tc>
                <a:tc>
                  <a:txBody>
                    <a:bodyPr/>
                    <a:lstStyle/>
                    <a:p>
                      <a:pPr algn="ctr"/>
                      <a:r>
                        <a:rPr lang="zh-CN" sz="770" b="0" i="0" dirty="0">
                          <a:solidFill>
                            <a:schemeClr val="tx1"/>
                          </a:solidFill>
                          <a:effectLst/>
                          <a:latin typeface="Liberation Sans"/>
                        </a:rPr>
                        <a:t>.947</a:t>
                      </a:r>
                    </a:p>
                  </a:txBody>
                  <a:tcPr marL="18000" marR="18000" marT="18000" marB="18000" anchor="ctr"/>
                </a:tc>
                <a:extLst>
                  <a:ext uri="{0D108BD9-81ED-4DB2-BD59-A6C34878D82A}">
                    <a16:rowId xmlns:a16="http://schemas.microsoft.com/office/drawing/2014/main" val="2568613006"/>
                  </a:ext>
                </a:extLst>
              </a:tr>
              <a:tr h="512064">
                <a:tc>
                  <a:txBody>
                    <a:bodyPr/>
                    <a:lstStyle/>
                    <a:p>
                      <a:pPr algn="l"/>
                      <a:r>
                        <a:rPr lang="zh-CN" sz="770" b="1" i="0">
                          <a:solidFill>
                            <a:schemeClr val="tx1"/>
                          </a:solidFill>
                          <a:effectLst/>
                          <a:latin typeface="Liberation Sans"/>
                        </a:rPr>
                        <a:t>Decision Tree</a:t>
                      </a:r>
                    </a:p>
                  </a:txBody>
                  <a:tcPr marL="18000" marR="18000" marT="18000" marB="18000" anchor="ctr"/>
                </a:tc>
                <a:tc>
                  <a:txBody>
                    <a:bodyPr/>
                    <a:lstStyle/>
                    <a:p>
                      <a:pPr algn="ctr"/>
                      <a:r>
                        <a:rPr lang="zh-CN" sz="770" b="0" i="0" dirty="0">
                          <a:solidFill>
                            <a:schemeClr val="tx1"/>
                          </a:solidFill>
                          <a:effectLst/>
                          <a:latin typeface="Liberation Sans"/>
                        </a:rPr>
                        <a:t>.823</a:t>
                      </a:r>
                    </a:p>
                  </a:txBody>
                  <a:tcPr marL="18000" marR="18000" marT="18000" marB="18000" anchor="ctr"/>
                </a:tc>
                <a:tc>
                  <a:txBody>
                    <a:bodyPr/>
                    <a:lstStyle/>
                    <a:p>
                      <a:pPr algn="ctr"/>
                      <a:r>
                        <a:rPr lang="zh-CN" sz="770" b="0" i="0" dirty="0">
                          <a:solidFill>
                            <a:schemeClr val="tx1"/>
                          </a:solidFill>
                          <a:effectLst/>
                          <a:latin typeface="Liberation Sans"/>
                        </a:rPr>
                        <a:t>.803</a:t>
                      </a:r>
                    </a:p>
                  </a:txBody>
                  <a:tcPr marL="18000" marR="18000" marT="18000" marB="18000" anchor="ctr"/>
                </a:tc>
                <a:tc>
                  <a:txBody>
                    <a:bodyPr/>
                    <a:lstStyle/>
                    <a:p>
                      <a:pPr algn="ctr"/>
                      <a:r>
                        <a:rPr lang="zh-CN" sz="770" b="0" i="0">
                          <a:solidFill>
                            <a:schemeClr val="tx1"/>
                          </a:solidFill>
                          <a:effectLst/>
                          <a:latin typeface="Liberation Sans"/>
                        </a:rPr>
                        <a:t>.846</a:t>
                      </a:r>
                    </a:p>
                  </a:txBody>
                  <a:tcPr marL="18000" marR="18000" marT="18000" marB="18000" anchor="ctr"/>
                </a:tc>
                <a:tc>
                  <a:txBody>
                    <a:bodyPr/>
                    <a:lstStyle/>
                    <a:p>
                      <a:pPr algn="ctr"/>
                      <a:r>
                        <a:rPr lang="zh-CN" sz="770" b="0" i="0">
                          <a:solidFill>
                            <a:schemeClr val="tx1"/>
                          </a:solidFill>
                          <a:effectLst/>
                          <a:latin typeface="Liberation Sans"/>
                        </a:rPr>
                        <a:t>.819</a:t>
                      </a:r>
                    </a:p>
                  </a:txBody>
                  <a:tcPr marL="18000" marR="18000" marT="18000" marB="18000" anchor="ctr"/>
                </a:tc>
                <a:tc>
                  <a:txBody>
                    <a:bodyPr/>
                    <a:lstStyle/>
                    <a:p>
                      <a:pPr algn="ctr"/>
                      <a:r>
                        <a:rPr lang="zh-CN" sz="770" b="0" i="0">
                          <a:solidFill>
                            <a:schemeClr val="tx1"/>
                          </a:solidFill>
                          <a:effectLst/>
                          <a:latin typeface="Liberation Sans"/>
                        </a:rPr>
                        <a:t>[.812, .826]</a:t>
                      </a:r>
                    </a:p>
                  </a:txBody>
                  <a:tcPr marL="18000" marR="18000" marT="18000" marB="18000" anchor="ctr"/>
                </a:tc>
                <a:tc>
                  <a:txBody>
                    <a:bodyPr/>
                    <a:lstStyle/>
                    <a:p>
                      <a:pPr algn="ctr"/>
                      <a:r>
                        <a:rPr lang="zh-CN" sz="770" b="0" i="0">
                          <a:solidFill>
                            <a:schemeClr val="tx1"/>
                          </a:solidFill>
                          <a:effectLst/>
                          <a:latin typeface="Liberation Sans"/>
                        </a:rPr>
                        <a:t>.811±.004</a:t>
                      </a:r>
                    </a:p>
                  </a:txBody>
                  <a:tcPr marL="18000" marR="18000" marT="18000" marB="18000" anchor="ctr"/>
                </a:tc>
                <a:tc>
                  <a:txBody>
                    <a:bodyPr/>
                    <a:lstStyle/>
                    <a:p>
                      <a:pPr algn="ctr"/>
                      <a:r>
                        <a:rPr lang="zh-CN" sz="770" b="0" i="0">
                          <a:solidFill>
                            <a:schemeClr val="tx1"/>
                          </a:solidFill>
                          <a:effectLst/>
                          <a:latin typeface="Liberation Sans"/>
                        </a:rPr>
                        <a:t>.969</a:t>
                      </a:r>
                    </a:p>
                  </a:txBody>
                  <a:tcPr marL="18000" marR="18000" marT="18000" marB="18000" anchor="ctr"/>
                </a:tc>
                <a:extLst>
                  <a:ext uri="{0D108BD9-81ED-4DB2-BD59-A6C34878D82A}">
                    <a16:rowId xmlns:a16="http://schemas.microsoft.com/office/drawing/2014/main" val="2451104699"/>
                  </a:ext>
                </a:extLst>
              </a:tr>
              <a:tr h="512064">
                <a:tc>
                  <a:txBody>
                    <a:bodyPr/>
                    <a:lstStyle/>
                    <a:p>
                      <a:pPr algn="l"/>
                      <a:r>
                        <a:rPr lang="zh-CN" sz="770" b="1" i="0">
                          <a:solidFill>
                            <a:schemeClr val="tx1"/>
                          </a:solidFill>
                          <a:effectLst/>
                          <a:latin typeface="Liberation Sans"/>
                        </a:rPr>
                        <a:t>Random Forest</a:t>
                      </a:r>
                    </a:p>
                  </a:txBody>
                  <a:tcPr marL="18000" marR="18000" marT="18000" marB="18000" anchor="ctr"/>
                </a:tc>
                <a:tc>
                  <a:txBody>
                    <a:bodyPr/>
                    <a:lstStyle/>
                    <a:p>
                      <a:pPr algn="ctr"/>
                      <a:r>
                        <a:rPr lang="zh-CN" sz="770" b="1" i="0">
                          <a:solidFill>
                            <a:schemeClr val="tx1"/>
                          </a:solidFill>
                          <a:effectLst/>
                          <a:latin typeface="Liberation Sans"/>
                        </a:rPr>
                        <a:t>.908</a:t>
                      </a:r>
                    </a:p>
                  </a:txBody>
                  <a:tcPr marL="18000" marR="18000" marT="18000" marB="18000" anchor="ctr"/>
                </a:tc>
                <a:tc>
                  <a:txBody>
                    <a:bodyPr/>
                    <a:lstStyle/>
                    <a:p>
                      <a:pPr algn="ctr"/>
                      <a:r>
                        <a:rPr lang="zh-CN" sz="770" b="0" i="0" dirty="0">
                          <a:solidFill>
                            <a:schemeClr val="tx1"/>
                          </a:solidFill>
                          <a:effectLst/>
                          <a:latin typeface="Liberation Sans"/>
                        </a:rPr>
                        <a:t>.903</a:t>
                      </a:r>
                    </a:p>
                  </a:txBody>
                  <a:tcPr marL="18000" marR="18000" marT="18000" marB="18000" anchor="ctr"/>
                </a:tc>
                <a:tc>
                  <a:txBody>
                    <a:bodyPr/>
                    <a:lstStyle/>
                    <a:p>
                      <a:pPr algn="ctr"/>
                      <a:r>
                        <a:rPr lang="zh-CN" sz="770" b="0" i="0" dirty="0">
                          <a:solidFill>
                            <a:schemeClr val="tx1"/>
                          </a:solidFill>
                          <a:effectLst/>
                          <a:latin typeface="Liberation Sans"/>
                        </a:rPr>
                        <a:t>.913</a:t>
                      </a:r>
                    </a:p>
                  </a:txBody>
                  <a:tcPr marL="18000" marR="18000" marT="18000" marB="18000" anchor="ctr"/>
                </a:tc>
                <a:tc>
                  <a:txBody>
                    <a:bodyPr/>
                    <a:lstStyle/>
                    <a:p>
                      <a:pPr algn="ctr"/>
                      <a:r>
                        <a:rPr lang="zh-CN" sz="770" b="1" i="0">
                          <a:solidFill>
                            <a:schemeClr val="tx1"/>
                          </a:solidFill>
                          <a:effectLst/>
                          <a:latin typeface="Liberation Sans"/>
                        </a:rPr>
                        <a:t>.908</a:t>
                      </a:r>
                    </a:p>
                  </a:txBody>
                  <a:tcPr marL="18000" marR="18000" marT="18000" marB="18000" anchor="ctr"/>
                </a:tc>
                <a:tc>
                  <a:txBody>
                    <a:bodyPr/>
                    <a:lstStyle/>
                    <a:p>
                      <a:pPr algn="ctr"/>
                      <a:r>
                        <a:rPr lang="zh-CN" sz="770" b="0" i="0" dirty="0">
                          <a:solidFill>
                            <a:schemeClr val="tx1"/>
                          </a:solidFill>
                          <a:effectLst/>
                          <a:latin typeface="Liberation Sans"/>
                        </a:rPr>
                        <a:t>[.904, .911]</a:t>
                      </a:r>
                    </a:p>
                  </a:txBody>
                  <a:tcPr marL="18000" marR="18000" marT="18000" marB="18000" anchor="ctr"/>
                </a:tc>
                <a:tc>
                  <a:txBody>
                    <a:bodyPr/>
                    <a:lstStyle/>
                    <a:p>
                      <a:pPr algn="ctr"/>
                      <a:r>
                        <a:rPr lang="zh-CN" sz="770" b="0" i="0">
                          <a:solidFill>
                            <a:schemeClr val="tx1"/>
                          </a:solidFill>
                          <a:effectLst/>
                          <a:latin typeface="Liberation Sans"/>
                        </a:rPr>
                        <a:t>.902±.001</a:t>
                      </a:r>
                    </a:p>
                  </a:txBody>
                  <a:tcPr marL="18000" marR="18000" marT="18000" marB="18000" anchor="ctr"/>
                </a:tc>
                <a:tc>
                  <a:txBody>
                    <a:bodyPr/>
                    <a:lstStyle/>
                    <a:p>
                      <a:pPr algn="ctr"/>
                      <a:r>
                        <a:rPr lang="zh-CN" sz="770" b="1" i="0">
                          <a:solidFill>
                            <a:schemeClr val="tx1"/>
                          </a:solidFill>
                          <a:effectLst/>
                          <a:latin typeface="Liberation Sans"/>
                        </a:rPr>
                        <a:t>.992</a:t>
                      </a:r>
                    </a:p>
                  </a:txBody>
                  <a:tcPr marL="18000" marR="18000" marT="18000" marB="18000" anchor="ctr"/>
                </a:tc>
                <a:extLst>
                  <a:ext uri="{0D108BD9-81ED-4DB2-BD59-A6C34878D82A}">
                    <a16:rowId xmlns:a16="http://schemas.microsoft.com/office/drawing/2014/main" val="1052757129"/>
                  </a:ext>
                </a:extLst>
              </a:tr>
              <a:tr h="512064">
                <a:tc>
                  <a:txBody>
                    <a:bodyPr/>
                    <a:lstStyle/>
                    <a:p>
                      <a:pPr algn="l"/>
                      <a:r>
                        <a:rPr lang="zh-CN" sz="770" b="1" i="0" dirty="0">
                          <a:solidFill>
                            <a:schemeClr val="tx1"/>
                          </a:solidFill>
                          <a:effectLst/>
                          <a:latin typeface="Liberation Sans"/>
                        </a:rPr>
                        <a:t>HistGradientBoosting</a:t>
                      </a:r>
                    </a:p>
                  </a:txBody>
                  <a:tcPr marL="18000" marR="18000" marT="18000" marB="18000" anchor="ctr"/>
                </a:tc>
                <a:tc>
                  <a:txBody>
                    <a:bodyPr/>
                    <a:lstStyle/>
                    <a:p>
                      <a:pPr algn="ctr"/>
                      <a:r>
                        <a:rPr lang="zh-CN" sz="770" b="0" i="0">
                          <a:solidFill>
                            <a:schemeClr val="tx1"/>
                          </a:solidFill>
                          <a:effectLst/>
                          <a:latin typeface="Liberation Sans"/>
                        </a:rPr>
                        <a:t>.895</a:t>
                      </a:r>
                    </a:p>
                  </a:txBody>
                  <a:tcPr marL="18000" marR="18000" marT="18000" marB="18000" anchor="ctr"/>
                </a:tc>
                <a:tc>
                  <a:txBody>
                    <a:bodyPr/>
                    <a:lstStyle/>
                    <a:p>
                      <a:pPr algn="ctr"/>
                      <a:r>
                        <a:rPr lang="zh-CN" sz="770" b="0" i="0">
                          <a:solidFill>
                            <a:schemeClr val="tx1"/>
                          </a:solidFill>
                          <a:effectLst/>
                          <a:latin typeface="Liberation Sans"/>
                        </a:rPr>
                        <a:t>.896</a:t>
                      </a:r>
                    </a:p>
                  </a:txBody>
                  <a:tcPr marL="18000" marR="18000" marT="18000" marB="18000" anchor="ctr"/>
                </a:tc>
                <a:tc>
                  <a:txBody>
                    <a:bodyPr/>
                    <a:lstStyle/>
                    <a:p>
                      <a:pPr algn="ctr"/>
                      <a:r>
                        <a:rPr lang="zh-CN" sz="770" b="0" i="0" dirty="0">
                          <a:solidFill>
                            <a:schemeClr val="tx1"/>
                          </a:solidFill>
                          <a:effectLst/>
                          <a:latin typeface="Liberation Sans"/>
                        </a:rPr>
                        <a:t>.901</a:t>
                      </a:r>
                    </a:p>
                  </a:txBody>
                  <a:tcPr marL="18000" marR="18000" marT="18000" marB="18000" anchor="ctr"/>
                </a:tc>
                <a:tc>
                  <a:txBody>
                    <a:bodyPr/>
                    <a:lstStyle/>
                    <a:p>
                      <a:pPr algn="ctr"/>
                      <a:r>
                        <a:rPr lang="zh-CN" sz="770" b="0" i="0" dirty="0">
                          <a:solidFill>
                            <a:schemeClr val="tx1"/>
                          </a:solidFill>
                          <a:effectLst/>
                          <a:latin typeface="Liberation Sans"/>
                        </a:rPr>
                        <a:t>.898</a:t>
                      </a:r>
                    </a:p>
                  </a:txBody>
                  <a:tcPr marL="18000" marR="18000" marT="18000" marB="18000" anchor="ctr"/>
                </a:tc>
                <a:tc>
                  <a:txBody>
                    <a:bodyPr/>
                    <a:lstStyle/>
                    <a:p>
                      <a:pPr algn="ctr"/>
                      <a:r>
                        <a:rPr lang="zh-CN" sz="770" b="0" i="0" dirty="0">
                          <a:solidFill>
                            <a:schemeClr val="tx1"/>
                          </a:solidFill>
                          <a:effectLst/>
                          <a:latin typeface="Liberation Sans"/>
                        </a:rPr>
                        <a:t>[.894, .902]</a:t>
                      </a:r>
                    </a:p>
                  </a:txBody>
                  <a:tcPr marL="18000" marR="18000" marT="18000" marB="18000" anchor="ctr"/>
                </a:tc>
                <a:tc>
                  <a:txBody>
                    <a:bodyPr/>
                    <a:lstStyle/>
                    <a:p>
                      <a:pPr algn="ctr"/>
                      <a:r>
                        <a:rPr lang="zh-CN" sz="770" b="0" i="0" dirty="0">
                          <a:solidFill>
                            <a:schemeClr val="tx1"/>
                          </a:solidFill>
                          <a:effectLst/>
                          <a:latin typeface="Liberation Sans"/>
                        </a:rPr>
                        <a:t>.895±.003</a:t>
                      </a:r>
                    </a:p>
                  </a:txBody>
                  <a:tcPr marL="18000" marR="18000" marT="18000" marB="18000" anchor="ctr"/>
                </a:tc>
                <a:tc>
                  <a:txBody>
                    <a:bodyPr/>
                    <a:lstStyle/>
                    <a:p>
                      <a:pPr algn="ctr"/>
                      <a:r>
                        <a:rPr lang="zh-CN" sz="770" b="0" i="0" dirty="0">
                          <a:solidFill>
                            <a:schemeClr val="tx1"/>
                          </a:solidFill>
                          <a:effectLst/>
                          <a:latin typeface="Liberation Sans"/>
                        </a:rPr>
                        <a:t>.991</a:t>
                      </a:r>
                    </a:p>
                  </a:txBody>
                  <a:tcPr marL="18000" marR="18000" marT="18000" marB="18000" anchor="ctr"/>
                </a:tc>
                <a:extLst>
                  <a:ext uri="{0D108BD9-81ED-4DB2-BD59-A6C34878D82A}">
                    <a16:rowId xmlns:a16="http://schemas.microsoft.com/office/drawing/2014/main" val="1121981111"/>
                  </a:ext>
                </a:extLst>
              </a:tr>
            </a:tbl>
          </a:graphicData>
        </a:graphic>
      </p:graphicFrame>
      <p:pic>
        <p:nvPicPr>
          <p:cNvPr id="8" name="图片 7">
            <a:extLst>
              <a:ext uri="{FF2B5EF4-FFF2-40B4-BE49-F238E27FC236}">
                <a16:creationId xmlns:a16="http://schemas.microsoft.com/office/drawing/2014/main" id="{DD8508FA-A1FB-5A65-95C8-38E085EE689E}"/>
              </a:ext>
            </a:extLst>
          </p:cNvPr>
          <p:cNvPicPr>
            <a:picLocks noChangeAspect="1"/>
          </p:cNvPicPr>
          <p:nvPr/>
        </p:nvPicPr>
        <p:blipFill>
          <a:blip r:embed="rId3"/>
          <a:stretch>
            <a:fillRect/>
          </a:stretch>
        </p:blipFill>
        <p:spPr>
          <a:xfrm>
            <a:off x="8199461" y="1024128"/>
            <a:ext cx="3397837" cy="1965960"/>
          </a:xfrm>
          <a:prstGeom prst="rect">
            <a:avLst/>
          </a:prstGeom>
        </p:spPr>
      </p:pic>
      <p:pic>
        <p:nvPicPr>
          <p:cNvPr id="11" name="图片 10">
            <a:extLst>
              <a:ext uri="{FF2B5EF4-FFF2-40B4-BE49-F238E27FC236}">
                <a16:creationId xmlns:a16="http://schemas.microsoft.com/office/drawing/2014/main" id="{178CA696-DFD1-E828-6C46-849611F75187}"/>
              </a:ext>
            </a:extLst>
          </p:cNvPr>
          <p:cNvPicPr>
            <a:picLocks noChangeAspect="1"/>
          </p:cNvPicPr>
          <p:nvPr/>
        </p:nvPicPr>
        <p:blipFill>
          <a:blip r:embed="rId4"/>
          <a:stretch>
            <a:fillRect/>
          </a:stretch>
        </p:blipFill>
        <p:spPr>
          <a:xfrm>
            <a:off x="8665688" y="3063240"/>
            <a:ext cx="2465384" cy="1965960"/>
          </a:xfrm>
          <a:prstGeom prst="rect">
            <a:avLst/>
          </a:prstGeom>
        </p:spPr>
      </p:pic>
    </p:spTree>
    <p:extLst>
      <p:ext uri="{BB962C8B-B14F-4D97-AF65-F5344CB8AC3E}">
        <p14:creationId xmlns:p14="http://schemas.microsoft.com/office/powerpoint/2010/main" val="3833946077"/>
      </p:ext>
    </p:extLst>
  </p:cSld>
  <p:clrMapOvr>
    <a:masterClrMapping/>
  </p:clrMapOvr>
  <mc:AlternateContent xmlns:mc="http://schemas.openxmlformats.org/markup-compatibility/2006">
    <mc:Choice xmlns:p14="http://schemas.microsoft.com/office/powerpoint/2010/main" Requires="p14">
      <p:transition spd="slow" p14:dur="2000" advTm="28413"/>
    </mc:Choice>
    <mc:Fallback>
      <p:transition spd="slow" advTm="2841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AutoShape 6"/>
          <p:cNvSpPr/>
          <p:nvPr/>
        </p:nvSpPr>
        <p:spPr>
          <a:xfrm>
            <a:off x="812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4032250"/>
            <a:ext cx="406400" cy="406400"/>
          </a:xfrm>
          <a:prstGeom prst="rect">
            <a:avLst/>
          </a:prstGeom>
        </p:spPr>
      </p:pic>
      <p:sp>
        <p:nvSpPr>
          <p:cNvPr id="8" name="AutoShape 8"/>
          <p:cNvSpPr/>
          <p:nvPr/>
        </p:nvSpPr>
        <p:spPr>
          <a:xfrm>
            <a:off x="8890000" y="4044950"/>
            <a:ext cx="2540000" cy="381000"/>
          </a:xfrm>
          <a:prstGeom prst="rect">
            <a:avLst/>
          </a:prstGeom>
          <a:noFill/>
          <a:ln w="12700" cap="flat" cmpd="sng">
            <a:noFill/>
            <a:prstDash val="solid"/>
            <a:round/>
          </a:ln>
        </p:spPr>
        <p:txBody>
          <a:bodyPr vert="horz" wrap="square" lIns="0" tIns="0" rIns="0" bIns="0" rtlCol="0" anchor="ctr" anchorCtr="0"/>
          <a:lstStyle/>
          <a:p>
            <a:pPr algn="ctr"/>
            <a:r>
              <a:rPr lang="en-US" sz="1500" b="1" i="0" u="none" strike="noStrike">
                <a:solidFill>
                  <a:srgbClr val="1F2937"/>
                </a:solidFill>
                <a:latin typeface="Liberation Sans"/>
                <a:ea typeface="Liberation Sans"/>
                <a:cs typeface="Liberation Sans"/>
                <a:sym typeface="Liberation Sans"/>
              </a:rPr>
              <a:t>Final Model Choice</a:t>
            </a:r>
          </a:p>
        </p:txBody>
      </p:sp>
      <p:sp>
        <p:nvSpPr>
          <p:cNvPr id="9" name="AutoShape 9"/>
          <p:cNvSpPr/>
          <p:nvPr/>
        </p:nvSpPr>
        <p:spPr>
          <a:xfrm>
            <a:off x="8382000" y="4603750"/>
            <a:ext cx="3048000" cy="1206500"/>
          </a:xfrm>
          <a:prstGeom prst="rect">
            <a:avLst/>
          </a:prstGeom>
          <a:noFill/>
          <a:ln w="12700" cap="flat" cmpd="sng">
            <a:noFill/>
            <a:prstDash val="solid"/>
            <a:round/>
          </a:ln>
        </p:spPr>
        <p:txBody>
          <a:bodyPr vert="horz" wrap="square" lIns="0" tIns="0" rIns="0" bIns="0" rtlCol="0" anchor="ctr" anchorCtr="0"/>
          <a:lstStyle/>
          <a:p>
            <a:r>
              <a:rPr lang="en-US" sz="1040" b="0" i="0" u="none" strike="noStrike">
                <a:solidFill>
                  <a:srgbClr val="475569"/>
                </a:solidFill>
                <a:latin typeface="Liberation Sans"/>
                <a:ea typeface="Liberation Sans"/>
                <a:cs typeface="Liberation Sans"/>
                <a:sym typeface="Liberation Sans"/>
              </a:rPr>
              <a:t>Balance predictive performance, calibration, and subgroup reliability.</a:t>
            </a:r>
          </a:p>
        </p:txBody>
      </p:sp>
      <p:sp>
        <p:nvSpPr>
          <p:cNvPr id="10" name="AutoShape 10"/>
          <p:cNvSpPr/>
          <p:nvPr/>
        </p:nvSpPr>
        <p:spPr>
          <a:xfrm>
            <a:off x="50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46250"/>
            <a:ext cx="406400" cy="406400"/>
          </a:xfrm>
          <a:prstGeom prst="rect">
            <a:avLst/>
          </a:prstGeom>
        </p:spPr>
      </p:pic>
      <p:sp>
        <p:nvSpPr>
          <p:cNvPr id="12" name="AutoShape 12"/>
          <p:cNvSpPr/>
          <p:nvPr/>
        </p:nvSpPr>
        <p:spPr>
          <a:xfrm>
            <a:off x="1270000" y="1758950"/>
            <a:ext cx="2540000" cy="381000"/>
          </a:xfrm>
          <a:prstGeom prst="rect">
            <a:avLst/>
          </a:prstGeom>
          <a:noFill/>
          <a:ln w="12700" cap="flat" cmpd="sng">
            <a:noFill/>
            <a:prstDash val="solid"/>
            <a:round/>
          </a:ln>
        </p:spPr>
        <p:txBody>
          <a:bodyPr vert="horz" wrap="square" lIns="0" tIns="0" rIns="0" bIns="0" rtlCol="0" anchor="ctr" anchorCtr="0"/>
          <a:lstStyle/>
          <a:p>
            <a:pPr algn="ctr"/>
            <a:r>
              <a:rPr lang="en-US" sz="1500" b="1" i="0" u="none" strike="noStrike">
                <a:solidFill>
                  <a:srgbClr val="1F2937"/>
                </a:solidFill>
                <a:latin typeface="Liberation Sans"/>
                <a:ea typeface="Liberation Sans"/>
                <a:cs typeface="Liberation Sans"/>
                <a:sym typeface="Liberation Sans"/>
              </a:rPr>
              <a:t>Feature Importance</a:t>
            </a:r>
          </a:p>
        </p:txBody>
      </p:sp>
      <p:sp>
        <p:nvSpPr>
          <p:cNvPr id="13" name="AutoShape 13"/>
          <p:cNvSpPr/>
          <p:nvPr/>
        </p:nvSpPr>
        <p:spPr>
          <a:xfrm>
            <a:off x="762000" y="2317750"/>
            <a:ext cx="3048000" cy="1206500"/>
          </a:xfrm>
          <a:prstGeom prst="rect">
            <a:avLst/>
          </a:prstGeom>
          <a:noFill/>
          <a:ln w="12700" cap="flat" cmpd="sng">
            <a:noFill/>
            <a:prstDash val="solid"/>
            <a:round/>
          </a:ln>
        </p:spPr>
        <p:txBody>
          <a:bodyPr vert="horz" wrap="square" lIns="0" tIns="0" rIns="0" bIns="0" rtlCol="0" anchor="ctr" anchorCtr="0"/>
          <a:lstStyle/>
          <a:p>
            <a:r>
              <a:rPr lang="en-US" sz="1040" b="0" i="0" u="none" strike="noStrike" dirty="0">
                <a:solidFill>
                  <a:srgbClr val="475569"/>
                </a:solidFill>
                <a:latin typeface="Liberation Sans"/>
                <a:ea typeface="Liberation Sans"/>
                <a:cs typeface="Liberation Sans"/>
                <a:sym typeface="Liberation Sans"/>
              </a:rPr>
              <a:t>Impurity and permutation rankings, followed by feature-group ablation.</a:t>
            </a:r>
          </a:p>
        </p:txBody>
      </p:sp>
      <p:sp>
        <p:nvSpPr>
          <p:cNvPr id="14" name="AutoShape 14"/>
          <p:cNvSpPr/>
          <p:nvPr/>
        </p:nvSpPr>
        <p:spPr>
          <a:xfrm>
            <a:off x="431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746250"/>
            <a:ext cx="406400" cy="406400"/>
          </a:xfrm>
          <a:prstGeom prst="rect">
            <a:avLst/>
          </a:prstGeom>
        </p:spPr>
      </p:pic>
      <p:sp>
        <p:nvSpPr>
          <p:cNvPr id="16" name="AutoShape 16"/>
          <p:cNvSpPr/>
          <p:nvPr/>
        </p:nvSpPr>
        <p:spPr>
          <a:xfrm>
            <a:off x="5080000" y="1758950"/>
            <a:ext cx="2540000" cy="381000"/>
          </a:xfrm>
          <a:prstGeom prst="rect">
            <a:avLst/>
          </a:prstGeom>
          <a:noFill/>
          <a:ln w="12700" cap="flat" cmpd="sng">
            <a:noFill/>
            <a:prstDash val="solid"/>
            <a:round/>
          </a:ln>
        </p:spPr>
        <p:txBody>
          <a:bodyPr vert="horz" wrap="square" lIns="0" tIns="0" rIns="0" bIns="0" rtlCol="0" anchor="ctr" anchorCtr="0"/>
          <a:lstStyle/>
          <a:p>
            <a:pPr algn="ctr"/>
            <a:r>
              <a:rPr lang="en-US" sz="1500" b="1" i="0" u="none" strike="noStrike" dirty="0">
                <a:solidFill>
                  <a:srgbClr val="1F2937"/>
                </a:solidFill>
                <a:latin typeface="Liberation Sans"/>
                <a:ea typeface="Liberation Sans"/>
                <a:cs typeface="Liberation Sans"/>
                <a:sym typeface="Liberation Sans"/>
              </a:rPr>
              <a:t>Search Strategy</a:t>
            </a:r>
          </a:p>
        </p:txBody>
      </p:sp>
      <p:sp>
        <p:nvSpPr>
          <p:cNvPr id="17" name="AutoShape 17"/>
          <p:cNvSpPr/>
          <p:nvPr/>
        </p:nvSpPr>
        <p:spPr>
          <a:xfrm>
            <a:off x="4572000" y="2317750"/>
            <a:ext cx="3048000" cy="1206500"/>
          </a:xfrm>
          <a:prstGeom prst="rect">
            <a:avLst/>
          </a:prstGeom>
          <a:noFill/>
          <a:ln w="12700" cap="flat" cmpd="sng">
            <a:noFill/>
            <a:prstDash val="solid"/>
            <a:round/>
          </a:ln>
        </p:spPr>
        <p:txBody>
          <a:bodyPr vert="horz" wrap="square" lIns="0" tIns="0" rIns="0" bIns="0" rtlCol="0" anchor="ctr" anchorCtr="0"/>
          <a:lstStyle/>
          <a:p>
            <a:r>
              <a:rPr lang="en-US" sz="1040" b="0" i="0" u="none" strike="noStrike">
                <a:solidFill>
                  <a:srgbClr val="475569"/>
                </a:solidFill>
                <a:latin typeface="Liberation Sans"/>
                <a:ea typeface="Liberation Sans"/>
                <a:cs typeface="Liberation Sans"/>
                <a:sym typeface="Liberation Sans"/>
              </a:rPr>
              <a:t>Grid search versus Bayesian optimization on the same 30k subset.</a:t>
            </a:r>
          </a:p>
        </p:txBody>
      </p:sp>
      <p:sp>
        <p:nvSpPr>
          <p:cNvPr id="18" name="AutoShape 18"/>
          <p:cNvSpPr/>
          <p:nvPr/>
        </p:nvSpPr>
        <p:spPr>
          <a:xfrm>
            <a:off x="812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46250"/>
            <a:ext cx="406400" cy="406400"/>
          </a:xfrm>
          <a:prstGeom prst="rect">
            <a:avLst/>
          </a:prstGeom>
        </p:spPr>
      </p:pic>
      <p:sp>
        <p:nvSpPr>
          <p:cNvPr id="20" name="AutoShape 20"/>
          <p:cNvSpPr/>
          <p:nvPr/>
        </p:nvSpPr>
        <p:spPr>
          <a:xfrm>
            <a:off x="8890000" y="1758950"/>
            <a:ext cx="2540000" cy="381000"/>
          </a:xfrm>
          <a:prstGeom prst="rect">
            <a:avLst/>
          </a:prstGeom>
          <a:noFill/>
          <a:ln w="12700" cap="flat" cmpd="sng">
            <a:noFill/>
            <a:prstDash val="solid"/>
            <a:round/>
          </a:ln>
        </p:spPr>
        <p:txBody>
          <a:bodyPr vert="horz" wrap="square" lIns="0" tIns="0" rIns="0" bIns="0" rtlCol="0" anchor="ctr" anchorCtr="0"/>
          <a:lstStyle/>
          <a:p>
            <a:pPr algn="ctr"/>
            <a:r>
              <a:rPr lang="en-US" sz="1500" b="1" i="0" u="none" strike="noStrike" dirty="0">
                <a:solidFill>
                  <a:srgbClr val="1F2937"/>
                </a:solidFill>
                <a:latin typeface="Liberation Sans"/>
                <a:ea typeface="Liberation Sans"/>
                <a:cs typeface="Liberation Sans"/>
                <a:sym typeface="Liberation Sans"/>
              </a:rPr>
              <a:t>Feature-Group Ablation</a:t>
            </a:r>
          </a:p>
        </p:txBody>
      </p:sp>
      <p:sp>
        <p:nvSpPr>
          <p:cNvPr id="21" name="AutoShape 21"/>
          <p:cNvSpPr/>
          <p:nvPr/>
        </p:nvSpPr>
        <p:spPr>
          <a:xfrm>
            <a:off x="8382000" y="2317750"/>
            <a:ext cx="3048000" cy="1206500"/>
          </a:xfrm>
          <a:prstGeom prst="rect">
            <a:avLst/>
          </a:prstGeom>
          <a:noFill/>
          <a:ln w="12700" cap="flat" cmpd="sng">
            <a:noFill/>
            <a:prstDash val="solid"/>
            <a:round/>
          </a:ln>
        </p:spPr>
        <p:txBody>
          <a:bodyPr vert="horz" wrap="square" lIns="0" tIns="0" rIns="0" bIns="0" rtlCol="0" anchor="ctr" anchorCtr="0"/>
          <a:lstStyle/>
          <a:p>
            <a:r>
              <a:rPr lang="en-US" sz="1040" b="0" i="0" u="none" strike="noStrike">
                <a:solidFill>
                  <a:srgbClr val="475569"/>
                </a:solidFill>
                <a:latin typeface="Liberation Sans"/>
                <a:ea typeface="Liberation Sans"/>
                <a:cs typeface="Liberation Sans"/>
                <a:sym typeface="Liberation Sans"/>
              </a:rPr>
              <a:t>Quantify the complementary value of terrain, wilderness, and soil indicators.</a:t>
            </a:r>
          </a:p>
        </p:txBody>
      </p:sp>
      <p:sp>
        <p:nvSpPr>
          <p:cNvPr id="22" name="AutoShape 22"/>
          <p:cNvSpPr/>
          <p:nvPr/>
        </p:nvSpPr>
        <p:spPr>
          <a:xfrm>
            <a:off x="50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032250"/>
            <a:ext cx="406400" cy="406400"/>
          </a:xfrm>
          <a:prstGeom prst="rect">
            <a:avLst/>
          </a:prstGeom>
        </p:spPr>
      </p:pic>
      <p:sp>
        <p:nvSpPr>
          <p:cNvPr id="24" name="AutoShape 24"/>
          <p:cNvSpPr/>
          <p:nvPr/>
        </p:nvSpPr>
        <p:spPr>
          <a:xfrm>
            <a:off x="1270000" y="4044950"/>
            <a:ext cx="2540000" cy="381000"/>
          </a:xfrm>
          <a:prstGeom prst="rect">
            <a:avLst/>
          </a:prstGeom>
          <a:noFill/>
          <a:ln w="12700" cap="flat" cmpd="sng">
            <a:noFill/>
            <a:prstDash val="solid"/>
            <a:round/>
          </a:ln>
        </p:spPr>
        <p:txBody>
          <a:bodyPr vert="horz" wrap="square" lIns="0" tIns="0" rIns="0" bIns="0" rtlCol="0" anchor="ctr" anchorCtr="0"/>
          <a:lstStyle/>
          <a:p>
            <a:pPr algn="ctr"/>
            <a:r>
              <a:rPr lang="en-US" sz="1500" b="1" i="0" u="none" strike="noStrike">
                <a:solidFill>
                  <a:srgbClr val="1F2937"/>
                </a:solidFill>
                <a:latin typeface="Liberation Sans"/>
                <a:ea typeface="Liberation Sans"/>
                <a:cs typeface="Liberation Sans"/>
                <a:sym typeface="Liberation Sans"/>
              </a:rPr>
              <a:t>Calibration &amp; Confidence</a:t>
            </a:r>
          </a:p>
        </p:txBody>
      </p:sp>
      <p:sp>
        <p:nvSpPr>
          <p:cNvPr id="25" name="AutoShape 25"/>
          <p:cNvSpPr/>
          <p:nvPr/>
        </p:nvSpPr>
        <p:spPr>
          <a:xfrm>
            <a:off x="762000" y="4603750"/>
            <a:ext cx="3048000" cy="1206500"/>
          </a:xfrm>
          <a:prstGeom prst="rect">
            <a:avLst/>
          </a:prstGeom>
          <a:noFill/>
          <a:ln w="12700" cap="flat" cmpd="sng">
            <a:noFill/>
            <a:prstDash val="solid"/>
            <a:round/>
          </a:ln>
        </p:spPr>
        <p:txBody>
          <a:bodyPr vert="horz" wrap="square" lIns="0" tIns="0" rIns="0" bIns="0" rtlCol="0" anchor="ctr" anchorCtr="0"/>
          <a:lstStyle/>
          <a:p>
            <a:r>
              <a:rPr lang="en-US" sz="1040" b="0" i="0" u="none" strike="noStrike">
                <a:solidFill>
                  <a:srgbClr val="475569"/>
                </a:solidFill>
                <a:latin typeface="Liberation Sans"/>
                <a:ea typeface="Liberation Sans"/>
                <a:cs typeface="Liberation Sans"/>
                <a:sym typeface="Liberation Sans"/>
              </a:rPr>
              <a:t>Brier score, ECE, Platt scaling, and confidence-based error review.</a:t>
            </a:r>
          </a:p>
        </p:txBody>
      </p:sp>
      <p:sp>
        <p:nvSpPr>
          <p:cNvPr id="26" name="AutoShape 26"/>
          <p:cNvSpPr/>
          <p:nvPr/>
        </p:nvSpPr>
        <p:spPr>
          <a:xfrm>
            <a:off x="4318000" y="38544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4044950"/>
            <a:ext cx="406400" cy="406400"/>
          </a:xfrm>
          <a:prstGeom prst="rect">
            <a:avLst/>
          </a:prstGeom>
        </p:spPr>
      </p:pic>
      <p:sp>
        <p:nvSpPr>
          <p:cNvPr id="28" name="AutoShape 28"/>
          <p:cNvSpPr/>
          <p:nvPr/>
        </p:nvSpPr>
        <p:spPr>
          <a:xfrm>
            <a:off x="5080000" y="4057650"/>
            <a:ext cx="2540000" cy="381000"/>
          </a:xfrm>
          <a:prstGeom prst="rect">
            <a:avLst/>
          </a:prstGeom>
          <a:noFill/>
          <a:ln w="12700" cap="flat" cmpd="sng">
            <a:noFill/>
            <a:prstDash val="solid"/>
            <a:round/>
          </a:ln>
        </p:spPr>
        <p:txBody>
          <a:bodyPr vert="horz" wrap="square" lIns="0" tIns="0" rIns="0" bIns="0" rtlCol="0" anchor="ctr" anchorCtr="0"/>
          <a:lstStyle/>
          <a:p>
            <a:pPr algn="ctr"/>
            <a:r>
              <a:rPr lang="en-US" sz="1500" b="1" i="0" u="none" strike="noStrike">
                <a:solidFill>
                  <a:srgbClr val="1F2937"/>
                </a:solidFill>
                <a:latin typeface="Liberation Sans"/>
                <a:ea typeface="Liberation Sans"/>
                <a:cs typeface="Liberation Sans"/>
                <a:sym typeface="Liberation Sans"/>
              </a:rPr>
              <a:t>Robustness &amp; Subgroups</a:t>
            </a:r>
          </a:p>
        </p:txBody>
      </p:sp>
      <p:sp>
        <p:nvSpPr>
          <p:cNvPr id="29" name="AutoShape 29"/>
          <p:cNvSpPr/>
          <p:nvPr/>
        </p:nvSpPr>
        <p:spPr>
          <a:xfrm>
            <a:off x="4572000" y="4616450"/>
            <a:ext cx="3048000" cy="1206500"/>
          </a:xfrm>
          <a:prstGeom prst="rect">
            <a:avLst/>
          </a:prstGeom>
          <a:noFill/>
          <a:ln w="12700" cap="flat" cmpd="sng">
            <a:noFill/>
            <a:prstDash val="solid"/>
            <a:round/>
          </a:ln>
        </p:spPr>
        <p:txBody>
          <a:bodyPr vert="horz" wrap="square" lIns="0" tIns="0" rIns="0" bIns="0" rtlCol="0" anchor="ctr" anchorCtr="0"/>
          <a:lstStyle/>
          <a:p>
            <a:r>
              <a:rPr lang="en-US" sz="1040" b="0" i="0" u="none" strike="noStrike">
                <a:solidFill>
                  <a:srgbClr val="475569"/>
                </a:solidFill>
                <a:latin typeface="Liberation Sans"/>
                <a:ea typeface="Liberation Sans"/>
                <a:cs typeface="Liberation Sans"/>
                <a:sym typeface="Liberation Sans"/>
              </a:rPr>
              <a:t>Performance across classes, elevation bands, and wilderness areas.</a:t>
            </a:r>
          </a:p>
        </p:txBody>
      </p:sp>
      <p:sp>
        <p:nvSpPr>
          <p:cNvPr id="30" name="AutoShape 4">
            <a:extLst>
              <a:ext uri="{FF2B5EF4-FFF2-40B4-BE49-F238E27FC236}">
                <a16:creationId xmlns:a16="http://schemas.microsoft.com/office/drawing/2014/main" id="{5C7E3A6D-135A-DF68-3E33-59D769C85971}"/>
              </a:ext>
            </a:extLst>
          </p:cNvPr>
          <p:cNvSpPr/>
          <p:nvPr/>
        </p:nvSpPr>
        <p:spPr>
          <a:xfrm>
            <a:off x="508000" y="314325"/>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11827"/>
                </a:solidFill>
                <a:latin typeface="Liberation Sans"/>
                <a:ea typeface="Liberation Sans"/>
                <a:cs typeface="Liberation Sans"/>
                <a:sym typeface="Liberation Sans"/>
              </a:rPr>
              <a:t>06 Open-Ended Exploration</a:t>
            </a:r>
            <a:endParaRPr lang="en-US" sz="1100" dirty="0"/>
          </a:p>
        </p:txBody>
      </p:sp>
      <p:sp>
        <p:nvSpPr>
          <p:cNvPr id="31" name="AutoShape 5">
            <a:extLst>
              <a:ext uri="{FF2B5EF4-FFF2-40B4-BE49-F238E27FC236}">
                <a16:creationId xmlns:a16="http://schemas.microsoft.com/office/drawing/2014/main" id="{7D09DCA9-C5CE-BD1F-054D-A9BBAED35505}"/>
              </a:ext>
            </a:extLst>
          </p:cNvPr>
          <p:cNvSpPr/>
          <p:nvPr/>
        </p:nvSpPr>
        <p:spPr>
          <a:xfrm>
            <a:off x="508000" y="1012825"/>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Liberation Sans"/>
                <a:ea typeface="Liberation Sans"/>
                <a:cs typeface="Liberation Sans"/>
                <a:sym typeface="Liberation Sans"/>
              </a:rPr>
              <a:t>Beyond baseline models - deeper investigation of techniques and improvements</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2000" advTm="140"/>
    </mc:Choice>
    <mc:Fallback>
      <p:transition spd="slow" advTm="14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18">
            <a:extLst>
              <a:ext uri="{FF2B5EF4-FFF2-40B4-BE49-F238E27FC236}">
                <a16:creationId xmlns:a16="http://schemas.microsoft.com/office/drawing/2014/main" id="{3B5DF6BC-BAEB-CDA8-9A5A-CC7F241B76B5}"/>
              </a:ext>
            </a:extLst>
          </p:cNvPr>
          <p:cNvSpPr/>
          <p:nvPr/>
        </p:nvSpPr>
        <p:spPr>
          <a:xfrm>
            <a:off x="8037367" y="2794567"/>
            <a:ext cx="3712030" cy="1025654"/>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2" name="AutoShape 18">
            <a:extLst>
              <a:ext uri="{FF2B5EF4-FFF2-40B4-BE49-F238E27FC236}">
                <a16:creationId xmlns:a16="http://schemas.microsoft.com/office/drawing/2014/main" id="{04628429-9496-5F20-449B-0E31D1D7FFED}"/>
              </a:ext>
            </a:extLst>
          </p:cNvPr>
          <p:cNvSpPr/>
          <p:nvPr/>
        </p:nvSpPr>
        <p:spPr>
          <a:xfrm>
            <a:off x="8037367" y="1640465"/>
            <a:ext cx="3712030" cy="91089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2954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01171"/>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1F2937"/>
                </a:solidFill>
                <a:latin typeface="Liberation Sans"/>
                <a:ea typeface="Liberation Sans"/>
                <a:cs typeface="Liberation Sans"/>
                <a:sym typeface="Liberation Sans"/>
              </a:rPr>
              <a:t>Feature Importance</a:t>
            </a:r>
            <a:r>
              <a:rPr lang="zh-CN" altLang="en-US" sz="2800" b="1" i="0" u="none" strike="noStrike" dirty="0">
                <a:solidFill>
                  <a:srgbClr val="1F2937"/>
                </a:solidFill>
                <a:latin typeface="Liberation Sans"/>
                <a:ea typeface="Liberation Sans"/>
                <a:cs typeface="Liberation Sans"/>
                <a:sym typeface="Liberation Sans"/>
              </a:rPr>
              <a:t> </a:t>
            </a:r>
            <a:r>
              <a:rPr lang="en-US" altLang="zh-CN" sz="2800" b="1" i="0" u="none" strike="noStrike" dirty="0">
                <a:solidFill>
                  <a:srgbClr val="1F2937"/>
                </a:solidFill>
                <a:latin typeface="Liberation Sans"/>
                <a:ea typeface="Liberation Sans"/>
                <a:cs typeface="Liberation Sans"/>
                <a:sym typeface="Liberation Sans"/>
              </a:rPr>
              <a:t>Analysis</a:t>
            </a:r>
            <a:endParaRPr lang="en-US" sz="1100" dirty="0"/>
          </a:p>
        </p:txBody>
      </p:sp>
      <p:sp>
        <p:nvSpPr>
          <p:cNvPr id="5" name="AutoShape 5"/>
          <p:cNvSpPr/>
          <p:nvPr/>
        </p:nvSpPr>
        <p:spPr>
          <a:xfrm>
            <a:off x="710046" y="3791297"/>
            <a:ext cx="7340600" cy="1016000"/>
          </a:xfrm>
          <a:prstGeom prst="rect">
            <a:avLst/>
          </a:prstGeom>
          <a:noFill/>
          <a:ln w="12700" cap="flat" cmpd="sng">
            <a:noFill/>
            <a:prstDash val="solid"/>
            <a:round/>
          </a:ln>
        </p:spPr>
        <p:txBody>
          <a:bodyPr vert="horz" wrap="square" lIns="0" tIns="0" rIns="0" bIns="0" rtlCol="0" anchor="ctr" anchorCtr="0"/>
          <a:lstStyle/>
          <a:p>
            <a:pPr algn="ctr"/>
            <a:r>
              <a:rPr lang="en-US" sz="950" b="0" i="0" u="none" strike="noStrike" dirty="0">
                <a:solidFill>
                  <a:srgbClr val="64748B"/>
                </a:solidFill>
                <a:latin typeface="Liberation Sans"/>
                <a:ea typeface="Liberation Sans"/>
                <a:cs typeface="Liberation Sans"/>
                <a:sym typeface="Liberation Sans"/>
              </a:rPr>
              <a:t>Impurity importance and held-out permutation importance provide complementary evidence.</a:t>
            </a:r>
          </a:p>
        </p:txBody>
      </p:sp>
      <p:sp>
        <p:nvSpPr>
          <p:cNvPr id="6" name="AutoShape 6"/>
          <p:cNvSpPr/>
          <p:nvPr/>
        </p:nvSpPr>
        <p:spPr>
          <a:xfrm>
            <a:off x="8229230" y="1640465"/>
            <a:ext cx="3329667" cy="889000"/>
          </a:xfrm>
          <a:prstGeom prst="rect">
            <a:avLst/>
          </a:prstGeom>
          <a:noFill/>
          <a:ln w="12700" cap="flat" cmpd="sng">
            <a:noFill/>
            <a:prstDash val="solid"/>
            <a:round/>
          </a:ln>
        </p:spPr>
        <p:txBody>
          <a:bodyPr vert="horz" wrap="square" lIns="0" tIns="0" rIns="0" bIns="0" rtlCol="0" anchor="ctr" anchorCtr="0"/>
          <a:lstStyle/>
          <a:p>
            <a:r>
              <a:rPr lang="en-US" sz="1120" b="0" i="0" u="none" strike="noStrike" dirty="0">
                <a:solidFill>
                  <a:srgbClr val="475569"/>
                </a:solidFill>
                <a:latin typeface="Liberation Sans"/>
                <a:ea typeface="Liberation Sans"/>
                <a:cs typeface="Liberation Sans"/>
                <a:sym typeface="Liberation Sans"/>
              </a:rPr>
              <a:t>Two independent importance methods agree on the leading predictors.</a:t>
            </a:r>
          </a:p>
        </p:txBody>
      </p:sp>
      <p:sp>
        <p:nvSpPr>
          <p:cNvPr id="7" name="AutoShape 7"/>
          <p:cNvSpPr/>
          <p:nvPr/>
        </p:nvSpPr>
        <p:spPr>
          <a:xfrm>
            <a:off x="4125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52203" y="5059831"/>
            <a:ext cx="2540000" cy="1161026"/>
          </a:xfrm>
          <a:prstGeom prst="rect">
            <a:avLst/>
          </a:prstGeom>
          <a:noFill/>
          <a:ln w="12700" cap="flat" cmpd="sng">
            <a:noFill/>
            <a:prstDash val="solid"/>
            <a:round/>
          </a:ln>
        </p:spPr>
        <p:txBody>
          <a:bodyPr vert="horz" wrap="square" lIns="0" tIns="0" rIns="0" bIns="0" rtlCol="0" anchor="ctr" anchorCtr="0"/>
          <a:lstStyle/>
          <a:p>
            <a:r>
              <a:rPr lang="en-US" sz="930" b="0" i="0" u="none" strike="noStrike" dirty="0">
                <a:solidFill>
                  <a:srgbClr val="475569"/>
                </a:solidFill>
                <a:latin typeface="Liberation Sans"/>
                <a:ea typeface="Liberation Sans"/>
                <a:cs typeface="Liberation Sans"/>
                <a:sym typeface="Liberation Sans"/>
              </a:rPr>
              <a:t>Impurity importance=0.243; permutation macro-F1 drop=0.371.</a:t>
            </a:r>
          </a:p>
        </p:txBody>
      </p:sp>
      <p:sp>
        <p:nvSpPr>
          <p:cNvPr id="10" name="AutoShape 10"/>
          <p:cNvSpPr/>
          <p:nvPr/>
        </p:nvSpPr>
        <p:spPr>
          <a:xfrm>
            <a:off x="3453246" y="4943136"/>
            <a:ext cx="2540000" cy="1397000"/>
          </a:xfrm>
          <a:prstGeom prst="rect">
            <a:avLst/>
          </a:prstGeom>
          <a:noFill/>
          <a:ln w="12700" cap="flat" cmpd="sng">
            <a:noFill/>
            <a:prstDash val="solid"/>
            <a:round/>
          </a:ln>
        </p:spPr>
        <p:txBody>
          <a:bodyPr vert="horz" wrap="square" lIns="0" tIns="0" rIns="0" bIns="0" rtlCol="0" anchor="ctr" anchorCtr="0"/>
          <a:lstStyle/>
          <a:p>
            <a:r>
              <a:rPr lang="en-US" sz="930" b="0" i="0" u="none" strike="noStrike" dirty="0">
                <a:solidFill>
                  <a:srgbClr val="475569"/>
                </a:solidFill>
                <a:latin typeface="Liberation Sans"/>
                <a:ea typeface="Liberation Sans"/>
                <a:cs typeface="Liberation Sans"/>
                <a:sym typeface="Liberation Sans"/>
              </a:rPr>
              <a:t>Second-largest permutation effect: macro-F1 drop=0.136.</a:t>
            </a:r>
          </a:p>
        </p:txBody>
      </p:sp>
      <p:sp>
        <p:nvSpPr>
          <p:cNvPr id="11" name="AutoShape 11"/>
          <p:cNvSpPr/>
          <p:nvPr/>
        </p:nvSpPr>
        <p:spPr>
          <a:xfrm>
            <a:off x="6172261" y="4682643"/>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05303" y="4900057"/>
            <a:ext cx="2540000" cy="1397000"/>
          </a:xfrm>
          <a:prstGeom prst="rect">
            <a:avLst/>
          </a:prstGeom>
          <a:noFill/>
          <a:ln w="12700" cap="flat" cmpd="sng">
            <a:noFill/>
            <a:prstDash val="solid"/>
            <a:round/>
          </a:ln>
        </p:spPr>
        <p:txBody>
          <a:bodyPr vert="horz" wrap="square" lIns="0" tIns="0" rIns="0" bIns="0" rtlCol="0" anchor="ctr" anchorCtr="0"/>
          <a:lstStyle/>
          <a:p>
            <a:r>
              <a:rPr lang="en-US" sz="930" b="0" i="0" u="none" strike="noStrike" dirty="0">
                <a:solidFill>
                  <a:srgbClr val="475569"/>
                </a:solidFill>
                <a:latin typeface="Liberation Sans"/>
                <a:ea typeface="Liberation Sans"/>
                <a:cs typeface="Liberation Sans"/>
                <a:sym typeface="Liberation Sans"/>
              </a:rPr>
              <a:t>Third-largest permutation effect: macro-F1 drop=0.104.</a:t>
            </a:r>
          </a:p>
        </p:txBody>
      </p:sp>
      <p:sp>
        <p:nvSpPr>
          <p:cNvPr id="13" name="AutoShape 13"/>
          <p:cNvSpPr/>
          <p:nvPr/>
        </p:nvSpPr>
        <p:spPr>
          <a:xfrm>
            <a:off x="9073903" y="4682643"/>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188203" y="5059831"/>
            <a:ext cx="2540000" cy="1066059"/>
          </a:xfrm>
          <a:prstGeom prst="rect">
            <a:avLst/>
          </a:prstGeom>
          <a:noFill/>
          <a:ln w="12700" cap="flat" cmpd="sng">
            <a:noFill/>
            <a:prstDash val="solid"/>
            <a:round/>
          </a:ln>
        </p:spPr>
        <p:txBody>
          <a:bodyPr vert="horz" wrap="square" lIns="0" tIns="0" rIns="0" bIns="0" rtlCol="0" anchor="ctr" anchorCtr="0"/>
          <a:lstStyle/>
          <a:p>
            <a:endParaRPr lang="en-US" sz="930" b="0" i="0" u="none" strike="noStrike" dirty="0">
              <a:solidFill>
                <a:srgbClr val="475569"/>
              </a:solidFill>
              <a:latin typeface="Liberation Sans"/>
              <a:ea typeface="Liberation Sans"/>
              <a:cs typeface="Liberation Sans"/>
              <a:sym typeface="Liberation Sans"/>
            </a:endParaRPr>
          </a:p>
          <a:p>
            <a:r>
              <a:rPr lang="en-US" sz="930" b="0" i="0" u="none" strike="noStrike" dirty="0">
                <a:solidFill>
                  <a:srgbClr val="475569"/>
                </a:solidFill>
                <a:latin typeface="Liberation Sans"/>
                <a:ea typeface="Liberation Sans"/>
                <a:cs typeface="Liberation Sans"/>
                <a:sym typeface="Liberation Sans"/>
              </a:rPr>
              <a:t>Terrain-only RF=0.874; top-5 RF=0.877; full RF=0.908. LR polynomial features remain 0.584.</a:t>
            </a:r>
          </a:p>
        </p:txBody>
      </p:sp>
      <p:pic>
        <p:nvPicPr>
          <p:cNvPr id="15" name="图片 14">
            <a:extLst>
              <a:ext uri="{FF2B5EF4-FFF2-40B4-BE49-F238E27FC236}">
                <a16:creationId xmlns:a16="http://schemas.microsoft.com/office/drawing/2014/main" id="{51249650-4109-E650-8A24-48ACAEB30E1C}"/>
              </a:ext>
            </a:extLst>
          </p:cNvPr>
          <p:cNvPicPr>
            <a:picLocks noChangeAspect="1"/>
          </p:cNvPicPr>
          <p:nvPr/>
        </p:nvPicPr>
        <p:blipFill>
          <a:blip r:embed="rId3"/>
          <a:stretch>
            <a:fillRect/>
          </a:stretch>
        </p:blipFill>
        <p:spPr>
          <a:xfrm>
            <a:off x="568016" y="1097280"/>
            <a:ext cx="7047848" cy="2971800"/>
          </a:xfrm>
          <a:prstGeom prst="rect">
            <a:avLst/>
          </a:prstGeom>
        </p:spPr>
      </p:pic>
      <p:sp>
        <p:nvSpPr>
          <p:cNvPr id="17" name="文本框 16">
            <a:extLst>
              <a:ext uri="{FF2B5EF4-FFF2-40B4-BE49-F238E27FC236}">
                <a16:creationId xmlns:a16="http://schemas.microsoft.com/office/drawing/2014/main" id="{32EC89DC-0857-A213-7483-F1E606EB4F9C}"/>
              </a:ext>
            </a:extLst>
          </p:cNvPr>
          <p:cNvSpPr txBox="1"/>
          <p:nvPr/>
        </p:nvSpPr>
        <p:spPr>
          <a:xfrm>
            <a:off x="6216403" y="4728891"/>
            <a:ext cx="2179864" cy="276358"/>
          </a:xfrm>
          <a:prstGeom prst="rect">
            <a:avLst/>
          </a:prstGeom>
          <a:noFill/>
        </p:spPr>
        <p:txBody>
          <a:bodyPr wrap="square">
            <a:spAutoFit/>
          </a:bodyPr>
          <a:lstStyle/>
          <a:p>
            <a:r>
              <a:rPr lang="en-US" altLang="zh-CN" sz="1250" b="1" i="0" u="none" strike="noStrike" dirty="0">
                <a:solidFill>
                  <a:srgbClr val="245A46"/>
                </a:solidFill>
                <a:latin typeface="Liberation Sans"/>
                <a:ea typeface="Liberation Sans"/>
                <a:cs typeface="Liberation Sans"/>
                <a:sym typeface="Liberation Sans"/>
              </a:rPr>
              <a:t>03 Fire-Point Distance</a:t>
            </a:r>
          </a:p>
        </p:txBody>
      </p:sp>
      <p:sp>
        <p:nvSpPr>
          <p:cNvPr id="19" name="文本框 18">
            <a:extLst>
              <a:ext uri="{FF2B5EF4-FFF2-40B4-BE49-F238E27FC236}">
                <a16:creationId xmlns:a16="http://schemas.microsoft.com/office/drawing/2014/main" id="{7C7DD4E5-8060-9F0A-6CD5-81C6440A59AF}"/>
              </a:ext>
            </a:extLst>
          </p:cNvPr>
          <p:cNvSpPr txBox="1"/>
          <p:nvPr/>
        </p:nvSpPr>
        <p:spPr>
          <a:xfrm>
            <a:off x="3344988" y="4682643"/>
            <a:ext cx="1624693" cy="292388"/>
          </a:xfrm>
          <a:prstGeom prst="rect">
            <a:avLst/>
          </a:prstGeom>
          <a:noFill/>
        </p:spPr>
        <p:txBody>
          <a:bodyPr wrap="square">
            <a:spAutoFit/>
          </a:bodyPr>
          <a:lstStyle/>
          <a:p>
            <a:r>
              <a:rPr lang="en-US" altLang="zh-CN" sz="1250" b="1" i="0" u="none" strike="noStrike" dirty="0">
                <a:solidFill>
                  <a:srgbClr val="245A46"/>
                </a:solidFill>
                <a:latin typeface="Liberation Sans"/>
                <a:ea typeface="Liberation Sans"/>
                <a:cs typeface="Liberation Sans"/>
                <a:sym typeface="Liberation Sans"/>
              </a:rPr>
              <a:t>02 Road Distance</a:t>
            </a:r>
          </a:p>
        </p:txBody>
      </p:sp>
      <p:sp>
        <p:nvSpPr>
          <p:cNvPr id="21" name="文本框 20">
            <a:extLst>
              <a:ext uri="{FF2B5EF4-FFF2-40B4-BE49-F238E27FC236}">
                <a16:creationId xmlns:a16="http://schemas.microsoft.com/office/drawing/2014/main" id="{DAE73D8B-AA3A-3353-B9FA-B7F9463A8565}"/>
              </a:ext>
            </a:extLst>
          </p:cNvPr>
          <p:cNvSpPr txBox="1"/>
          <p:nvPr/>
        </p:nvSpPr>
        <p:spPr>
          <a:xfrm>
            <a:off x="487899" y="4676952"/>
            <a:ext cx="1641722" cy="292388"/>
          </a:xfrm>
          <a:prstGeom prst="rect">
            <a:avLst/>
          </a:prstGeom>
          <a:noFill/>
        </p:spPr>
        <p:txBody>
          <a:bodyPr wrap="square">
            <a:spAutoFit/>
          </a:bodyPr>
          <a:lstStyle/>
          <a:p>
            <a:r>
              <a:rPr lang="en-US" altLang="zh-CN" sz="1250" b="1" i="0" u="none" strike="noStrike" dirty="0">
                <a:solidFill>
                  <a:srgbClr val="245A46"/>
                </a:solidFill>
                <a:latin typeface="Liberation Sans"/>
                <a:ea typeface="Liberation Sans"/>
                <a:cs typeface="Liberation Sans"/>
                <a:sym typeface="Liberation Sans"/>
              </a:rPr>
              <a:t>01 Elevation</a:t>
            </a:r>
          </a:p>
        </p:txBody>
      </p:sp>
      <p:sp>
        <p:nvSpPr>
          <p:cNvPr id="24" name="文本框 23">
            <a:extLst>
              <a:ext uri="{FF2B5EF4-FFF2-40B4-BE49-F238E27FC236}">
                <a16:creationId xmlns:a16="http://schemas.microsoft.com/office/drawing/2014/main" id="{93F0083B-E377-CFF2-F6CA-F1A4EDAAD66F}"/>
              </a:ext>
            </a:extLst>
          </p:cNvPr>
          <p:cNvSpPr txBox="1"/>
          <p:nvPr/>
        </p:nvSpPr>
        <p:spPr>
          <a:xfrm>
            <a:off x="8088848" y="2783381"/>
            <a:ext cx="3609067" cy="892552"/>
          </a:xfrm>
          <a:prstGeom prst="rect">
            <a:avLst/>
          </a:prstGeom>
          <a:noFill/>
        </p:spPr>
        <p:txBody>
          <a:bodyPr wrap="square">
            <a:spAutoFit/>
          </a:bodyPr>
          <a:lstStyle/>
          <a:p>
            <a:r>
              <a:rPr lang="en-US" altLang="zh-CN" sz="1050" b="1" i="0" u="none" strike="noStrike" dirty="0">
                <a:solidFill>
                  <a:srgbClr val="475569"/>
                </a:solidFill>
                <a:latin typeface="Liberation Sans"/>
                <a:ea typeface="Liberation Sans"/>
                <a:cs typeface="Liberation Sans"/>
                <a:sym typeface="Liberation Sans"/>
              </a:rPr>
              <a:t>Interpretation: </a:t>
            </a:r>
            <a:r>
              <a:rPr lang="en-US" altLang="zh-CN" sz="1050" b="0" i="0" u="none" strike="noStrike" dirty="0">
                <a:solidFill>
                  <a:srgbClr val="475569"/>
                </a:solidFill>
                <a:latin typeface="Liberation Sans"/>
                <a:ea typeface="Liberation Sans"/>
                <a:cs typeface="Liberation Sans"/>
                <a:sym typeface="Liberation Sans"/>
              </a:rPr>
              <a:t>importance indicates predictive association, not a causal effect. Wilderness and soil indicators still add complementary context.</a:t>
            </a:r>
          </a:p>
        </p:txBody>
      </p:sp>
      <p:sp>
        <p:nvSpPr>
          <p:cNvPr id="18" name="文本框 17">
            <a:extLst>
              <a:ext uri="{FF2B5EF4-FFF2-40B4-BE49-F238E27FC236}">
                <a16:creationId xmlns:a16="http://schemas.microsoft.com/office/drawing/2014/main" id="{04F2F27F-7C18-84AC-A5F1-97F2C757A511}"/>
              </a:ext>
            </a:extLst>
          </p:cNvPr>
          <p:cNvSpPr txBox="1"/>
          <p:nvPr/>
        </p:nvSpPr>
        <p:spPr>
          <a:xfrm>
            <a:off x="9073903" y="4728891"/>
            <a:ext cx="2179864" cy="284693"/>
          </a:xfrm>
          <a:prstGeom prst="rect">
            <a:avLst/>
          </a:prstGeom>
          <a:noFill/>
        </p:spPr>
        <p:txBody>
          <a:bodyPr wrap="square">
            <a:spAutoFit/>
          </a:bodyPr>
          <a:lstStyle/>
          <a:p>
            <a:r>
              <a:rPr lang="en-US" altLang="zh-CN" sz="1250" b="1" i="0" u="none" strike="noStrike" dirty="0">
                <a:solidFill>
                  <a:srgbClr val="245A46"/>
                </a:solidFill>
                <a:latin typeface="Liberation Sans"/>
                <a:ea typeface="Liberation Sans"/>
                <a:cs typeface="Liberation Sans"/>
                <a:sym typeface="Liberation Sans"/>
              </a:rPr>
              <a:t>04 Model Capacity</a:t>
            </a:r>
          </a:p>
        </p:txBody>
      </p:sp>
    </p:spTree>
  </p:cSld>
  <p:clrMapOvr>
    <a:masterClrMapping/>
  </p:clrMapOvr>
  <mc:AlternateContent xmlns:mc="http://schemas.openxmlformats.org/markup-compatibility/2006">
    <mc:Choice xmlns:p14="http://schemas.microsoft.com/office/powerpoint/2010/main" Requires="p14">
      <p:transition spd="slow" p14:dur="2000" advTm="7684"/>
    </mc:Choice>
    <mc:Fallback>
      <p:transition spd="slow" advTm="76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B608-D923-B70D-E0B2-795BD1E42F2A}"/>
            </a:ext>
          </a:extLst>
        </p:cNvPr>
        <p:cNvGrpSpPr/>
        <p:nvPr/>
      </p:nvGrpSpPr>
      <p:grpSpPr>
        <a:xfrm>
          <a:off x="0" y="0"/>
          <a:ext cx="0" cy="0"/>
          <a:chOff x="0" y="0"/>
          <a:chExt cx="0" cy="0"/>
        </a:xfrm>
      </p:grpSpPr>
      <p:sp>
        <p:nvSpPr>
          <p:cNvPr id="36" name="AutoShape 18">
            <a:extLst>
              <a:ext uri="{FF2B5EF4-FFF2-40B4-BE49-F238E27FC236}">
                <a16:creationId xmlns:a16="http://schemas.microsoft.com/office/drawing/2014/main" id="{D14B5D45-E4CB-6037-E168-92C04CA942E9}"/>
              </a:ext>
            </a:extLst>
          </p:cNvPr>
          <p:cNvSpPr/>
          <p:nvPr/>
        </p:nvSpPr>
        <p:spPr>
          <a:xfrm>
            <a:off x="4160520" y="3703320"/>
            <a:ext cx="3429000" cy="2148840"/>
          </a:xfrm>
          <a:prstGeom prst="roundRect">
            <a:avLst>
              <a:gd name="adj" fmla="val 0"/>
            </a:avLst>
          </a:prstGeom>
          <a:solidFill>
            <a:schemeClr val="accent1">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7" name="AutoShape 18">
            <a:extLst>
              <a:ext uri="{FF2B5EF4-FFF2-40B4-BE49-F238E27FC236}">
                <a16:creationId xmlns:a16="http://schemas.microsoft.com/office/drawing/2014/main" id="{E9429E25-3962-2A87-DC1B-A1C71EE9B4B3}"/>
              </a:ext>
            </a:extLst>
          </p:cNvPr>
          <p:cNvSpPr/>
          <p:nvPr/>
        </p:nvSpPr>
        <p:spPr>
          <a:xfrm>
            <a:off x="7818120" y="3703320"/>
            <a:ext cx="3429000" cy="2148840"/>
          </a:xfrm>
          <a:prstGeom prst="roundRect">
            <a:avLst>
              <a:gd name="adj" fmla="val 0"/>
            </a:avLst>
          </a:prstGeom>
          <a:solidFill>
            <a:schemeClr val="accent6">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5" name="AutoShape 18">
            <a:extLst>
              <a:ext uri="{FF2B5EF4-FFF2-40B4-BE49-F238E27FC236}">
                <a16:creationId xmlns:a16="http://schemas.microsoft.com/office/drawing/2014/main" id="{A409E5C3-3FE4-64AC-9DFD-A19CCAA113E7}"/>
              </a:ext>
            </a:extLst>
          </p:cNvPr>
          <p:cNvSpPr/>
          <p:nvPr/>
        </p:nvSpPr>
        <p:spPr>
          <a:xfrm>
            <a:off x="502920" y="3703320"/>
            <a:ext cx="3429000" cy="2148840"/>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4" name="AutoShape 4">
            <a:extLst>
              <a:ext uri="{FF2B5EF4-FFF2-40B4-BE49-F238E27FC236}">
                <a16:creationId xmlns:a16="http://schemas.microsoft.com/office/drawing/2014/main" id="{4C3287DE-1686-70DC-47F3-CBA520864AF7}"/>
              </a:ext>
            </a:extLst>
          </p:cNvPr>
          <p:cNvSpPr/>
          <p:nvPr/>
        </p:nvSpPr>
        <p:spPr>
          <a:xfrm>
            <a:off x="530352" y="256032"/>
            <a:ext cx="8046720" cy="502920"/>
          </a:xfrm>
          <a:prstGeom prst="rect">
            <a:avLst/>
          </a:prstGeom>
          <a:noFill/>
          <a:ln w="12700" cap="flat" cmpd="sng">
            <a:noFill/>
            <a:prstDash val="solid"/>
            <a:round/>
          </a:ln>
        </p:spPr>
        <p:txBody>
          <a:bodyPr vert="horz" wrap="square" lIns="0" tIns="0" rIns="0" bIns="0" rtlCol="0" anchor="ctr" anchorCtr="0"/>
          <a:lstStyle/>
          <a:p>
            <a:r>
              <a:rPr lang="en-US" altLang="zh-CN" sz="2700" b="1" dirty="0">
                <a:solidFill>
                  <a:srgbClr val="111827"/>
                </a:solidFill>
                <a:latin typeface="Liberation Sans"/>
                <a:ea typeface="Liberation Sans"/>
                <a:cs typeface="Liberation Sans"/>
                <a:sym typeface="Liberation Sans"/>
              </a:rPr>
              <a:t>Hyperparameter Search Strategy</a:t>
            </a:r>
          </a:p>
        </p:txBody>
      </p:sp>
      <p:sp>
        <p:nvSpPr>
          <p:cNvPr id="27" name="文本框 26">
            <a:extLst>
              <a:ext uri="{FF2B5EF4-FFF2-40B4-BE49-F238E27FC236}">
                <a16:creationId xmlns:a16="http://schemas.microsoft.com/office/drawing/2014/main" id="{C893D373-CE93-9FED-B0CB-674AFB8F39B1}"/>
              </a:ext>
            </a:extLst>
          </p:cNvPr>
          <p:cNvSpPr txBox="1"/>
          <p:nvPr/>
        </p:nvSpPr>
        <p:spPr>
          <a:xfrm>
            <a:off x="8046720" y="3931920"/>
            <a:ext cx="2971800" cy="1691640"/>
          </a:xfrm>
          <a:prstGeom prst="rect">
            <a:avLst/>
          </a:prstGeom>
          <a:noFill/>
        </p:spPr>
        <p:txBody>
          <a:bodyPr wrap="square" lIns="18000" tIns="18000" rIns="18000" bIns="18000">
            <a:spAutoFit/>
          </a:bodyPr>
          <a:lstStyle/>
          <a:p>
            <a:pPr>
              <a:spcAft>
                <a:spcPts val="300"/>
              </a:spcAft>
            </a:pPr>
            <a:r>
              <a:rPr lang="zh-CN" altLang="zh-CN" sz="1300" b="1" i="0" dirty="0">
                <a:solidFill>
                  <a:srgbClr val="111827"/>
                </a:solidFill>
                <a:effectLst/>
                <a:latin typeface="Liberation Sans"/>
              </a:rPr>
              <a:t>Optuna on Same 30k</a:t>
            </a:r>
          </a:p>
          <a:p>
            <a:r>
              <a:rPr lang="zh-CN" altLang="zh-CN" sz="980" b="0" i="0" dirty="0">
                <a:solidFill>
                  <a:srgbClr val="475569"/>
                </a:solidFill>
                <a:effectLst/>
                <a:latin typeface="Liberation Sans"/>
              </a:rPr>
              <a:t>100 TPE trials recover test F1=0.823: +0.026 over grid and +0.003 over baseline, within the baseline CI. Search strategy—not subset size—is the key lesson.</a:t>
            </a:r>
          </a:p>
        </p:txBody>
      </p:sp>
      <p:sp>
        <p:nvSpPr>
          <p:cNvPr id="29" name="文本框 28">
            <a:extLst>
              <a:ext uri="{FF2B5EF4-FFF2-40B4-BE49-F238E27FC236}">
                <a16:creationId xmlns:a16="http://schemas.microsoft.com/office/drawing/2014/main" id="{731E89F0-A6C7-5F8A-112F-9D0A219F8A8A}"/>
              </a:ext>
            </a:extLst>
          </p:cNvPr>
          <p:cNvSpPr txBox="1"/>
          <p:nvPr/>
        </p:nvSpPr>
        <p:spPr>
          <a:xfrm>
            <a:off x="4389120" y="3931920"/>
            <a:ext cx="2971800" cy="1691640"/>
          </a:xfrm>
          <a:prstGeom prst="rect">
            <a:avLst/>
          </a:prstGeom>
          <a:noFill/>
        </p:spPr>
        <p:txBody>
          <a:bodyPr wrap="square" lIns="18000" tIns="18000" rIns="18000" bIns="18000">
            <a:spAutoFit/>
          </a:bodyPr>
          <a:lstStyle/>
          <a:p>
            <a:pPr>
              <a:spcAft>
                <a:spcPts val="300"/>
              </a:spcAft>
            </a:pPr>
            <a:r>
              <a:rPr lang="zh-CN" altLang="zh-CN" sz="1300" b="1" i="0" dirty="0">
                <a:solidFill>
                  <a:srgbClr val="111827"/>
                </a:solidFill>
                <a:effectLst/>
                <a:latin typeface="Liberation Sans"/>
              </a:rPr>
              <a:t>Ensemble Grid</a:t>
            </a:r>
          </a:p>
          <a:p>
            <a:r>
              <a:rPr lang="zh-CN" altLang="zh-CN" sz="980" b="0" i="0" dirty="0">
                <a:solidFill>
                  <a:srgbClr val="475569"/>
                </a:solidFill>
                <a:effectLst/>
                <a:latin typeface="Liberation Sans"/>
              </a:rPr>
              <a:t>RF 0.908→0.886 and HGB 0.898→0.889. Increasing RF trees 120→200 adds only +0.001 F1.</a:t>
            </a:r>
          </a:p>
        </p:txBody>
      </p:sp>
      <p:sp>
        <p:nvSpPr>
          <p:cNvPr id="33" name="文本框 32">
            <a:extLst>
              <a:ext uri="{FF2B5EF4-FFF2-40B4-BE49-F238E27FC236}">
                <a16:creationId xmlns:a16="http://schemas.microsoft.com/office/drawing/2014/main" id="{358257D1-D99E-4508-1A89-E7D29C92EC59}"/>
              </a:ext>
            </a:extLst>
          </p:cNvPr>
          <p:cNvSpPr txBox="1"/>
          <p:nvPr/>
        </p:nvSpPr>
        <p:spPr>
          <a:xfrm>
            <a:off x="731520" y="3931920"/>
            <a:ext cx="2971800" cy="1691640"/>
          </a:xfrm>
          <a:prstGeom prst="rect">
            <a:avLst/>
          </a:prstGeom>
          <a:noFill/>
        </p:spPr>
        <p:txBody>
          <a:bodyPr wrap="square" lIns="18000" tIns="18000" rIns="18000" bIns="18000">
            <a:spAutoFit/>
          </a:bodyPr>
          <a:lstStyle/>
          <a:p>
            <a:pPr>
              <a:spcAft>
                <a:spcPts val="300"/>
              </a:spcAft>
            </a:pPr>
            <a:r>
              <a:rPr lang="zh-CN" altLang="zh-CN" sz="1300" b="1" i="0" dirty="0">
                <a:solidFill>
                  <a:srgbClr val="111827"/>
                </a:solidFill>
                <a:effectLst/>
                <a:latin typeface="Liberation Sans"/>
              </a:rPr>
              <a:t>Decision Tree Grid</a:t>
            </a:r>
          </a:p>
          <a:p>
            <a:r>
              <a:rPr lang="zh-CN" altLang="zh-CN" sz="980" b="0" i="0" dirty="0">
                <a:solidFill>
                  <a:srgbClr val="475569"/>
                </a:solidFill>
                <a:effectLst/>
                <a:latin typeface="Liberation Sans"/>
              </a:rPr>
              <a:t>48 configurations, 3-fold CV. Best CV-F1=0.769; held-out test F1=0.797 versus 0.819 baseline (Δ=-0.022).</a:t>
            </a:r>
          </a:p>
        </p:txBody>
      </p:sp>
      <p:pic>
        <p:nvPicPr>
          <p:cNvPr id="6" name="图片 5">
            <a:extLst>
              <a:ext uri="{FF2B5EF4-FFF2-40B4-BE49-F238E27FC236}">
                <a16:creationId xmlns:a16="http://schemas.microsoft.com/office/drawing/2014/main" id="{58EEA0A1-CF38-18B2-9FEE-2FD3F27449D9}"/>
              </a:ext>
            </a:extLst>
          </p:cNvPr>
          <p:cNvPicPr>
            <a:picLocks noChangeAspect="1"/>
          </p:cNvPicPr>
          <p:nvPr/>
        </p:nvPicPr>
        <p:blipFill>
          <a:blip r:embed="rId3"/>
          <a:stretch>
            <a:fillRect/>
          </a:stretch>
        </p:blipFill>
        <p:spPr>
          <a:xfrm>
            <a:off x="2506634" y="868680"/>
            <a:ext cx="7193973" cy="2514600"/>
          </a:xfrm>
          <a:prstGeom prst="rect">
            <a:avLst/>
          </a:prstGeom>
        </p:spPr>
      </p:pic>
    </p:spTree>
    <p:extLst>
      <p:ext uri="{BB962C8B-B14F-4D97-AF65-F5344CB8AC3E}">
        <p14:creationId xmlns:p14="http://schemas.microsoft.com/office/powerpoint/2010/main" val="208515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502920" y="228600"/>
            <a:ext cx="3886200" cy="594360"/>
          </a:xfrm>
          <a:prstGeom prst="rect">
            <a:avLst/>
          </a:prstGeom>
          <a:noFill/>
          <a:ln w="12700" cap="flat" cmpd="sng">
            <a:noFill/>
            <a:prstDash val="solid"/>
            <a:round/>
          </a:ln>
        </p:spPr>
        <p:txBody>
          <a:bodyPr vert="horz" wrap="square" lIns="0" tIns="0" rIns="0" bIns="0" rtlCol="0" anchor="ctr" anchorCtr="0"/>
          <a:lstStyle/>
          <a:p>
            <a:r>
              <a:rPr lang="en-US" sz="2600" b="1" i="0" u="none" strike="noStrike" dirty="0">
                <a:solidFill>
                  <a:srgbClr val="111827"/>
                </a:solidFill>
                <a:latin typeface="Liberation Sans"/>
                <a:ea typeface="Liberation Sans"/>
                <a:cs typeface="Liberation Sans"/>
                <a:sym typeface="Liberation Sans"/>
              </a:rPr>
              <a:t>Model Calibration Analysis</a:t>
            </a:r>
          </a:p>
        </p:txBody>
      </p:sp>
      <p:pic>
        <p:nvPicPr>
          <p:cNvPr id="6" name="Picture 6"/>
          <p:cNvPicPr>
            <a:picLocks noChangeAspect="1"/>
          </p:cNvPicPr>
          <p:nvPr/>
        </p:nvPicPr>
        <p:blipFill>
          <a:blip r:embed="rId3"/>
          <a:srcRect t="1136" b="1136"/>
          <a:stretch>
            <a:fillRect/>
          </a:stretch>
        </p:blipFill>
        <p:spPr>
          <a:xfrm>
            <a:off x="365760" y="1241047"/>
            <a:ext cx="3977640" cy="1678426"/>
          </a:xfrm>
          <a:prstGeom prst="rect">
            <a:avLst/>
          </a:prstGeom>
          <a:noFill/>
          <a:ln w="25400" cap="flat" cmpd="sng">
            <a:noFill/>
            <a:prstDash val="solid"/>
            <a:round/>
          </a:ln>
        </p:spPr>
      </p:pic>
      <p:sp>
        <p:nvSpPr>
          <p:cNvPr id="7" name="AutoShape 7"/>
          <p:cNvSpPr/>
          <p:nvPr/>
        </p:nvSpPr>
        <p:spPr>
          <a:xfrm>
            <a:off x="4581144" y="1014984"/>
            <a:ext cx="2075688" cy="1271016"/>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736592" y="1168400"/>
            <a:ext cx="1764792" cy="304800"/>
          </a:xfrm>
          <a:prstGeom prst="rect">
            <a:avLst/>
          </a:prstGeom>
          <a:noFill/>
          <a:ln w="12700" cap="flat" cmpd="sng">
            <a:noFill/>
            <a:prstDash val="solid"/>
            <a:round/>
          </a:ln>
        </p:spPr>
        <p:txBody>
          <a:bodyPr vert="horz" wrap="square" lIns="0" tIns="0" rIns="0" bIns="0" rtlCol="0" anchor="ctr" anchorCtr="0"/>
          <a:lstStyle/>
          <a:p>
            <a:r>
              <a:rPr lang="en-US" sz="1300" b="1" i="0" u="none" strike="noStrike">
                <a:solidFill>
                  <a:srgbClr val="374151"/>
                </a:solidFill>
                <a:latin typeface="Liberation Sans"/>
                <a:ea typeface="Liberation Sans"/>
                <a:cs typeface="Liberation Sans"/>
                <a:sym typeface="Liberation Sans"/>
              </a:rPr>
              <a:t>Baseline Random Forest</a:t>
            </a:r>
          </a:p>
        </p:txBody>
      </p:sp>
      <p:sp>
        <p:nvSpPr>
          <p:cNvPr id="9" name="AutoShape 9"/>
          <p:cNvSpPr/>
          <p:nvPr/>
        </p:nvSpPr>
        <p:spPr>
          <a:xfrm>
            <a:off x="4736592" y="1394526"/>
            <a:ext cx="1764792" cy="406400"/>
          </a:xfrm>
          <a:prstGeom prst="rect">
            <a:avLst/>
          </a:prstGeom>
          <a:noFill/>
          <a:ln w="12700" cap="flat" cmpd="sng">
            <a:noFill/>
            <a:prstDash val="solid"/>
            <a:round/>
          </a:ln>
        </p:spPr>
        <p:txBody>
          <a:bodyPr vert="horz" wrap="square" lIns="0" tIns="0" rIns="0" bIns="0" rtlCol="0" anchor="ctr" anchorCtr="0"/>
          <a:lstStyle/>
          <a:p>
            <a:r>
              <a:rPr lang="en-US" sz="2200" b="1" i="0" u="none" strike="noStrike" dirty="0">
                <a:solidFill>
                  <a:srgbClr val="6B7280"/>
                </a:solidFill>
                <a:latin typeface="Liberation Sans"/>
                <a:ea typeface="Liberation Sans"/>
                <a:cs typeface="Liberation Sans"/>
                <a:sym typeface="Liberation Sans"/>
              </a:rPr>
              <a:t>0.024</a:t>
            </a:r>
          </a:p>
        </p:txBody>
      </p:sp>
      <p:sp>
        <p:nvSpPr>
          <p:cNvPr id="10" name="AutoShape 10"/>
          <p:cNvSpPr/>
          <p:nvPr/>
        </p:nvSpPr>
        <p:spPr>
          <a:xfrm>
            <a:off x="4736592" y="1930400"/>
            <a:ext cx="1764792" cy="254000"/>
          </a:xfrm>
          <a:prstGeom prst="rect">
            <a:avLst/>
          </a:prstGeom>
          <a:noFill/>
          <a:ln w="12700" cap="flat" cmpd="sng">
            <a:noFill/>
            <a:prstDash val="solid"/>
            <a:round/>
          </a:ln>
        </p:spPr>
        <p:txBody>
          <a:bodyPr vert="horz" wrap="square" lIns="0" tIns="0" rIns="0" bIns="0" rtlCol="0" anchor="ctr" anchorCtr="0"/>
          <a:lstStyle/>
          <a:p>
            <a:r>
              <a:rPr lang="en-US" sz="850" b="0" i="0" u="none" strike="noStrike">
                <a:solidFill>
                  <a:srgbClr val="9CA3AF"/>
                </a:solidFill>
                <a:latin typeface="Liberation Sans"/>
                <a:ea typeface="Liberation Sans"/>
                <a:cs typeface="Liberation Sans"/>
                <a:sym typeface="Liberation Sans"/>
              </a:rPr>
              <a:t>Brier score (higher = poorer)</a:t>
            </a:r>
          </a:p>
        </p:txBody>
      </p:sp>
      <p:sp>
        <p:nvSpPr>
          <p:cNvPr id="11" name="AutoShape 11"/>
          <p:cNvSpPr/>
          <p:nvPr/>
        </p:nvSpPr>
        <p:spPr>
          <a:xfrm>
            <a:off x="6830568" y="1014984"/>
            <a:ext cx="2075688" cy="1271016"/>
          </a:xfrm>
          <a:prstGeom prst="roundRect">
            <a:avLst>
              <a:gd name="adj" fmla="val 0"/>
            </a:avLst>
          </a:prstGeom>
          <a:solidFill>
            <a:srgbClr val="EFF6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86016" y="1097643"/>
            <a:ext cx="1764792" cy="304800"/>
          </a:xfrm>
          <a:prstGeom prst="rect">
            <a:avLst/>
          </a:prstGeom>
          <a:noFill/>
          <a:ln w="12700" cap="flat" cmpd="sng">
            <a:noFill/>
            <a:prstDash val="solid"/>
            <a:round/>
          </a:ln>
        </p:spPr>
        <p:txBody>
          <a:bodyPr vert="horz" wrap="square" lIns="0" tIns="0" rIns="0" bIns="0" rtlCol="0" anchor="ctr" anchorCtr="0"/>
          <a:lstStyle/>
          <a:p>
            <a:r>
              <a:rPr lang="en-US" sz="1300" b="1" i="0" u="none" strike="noStrike" dirty="0">
                <a:solidFill>
                  <a:srgbClr val="2563EB"/>
                </a:solidFill>
                <a:latin typeface="Liberation Sans"/>
                <a:ea typeface="Liberation Sans"/>
                <a:cs typeface="Liberation Sans"/>
                <a:sym typeface="Liberation Sans"/>
              </a:rPr>
              <a:t>RF ECE</a:t>
            </a:r>
          </a:p>
        </p:txBody>
      </p:sp>
      <p:sp>
        <p:nvSpPr>
          <p:cNvPr id="13" name="AutoShape 13"/>
          <p:cNvSpPr/>
          <p:nvPr/>
        </p:nvSpPr>
        <p:spPr>
          <a:xfrm>
            <a:off x="6986016" y="1351643"/>
            <a:ext cx="1764792" cy="406400"/>
          </a:xfrm>
          <a:prstGeom prst="rect">
            <a:avLst/>
          </a:prstGeom>
          <a:noFill/>
          <a:ln w="12700" cap="flat" cmpd="sng">
            <a:noFill/>
            <a:prstDash val="solid"/>
            <a:round/>
          </a:ln>
        </p:spPr>
        <p:txBody>
          <a:bodyPr vert="horz" wrap="square" lIns="0" tIns="0" rIns="0" bIns="0" rtlCol="0" anchor="ctr" anchorCtr="0"/>
          <a:lstStyle/>
          <a:p>
            <a:r>
              <a:rPr lang="en-US" sz="2200" b="1" i="0" u="none" strike="noStrike" dirty="0">
                <a:solidFill>
                  <a:srgbClr val="2563EB"/>
                </a:solidFill>
                <a:latin typeface="Liberation Sans"/>
                <a:ea typeface="Liberation Sans"/>
                <a:cs typeface="Liberation Sans"/>
                <a:sym typeface="Liberation Sans"/>
              </a:rPr>
              <a:t>0.125</a:t>
            </a:r>
          </a:p>
        </p:txBody>
      </p:sp>
      <p:sp>
        <p:nvSpPr>
          <p:cNvPr id="14" name="AutoShape 14"/>
          <p:cNvSpPr/>
          <p:nvPr/>
        </p:nvSpPr>
        <p:spPr>
          <a:xfrm>
            <a:off x="6986016" y="1930400"/>
            <a:ext cx="1764792" cy="254000"/>
          </a:xfrm>
          <a:prstGeom prst="rect">
            <a:avLst/>
          </a:prstGeom>
          <a:noFill/>
          <a:ln w="12700" cap="flat" cmpd="sng">
            <a:noFill/>
            <a:prstDash val="solid"/>
            <a:round/>
          </a:ln>
        </p:spPr>
        <p:txBody>
          <a:bodyPr vert="horz" wrap="square" lIns="0" tIns="0" rIns="0" bIns="0" rtlCol="0" anchor="ctr" anchorCtr="0"/>
          <a:lstStyle/>
          <a:p>
            <a:r>
              <a:rPr lang="en-US" sz="820" b="0" i="0" u="none" strike="noStrike" dirty="0">
                <a:solidFill>
                  <a:srgbClr val="2563EB"/>
                </a:solidFill>
                <a:latin typeface="Liberation Sans"/>
                <a:ea typeface="Liberation Sans"/>
                <a:cs typeface="Liberation Sans"/>
                <a:sym typeface="Liberation Sans"/>
              </a:rPr>
              <a:t>Under-confident: 0.783 conf vs 0.908 acc</a:t>
            </a:r>
          </a:p>
        </p:txBody>
      </p:sp>
      <p:cxnSp>
        <p:nvCxnSpPr>
          <p:cNvPr id="15" name="Connector 15"/>
          <p:cNvCxnSpPr/>
          <p:nvPr/>
        </p:nvCxnSpPr>
        <p:spPr>
          <a:xfrm rot="-6250">
            <a:off x="4580088" y="2597150"/>
            <a:ext cx="698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4580082" y="28575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0582" y="3111500"/>
            <a:ext cx="355600" cy="355600"/>
          </a:xfrm>
          <a:prstGeom prst="rect">
            <a:avLst/>
          </a:prstGeom>
        </p:spPr>
      </p:pic>
      <p:sp>
        <p:nvSpPr>
          <p:cNvPr id="18" name="AutoShape 18"/>
          <p:cNvSpPr/>
          <p:nvPr/>
        </p:nvSpPr>
        <p:spPr>
          <a:xfrm>
            <a:off x="5278582" y="2946400"/>
            <a:ext cx="6223000" cy="762000"/>
          </a:xfrm>
          <a:prstGeom prst="rect">
            <a:avLst/>
          </a:prstGeom>
          <a:noFill/>
          <a:ln w="12700" cap="flat" cmpd="sng">
            <a:noFill/>
            <a:prstDash val="solid"/>
            <a:round/>
          </a:ln>
        </p:spPr>
        <p:txBody>
          <a:bodyPr vert="horz" wrap="square" lIns="0" tIns="0" rIns="0" bIns="0" rtlCol="0" anchor="ctr" anchorCtr="0"/>
          <a:lstStyle/>
          <a:p>
            <a:r>
              <a:rPr lang="en-US" sz="950" b="1" i="0" u="none" strike="noStrike" dirty="0">
                <a:solidFill>
                  <a:srgbClr val="374151"/>
                </a:solidFill>
                <a:latin typeface="Liberation Sans"/>
                <a:ea typeface="Liberation Sans"/>
                <a:cs typeface="Liberation Sans"/>
                <a:sym typeface="Liberation Sans"/>
              </a:rPr>
              <a:t>Calibration: </a:t>
            </a:r>
            <a:r>
              <a:rPr lang="en-US" sz="950" b="0" i="0" u="none" strike="noStrike" dirty="0">
                <a:solidFill>
                  <a:srgbClr val="374151"/>
                </a:solidFill>
                <a:latin typeface="Liberation Sans"/>
                <a:ea typeface="Liberation Sans"/>
                <a:cs typeface="Liberation Sans"/>
                <a:sym typeface="Liberation Sans"/>
              </a:rPr>
              <a:t>RF is under-confident (ECE=0.125; mean top-label confidence=0.783 vs accuracy=0.908). HGB is best calibrated (ECE=0.041), while Platt scaling reduces RF Brier 0.024→0.021.</a:t>
            </a:r>
          </a:p>
          <a:p>
            <a:r>
              <a:rPr lang="en-US" sz="880" b="1" i="0" u="none" strike="noStrike" dirty="0">
                <a:solidFill>
                  <a:srgbClr val="475569"/>
                </a:solidFill>
                <a:latin typeface="Liberation Sans"/>
                <a:ea typeface="Liberation Sans"/>
                <a:cs typeface="Liberation Sans"/>
                <a:sym typeface="Liberation Sans"/>
              </a:rPr>
              <a:t>McNemar: </a:t>
            </a:r>
            <a:r>
              <a:rPr lang="en-US" sz="880" b="0" i="0" u="none" strike="noStrike" dirty="0">
                <a:solidFill>
                  <a:srgbClr val="475569"/>
                </a:solidFill>
                <a:latin typeface="Liberation Sans"/>
                <a:ea typeface="Liberation Sans"/>
                <a:cs typeface="Liberation Sans"/>
                <a:sym typeface="Liberation Sans"/>
              </a:rPr>
              <a:t>χ²=41.5, p&lt;0.001 indicates different per-sample error patterns—not a direct macro-F1 significance test.</a:t>
            </a:r>
          </a:p>
        </p:txBody>
      </p:sp>
      <p:sp>
        <p:nvSpPr>
          <p:cNvPr id="19" name="AutoShape 19"/>
          <p:cNvSpPr/>
          <p:nvPr/>
        </p:nvSpPr>
        <p:spPr>
          <a:xfrm>
            <a:off x="4580082" y="38354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70582" y="4089400"/>
            <a:ext cx="355600" cy="355600"/>
          </a:xfrm>
          <a:prstGeom prst="rect">
            <a:avLst/>
          </a:prstGeom>
        </p:spPr>
      </p:pic>
      <p:sp>
        <p:nvSpPr>
          <p:cNvPr id="21" name="AutoShape 21"/>
          <p:cNvSpPr/>
          <p:nvPr/>
        </p:nvSpPr>
        <p:spPr>
          <a:xfrm>
            <a:off x="5278582" y="3924300"/>
            <a:ext cx="6223000" cy="762000"/>
          </a:xfrm>
          <a:prstGeom prst="rect">
            <a:avLst/>
          </a:prstGeom>
          <a:noFill/>
          <a:ln w="12700" cap="flat" cmpd="sng">
            <a:noFill/>
            <a:prstDash val="solid"/>
            <a:round/>
          </a:ln>
        </p:spPr>
        <p:txBody>
          <a:bodyPr vert="horz" wrap="square" lIns="0" tIns="0" rIns="0" bIns="0" rtlCol="0" anchor="ctr" anchorCtr="0"/>
          <a:lstStyle/>
          <a:p>
            <a:r>
              <a:rPr lang="en-US" sz="980" b="1" i="0" u="none" strike="noStrike" dirty="0">
                <a:solidFill>
                  <a:srgbClr val="374151"/>
                </a:solidFill>
                <a:latin typeface="Liberation Sans"/>
                <a:ea typeface="Liberation Sans"/>
                <a:cs typeface="Liberation Sans"/>
                <a:sym typeface="Liberation Sans"/>
              </a:rPr>
              <a:t>Robustness range: </a:t>
            </a:r>
            <a:r>
              <a:rPr lang="en-US" sz="980" b="0" i="0" u="none" strike="noStrike" dirty="0">
                <a:solidFill>
                  <a:srgbClr val="374151"/>
                </a:solidFill>
                <a:latin typeface="Liberation Sans"/>
                <a:ea typeface="Liberation Sans"/>
                <a:cs typeface="Liberation Sans"/>
                <a:sym typeface="Liberation Sans"/>
              </a:rPr>
              <a:t>elevation-band accuracy 0.863–0.958 and macro-F1 0.684–0.900; the most diverse band is hardest. Cache la Poudre has macro-F1=0.716.</a:t>
            </a:r>
          </a:p>
        </p:txBody>
      </p:sp>
      <p:sp>
        <p:nvSpPr>
          <p:cNvPr id="22" name="AutoShape 22"/>
          <p:cNvSpPr/>
          <p:nvPr/>
        </p:nvSpPr>
        <p:spPr>
          <a:xfrm>
            <a:off x="4580082" y="48133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582" y="5067300"/>
            <a:ext cx="355600" cy="355600"/>
          </a:xfrm>
          <a:prstGeom prst="rect">
            <a:avLst/>
          </a:prstGeom>
        </p:spPr>
      </p:pic>
      <p:sp>
        <p:nvSpPr>
          <p:cNvPr id="24" name="AutoShape 24"/>
          <p:cNvSpPr/>
          <p:nvPr/>
        </p:nvSpPr>
        <p:spPr>
          <a:xfrm>
            <a:off x="5278582" y="4902200"/>
            <a:ext cx="6223000" cy="762000"/>
          </a:xfrm>
          <a:prstGeom prst="rect">
            <a:avLst/>
          </a:prstGeom>
          <a:noFill/>
          <a:ln w="12700" cap="flat" cmpd="sng">
            <a:noFill/>
            <a:prstDash val="solid"/>
            <a:round/>
          </a:ln>
        </p:spPr>
        <p:txBody>
          <a:bodyPr vert="horz" wrap="square" lIns="0" tIns="0" rIns="0" bIns="0" rtlCol="0" anchor="ctr" anchorCtr="0"/>
          <a:lstStyle/>
          <a:p>
            <a:r>
              <a:rPr lang="en-US" sz="1020" b="1" i="0" u="none" strike="noStrike" dirty="0">
                <a:solidFill>
                  <a:srgbClr val="374151"/>
                </a:solidFill>
                <a:latin typeface="Liberation Sans"/>
                <a:ea typeface="Liberation Sans"/>
                <a:cs typeface="Liberation Sans"/>
                <a:sym typeface="Liberation Sans"/>
              </a:rPr>
              <a:t>Confidence separates many errors: </a:t>
            </a:r>
            <a:r>
              <a:rPr lang="en-US" sz="1020" b="0" i="0" u="none" strike="noStrike" dirty="0">
                <a:solidFill>
                  <a:srgbClr val="374151"/>
                </a:solidFill>
                <a:latin typeface="Liberation Sans"/>
                <a:ea typeface="Liberation Sans"/>
                <a:cs typeface="Liberation Sans"/>
                <a:sym typeface="Liberation Sans"/>
              </a:rPr>
              <a:t>correct predictions average 0.811 confidence; incorrect predictions average 0.586.</a:t>
            </a:r>
          </a:p>
        </p:txBody>
      </p:sp>
      <p:pic>
        <p:nvPicPr>
          <p:cNvPr id="25" name="图片 24">
            <a:extLst>
              <a:ext uri="{FF2B5EF4-FFF2-40B4-BE49-F238E27FC236}">
                <a16:creationId xmlns:a16="http://schemas.microsoft.com/office/drawing/2014/main" id="{8849A1CA-4F16-AE2D-3AE9-331E6F04AE98}"/>
              </a:ext>
            </a:extLst>
          </p:cNvPr>
          <p:cNvPicPr>
            <a:picLocks noChangeAspect="1"/>
          </p:cNvPicPr>
          <p:nvPr/>
        </p:nvPicPr>
        <p:blipFill>
          <a:blip r:embed="rId7"/>
          <a:stretch>
            <a:fillRect/>
          </a:stretch>
        </p:blipFill>
        <p:spPr>
          <a:xfrm>
            <a:off x="365760" y="3685107"/>
            <a:ext cx="3977640" cy="1581762"/>
          </a:xfrm>
          <a:prstGeom prst="rect">
            <a:avLst/>
          </a:prstGeom>
        </p:spPr>
      </p:pic>
      <p:sp>
        <p:nvSpPr>
          <p:cNvPr id="26" name="HGB ECE card"/>
          <p:cNvSpPr/>
          <p:nvPr/>
        </p:nvSpPr>
        <p:spPr>
          <a:xfrm>
            <a:off x="9079992" y="1014984"/>
            <a:ext cx="2075688" cy="1271016"/>
          </a:xfrm>
          <a:prstGeom prst="roundRect">
            <a:avLst>
              <a:gd name="adj" fmla="val 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5" name="HGB ECE title"/>
          <p:cNvSpPr/>
          <p:nvPr/>
        </p:nvSpPr>
        <p:spPr>
          <a:xfrm>
            <a:off x="9235440" y="1124712"/>
            <a:ext cx="1764792" cy="292608"/>
          </a:xfrm>
          <a:prstGeom prst="rect">
            <a:avLst/>
          </a:prstGeom>
          <a:noFill/>
          <a:ln w="12700" cap="flat" cmpd="sng">
            <a:noFill/>
            <a:prstDash val="solid"/>
            <a:round/>
          </a:ln>
        </p:spPr>
        <p:txBody>
          <a:bodyPr vert="horz" wrap="square" lIns="0" tIns="0" rIns="0" bIns="0" rtlCol="0" anchor="ctr" anchorCtr="0"/>
          <a:lstStyle/>
          <a:p>
            <a:r>
              <a:rPr lang="en-US" sz="1300" b="1" i="0" u="none" strike="noStrike" dirty="0">
                <a:solidFill>
                  <a:srgbClr val="059669"/>
                </a:solidFill>
                <a:latin typeface="Liberation Sans"/>
                <a:ea typeface="Liberation Sans"/>
                <a:cs typeface="Liberation Sans"/>
                <a:sym typeface="Liberation Sans"/>
              </a:rPr>
              <a:t>HGB ECE</a:t>
            </a:r>
          </a:p>
        </p:txBody>
      </p:sp>
      <p:sp>
        <p:nvSpPr>
          <p:cNvPr id="27" name="HGB ECE value"/>
          <p:cNvSpPr/>
          <p:nvPr/>
        </p:nvSpPr>
        <p:spPr>
          <a:xfrm>
            <a:off x="9235440" y="1371600"/>
            <a:ext cx="1764792" cy="384048"/>
          </a:xfrm>
          <a:prstGeom prst="rect">
            <a:avLst/>
          </a:prstGeom>
          <a:noFill/>
          <a:ln w="12700" cap="flat" cmpd="sng">
            <a:noFill/>
            <a:prstDash val="solid"/>
            <a:round/>
          </a:ln>
        </p:spPr>
        <p:txBody>
          <a:bodyPr vert="horz" wrap="square" lIns="0" tIns="0" rIns="0" bIns="0" rtlCol="0" anchor="ctr" anchorCtr="0"/>
          <a:lstStyle/>
          <a:p>
            <a:r>
              <a:rPr lang="en-US" sz="2200" b="1" i="0" u="none" strike="noStrike" dirty="0">
                <a:solidFill>
                  <a:srgbClr val="059669"/>
                </a:solidFill>
                <a:latin typeface="Liberation Sans"/>
                <a:ea typeface="Liberation Sans"/>
                <a:cs typeface="Liberation Sans"/>
                <a:sym typeface="Liberation Sans"/>
              </a:rPr>
              <a:t>0.041</a:t>
            </a:r>
          </a:p>
        </p:txBody>
      </p:sp>
      <p:sp>
        <p:nvSpPr>
          <p:cNvPr id="28" name="HGB ECE detail"/>
          <p:cNvSpPr/>
          <p:nvPr/>
        </p:nvSpPr>
        <p:spPr>
          <a:xfrm>
            <a:off x="9235440" y="1874520"/>
            <a:ext cx="1764792" cy="274320"/>
          </a:xfrm>
          <a:prstGeom prst="rect">
            <a:avLst/>
          </a:prstGeom>
          <a:noFill/>
          <a:ln w="12700" cap="flat" cmpd="sng">
            <a:noFill/>
            <a:prstDash val="solid"/>
            <a:round/>
          </a:ln>
        </p:spPr>
        <p:txBody>
          <a:bodyPr vert="horz" wrap="square" lIns="0" tIns="0" rIns="0" bIns="0" rtlCol="0" anchor="ctr" anchorCtr="0"/>
          <a:lstStyle/>
          <a:p>
            <a:r>
              <a:rPr lang="en-US" sz="850" b="0" i="0" u="none" strike="noStrike" dirty="0">
                <a:solidFill>
                  <a:srgbClr val="059669"/>
                </a:solidFill>
                <a:latin typeface="Liberation Sans"/>
                <a:ea typeface="Liberation Sans"/>
                <a:cs typeface="Liberation Sans"/>
                <a:sym typeface="Liberation Sans"/>
              </a:rPr>
              <a:t>Best calibrated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502920" y="164592"/>
            <a:ext cx="11155680" cy="640080"/>
          </a:xfrm>
          <a:prstGeom prst="rect">
            <a:avLst/>
          </a:prstGeom>
          <a:noFill/>
          <a:ln w="12700" cap="flat" cmpd="sng">
            <a:noFill/>
            <a:prstDash val="solid"/>
            <a:round/>
          </a:ln>
        </p:spPr>
        <p:txBody>
          <a:bodyPr vert="horz" wrap="square" lIns="0" tIns="0" rIns="0" bIns="0" rtlCol="0" anchor="ctr" anchorCtr="0"/>
          <a:lstStyle/>
          <a:p>
            <a:pPr algn="ctr"/>
            <a:r>
              <a:rPr lang="en-US" sz="2800" b="1" i="0" u="none" strike="noStrike" dirty="0">
                <a:solidFill>
                  <a:srgbClr val="111827"/>
                </a:solidFill>
                <a:latin typeface="Liberation Sans"/>
                <a:ea typeface="Liberation Sans"/>
                <a:cs typeface="Liberation Sans"/>
                <a:sym typeface="Liberation Sans"/>
              </a:rPr>
              <a:t>Robustness and Subgroup Analysis</a:t>
            </a:r>
          </a:p>
        </p:txBody>
      </p:sp>
      <p:pic>
        <p:nvPicPr>
          <p:cNvPr id="5" name="elevation_robustness"/>
          <p:cNvPicPr>
            <a:picLocks noChangeAspect="1"/>
          </p:cNvPicPr>
          <p:nvPr/>
        </p:nvPicPr>
        <p:blipFill>
          <a:blip r:embed="rId3"/>
          <a:srcRect/>
          <a:stretch>
            <a:fillRect/>
          </a:stretch>
        </p:blipFill>
        <p:spPr>
          <a:xfrm>
            <a:off x="411480" y="1009017"/>
            <a:ext cx="3657600" cy="2142486"/>
          </a:xfrm>
          <a:prstGeom prst="rect">
            <a:avLst/>
          </a:prstGeom>
          <a:noFill/>
          <a:ln w="12700" cap="flat" cmpd="sng">
            <a:solidFill>
              <a:srgbClr val="E2E8F0">
                <a:alpha val="100000"/>
              </a:srgbClr>
            </a:solidFill>
            <a:prstDash val="solid"/>
            <a:round/>
          </a:ln>
        </p:spPr>
      </p:pic>
      <p:pic>
        <p:nvPicPr>
          <p:cNvPr id="6" name="class_recall"/>
          <p:cNvPicPr>
            <a:picLocks noChangeAspect="1"/>
          </p:cNvPicPr>
          <p:nvPr/>
        </p:nvPicPr>
        <p:blipFill>
          <a:blip r:embed="rId4"/>
          <a:srcRect/>
          <a:stretch>
            <a:fillRect/>
          </a:stretch>
        </p:blipFill>
        <p:spPr>
          <a:xfrm>
            <a:off x="4270248" y="1176163"/>
            <a:ext cx="3657600" cy="1808194"/>
          </a:xfrm>
          <a:prstGeom prst="rect">
            <a:avLst/>
          </a:prstGeom>
          <a:noFill/>
          <a:ln w="12700" cap="flat" cmpd="sng">
            <a:solidFill>
              <a:srgbClr val="E2E8F0">
                <a:alpha val="100000"/>
              </a:srgbClr>
            </a:solidFill>
            <a:prstDash val="solid"/>
            <a:round/>
          </a:ln>
        </p:spPr>
      </p:pic>
      <p:pic>
        <p:nvPicPr>
          <p:cNvPr id="7" name="wilderness_metrics"/>
          <p:cNvPicPr>
            <a:picLocks noChangeAspect="1"/>
          </p:cNvPicPr>
          <p:nvPr/>
        </p:nvPicPr>
        <p:blipFill>
          <a:blip r:embed="rId5"/>
          <a:srcRect/>
          <a:stretch>
            <a:fillRect/>
          </a:stretch>
        </p:blipFill>
        <p:spPr>
          <a:xfrm>
            <a:off x="8129016" y="992899"/>
            <a:ext cx="3657600" cy="2174722"/>
          </a:xfrm>
          <a:prstGeom prst="rect">
            <a:avLst/>
          </a:prstGeom>
          <a:noFill/>
          <a:ln w="12700" cap="flat" cmpd="sng">
            <a:solidFill>
              <a:srgbClr val="E2E8F0">
                <a:alpha val="100000"/>
              </a:srgbClr>
            </a:solidFill>
            <a:prstDash val="solid"/>
            <a:round/>
          </a:ln>
        </p:spPr>
      </p:pic>
      <p:sp>
        <p:nvSpPr>
          <p:cNvPr id="8" name="Terrain Bands card"/>
          <p:cNvSpPr/>
          <p:nvPr/>
        </p:nvSpPr>
        <p:spPr>
          <a:xfrm>
            <a:off x="411480" y="3520440"/>
            <a:ext cx="3657600" cy="2331720"/>
          </a:xfrm>
          <a:prstGeom prst="roundRect">
            <a:avLst>
              <a:gd name="adj" fmla="val 0"/>
            </a:avLst>
          </a:prstGeom>
          <a:solidFill>
            <a:srgbClr val="EFF6FF">
              <a:alpha val="100000"/>
            </a:srgbClr>
          </a:solidFill>
          <a:ln w="12700" cap="flat" cmpd="sng">
            <a:solidFill>
              <a:srgbClr val="93C5FD">
                <a:alpha val="100000"/>
              </a:srgbClr>
            </a:solidFill>
            <a:prstDash val="solid"/>
            <a:round/>
          </a:ln>
        </p:spPr>
        <p:txBody>
          <a:bodyPr vert="horz" wrap="square" lIns="63500" tIns="63500" rIns="63500" bIns="63500" rtlCol="0" anchor="ctr"/>
          <a:lstStyle/>
          <a:p>
            <a:pPr algn="ctr">
              <a:defRPr/>
            </a:pPr>
            <a:endParaRPr/>
          </a:p>
        </p:txBody>
      </p:sp>
      <p:sp>
        <p:nvSpPr>
          <p:cNvPr id="2" name="Terrain Bands text"/>
          <p:cNvSpPr/>
          <p:nvPr/>
        </p:nvSpPr>
        <p:spPr>
          <a:xfrm>
            <a:off x="576072" y="3685032"/>
            <a:ext cx="3328416" cy="203911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300" b="1" i="0" u="none" strike="noStrike" dirty="0">
                <a:solidFill>
                  <a:srgbClr val="1D4ED8"/>
                </a:solidFill>
                <a:latin typeface="Liberation Sans"/>
                <a:ea typeface="Liberation Sans"/>
                <a:cs typeface="Liberation Sans"/>
                <a:sym typeface="Liberation Sans"/>
              </a:rPr>
              <a:t>Terrain Bands</a:t>
            </a:r>
          </a:p>
          <a:p>
            <a:r>
              <a:rPr lang="en-US" sz="1020" b="0" i="0" u="none" strike="noStrike" dirty="0">
                <a:solidFill>
                  <a:srgbClr val="475569"/>
                </a:solidFill>
                <a:latin typeface="Liberation Sans"/>
                <a:ea typeface="Liberation Sans"/>
                <a:cs typeface="Liberation Sans"/>
                <a:sym typeface="Liberation Sans"/>
              </a:rPr>
              <a:t>Accuracy ranges 0.863–0.958 and macro-F1 0.684–0.900. The most ecologically diverse elevation band is hardest; high-elevation Krummholz regions are easier.</a:t>
            </a:r>
          </a:p>
        </p:txBody>
      </p:sp>
      <p:sp>
        <p:nvSpPr>
          <p:cNvPr id="9" name="Class-Level Recall card"/>
          <p:cNvSpPr/>
          <p:nvPr/>
        </p:nvSpPr>
        <p:spPr>
          <a:xfrm>
            <a:off x="4270248" y="3520440"/>
            <a:ext cx="3657600" cy="2331720"/>
          </a:xfrm>
          <a:prstGeom prst="roundRect">
            <a:avLst>
              <a:gd name="adj" fmla="val 0"/>
            </a:avLst>
          </a:prstGeom>
          <a:solidFill>
            <a:srgbClr val="ECFDF5">
              <a:alpha val="100000"/>
            </a:srgbClr>
          </a:solidFill>
          <a:ln w="12700" cap="flat" cmpd="sng">
            <a:solidFill>
              <a:srgbClr val="6EE7B7">
                <a:alpha val="100000"/>
              </a:srgbClr>
            </a:solidFill>
            <a:prstDash val="solid"/>
            <a:round/>
          </a:ln>
        </p:spPr>
        <p:txBody>
          <a:bodyPr vert="horz" wrap="square" lIns="63500" tIns="63500" rIns="63500" bIns="63500" rtlCol="0" anchor="ctr"/>
          <a:lstStyle/>
          <a:p>
            <a:pPr algn="ctr">
              <a:defRPr/>
            </a:pPr>
            <a:endParaRPr/>
          </a:p>
        </p:txBody>
      </p:sp>
      <p:sp>
        <p:nvSpPr>
          <p:cNvPr id="3" name="Class-Level Recall text"/>
          <p:cNvSpPr/>
          <p:nvPr/>
        </p:nvSpPr>
        <p:spPr>
          <a:xfrm>
            <a:off x="4434840" y="3685032"/>
            <a:ext cx="3328416" cy="203911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300" b="1" i="0" u="none" strike="noStrike" dirty="0">
                <a:solidFill>
                  <a:srgbClr val="047857"/>
                </a:solidFill>
                <a:latin typeface="Liberation Sans"/>
                <a:ea typeface="Liberation Sans"/>
                <a:cs typeface="Liberation Sans"/>
                <a:sym typeface="Liberation Sans"/>
              </a:rPr>
              <a:t>Class-Level Recall</a:t>
            </a:r>
          </a:p>
          <a:p>
            <a:r>
              <a:rPr lang="en-US" sz="1020" b="0" i="0" u="none" strike="noStrike" dirty="0">
                <a:solidFill>
                  <a:srgbClr val="475569"/>
                </a:solidFill>
                <a:latin typeface="Liberation Sans"/>
                <a:ea typeface="Liberation Sans"/>
                <a:cs typeface="Liberation Sans"/>
                <a:sym typeface="Liberation Sans"/>
              </a:rPr>
              <a:t>Lodgepole Pine is lowest at 0.817, followed by Spruce/Fir at 0.842. Aspen, Douglas-fir, and Krummholz each exceed 0.94 recall.</a:t>
            </a:r>
          </a:p>
        </p:txBody>
      </p:sp>
      <p:sp>
        <p:nvSpPr>
          <p:cNvPr id="10" name="Wilderness Areas card"/>
          <p:cNvSpPr/>
          <p:nvPr/>
        </p:nvSpPr>
        <p:spPr>
          <a:xfrm>
            <a:off x="8129016" y="3520440"/>
            <a:ext cx="3657600" cy="2331720"/>
          </a:xfrm>
          <a:prstGeom prst="roundRect">
            <a:avLst>
              <a:gd name="adj" fmla="val 0"/>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endParaRPr/>
          </a:p>
        </p:txBody>
      </p:sp>
      <p:sp>
        <p:nvSpPr>
          <p:cNvPr id="11" name="Wilderness Areas text"/>
          <p:cNvSpPr/>
          <p:nvPr/>
        </p:nvSpPr>
        <p:spPr>
          <a:xfrm>
            <a:off x="8293608" y="3685032"/>
            <a:ext cx="3328416" cy="2039112"/>
          </a:xfrm>
          <a:prstGeom prst="rect">
            <a:avLst/>
          </a:prstGeom>
          <a:noFill/>
          <a:ln w="12700" cap="flat" cmpd="sng">
            <a:noFill/>
            <a:prstDash val="solid"/>
            <a:round/>
          </a:ln>
        </p:spPr>
        <p:txBody>
          <a:bodyPr vert="horz" wrap="square" lIns="22000" tIns="22000" rIns="22000" bIns="22000" rtlCol="0" anchor="ctr" anchorCtr="0"/>
          <a:lstStyle/>
          <a:p>
            <a:pPr>
              <a:spcAft>
                <a:spcPts val="200"/>
              </a:spcAft>
            </a:pPr>
            <a:r>
              <a:rPr lang="en-US" sz="1300" b="1" i="0" u="none" strike="noStrike" dirty="0">
                <a:solidFill>
                  <a:srgbClr val="C2410C"/>
                </a:solidFill>
                <a:latin typeface="Liberation Sans"/>
                <a:ea typeface="Liberation Sans"/>
                <a:cs typeface="Liberation Sans"/>
                <a:sym typeface="Liberation Sans"/>
              </a:rPr>
              <a:t>Wilderness Areas</a:t>
            </a:r>
          </a:p>
          <a:p>
            <a:r>
              <a:rPr lang="en-US" sz="1020" b="0" i="0" u="none" strike="noStrike" dirty="0">
                <a:solidFill>
                  <a:srgbClr val="475569"/>
                </a:solidFill>
                <a:latin typeface="Liberation Sans"/>
                <a:ea typeface="Liberation Sans"/>
                <a:cs typeface="Liberation Sans"/>
                <a:sym typeface="Liberation Sans"/>
              </a:rPr>
              <a:t>Macro-F1: Rawah 0.906, Neota 0.866, Comanche Peak 0.910, Cache la Poudre 0.716. Geographic composition drives concentrated error patterns.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651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rgbClr val="1F2937"/>
                </a:solidFill>
                <a:latin typeface="Liberation Sans"/>
                <a:ea typeface="Liberation Sans"/>
                <a:cs typeface="Liberation Sans"/>
                <a:sym typeface="Liberation Sans"/>
              </a:rPr>
              <a:t>0</a:t>
            </a:r>
            <a:r>
              <a:rPr lang="en-US" altLang="zh-CN" sz="2600" b="1" i="0" u="none" strike="noStrike" dirty="0">
                <a:solidFill>
                  <a:srgbClr val="1F2937"/>
                </a:solidFill>
                <a:latin typeface="Liberation Sans"/>
                <a:ea typeface="Liberation Sans"/>
                <a:cs typeface="Liberation Sans"/>
                <a:sym typeface="Liberation Sans"/>
              </a:rPr>
              <a:t>7</a:t>
            </a:r>
            <a:r>
              <a:rPr lang="en-US" sz="2600" b="1" i="0" u="none" strike="noStrike" dirty="0">
                <a:solidFill>
                  <a:srgbClr val="1F2937"/>
                </a:solidFill>
                <a:latin typeface="Liberation Sans"/>
                <a:ea typeface="Liberation Sans"/>
                <a:cs typeface="Liberation Sans"/>
                <a:sym typeface="Liberation Sans"/>
              </a:rPr>
              <a:t> Conclusion and Future Outlook</a:t>
            </a:r>
            <a:endParaRPr lang="en-US" sz="1100" dirty="0"/>
          </a:p>
        </p:txBody>
      </p:sp>
      <p:sp>
        <p:nvSpPr>
          <p:cNvPr id="4" name="AutoShape 4"/>
          <p:cNvSpPr/>
          <p:nvPr/>
        </p:nvSpPr>
        <p:spPr>
          <a:xfrm>
            <a:off x="761999" y="1143000"/>
            <a:ext cx="10477501" cy="2730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23825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Liberation Sans"/>
                <a:ea typeface="Liberation Sans"/>
                <a:cs typeface="Liberation Sans"/>
                <a:sym typeface="Liberation Sans"/>
              </a:rPr>
              <a:t>Key Conclusions</a:t>
            </a:r>
            <a:endParaRPr lang="en-US" sz="1100" dirty="0"/>
          </a:p>
        </p:txBody>
      </p:sp>
      <p:sp>
        <p:nvSpPr>
          <p:cNvPr id="6" name="AutoShape 6"/>
          <p:cNvSpPr/>
          <p:nvPr/>
        </p:nvSpPr>
        <p:spPr>
          <a:xfrm>
            <a:off x="952500" y="180340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657" y="1974850"/>
            <a:ext cx="279400" cy="279400"/>
          </a:xfrm>
          <a:prstGeom prst="rect">
            <a:avLst/>
          </a:prstGeom>
        </p:spPr>
      </p:pic>
      <p:sp>
        <p:nvSpPr>
          <p:cNvPr id="8" name="AutoShape 8"/>
          <p:cNvSpPr/>
          <p:nvPr/>
        </p:nvSpPr>
        <p:spPr>
          <a:xfrm>
            <a:off x="1340757" y="1936750"/>
            <a:ext cx="4508500" cy="8255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200" b="1" i="0" u="none" strike="noStrike" dirty="0">
                <a:solidFill>
                  <a:srgbClr val="1F2937"/>
                </a:solidFill>
                <a:latin typeface="Liberation Sans"/>
                <a:ea typeface="Liberation Sans"/>
                <a:cs typeface="Liberation Sans"/>
                <a:sym typeface="Liberation Sans"/>
              </a:rPr>
              <a:t>Best Predictive Model</a:t>
            </a:r>
          </a:p>
          <a:p>
            <a:r>
              <a:rPr lang="en-US" sz="860" b="0" i="0" u="none" strike="noStrike" dirty="0">
                <a:solidFill>
                  <a:srgbClr val="475569"/>
                </a:solidFill>
                <a:latin typeface="Liberation Sans"/>
                <a:ea typeface="Liberation Sans"/>
                <a:cs typeface="Liberation Sans"/>
                <a:sym typeface="Liberation Sans"/>
              </a:rPr>
              <a:t>Random Forest: accuracy=0.908, macro-F1=0.908, macro AUC=0.992. Its 0.010 F1 lead over HGB is stable but practically small.</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1657" y="2927350"/>
            <a:ext cx="279400" cy="279400"/>
          </a:xfrm>
          <a:prstGeom prst="rect">
            <a:avLst/>
          </a:prstGeom>
        </p:spPr>
      </p:pic>
      <p:sp>
        <p:nvSpPr>
          <p:cNvPr id="10" name="AutoShape 10"/>
          <p:cNvSpPr/>
          <p:nvPr/>
        </p:nvSpPr>
        <p:spPr>
          <a:xfrm>
            <a:off x="1340757" y="2889250"/>
            <a:ext cx="4508500" cy="8255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200" b="1" i="0" u="none" strike="noStrike">
                <a:solidFill>
                  <a:srgbClr val="1F2937"/>
                </a:solidFill>
                <a:latin typeface="Liberation Sans"/>
                <a:ea typeface="Liberation Sans"/>
                <a:cs typeface="Liberation Sans"/>
                <a:sym typeface="Liberation Sans"/>
              </a:rPr>
              <a:t>Natural Clusters ≠ Ecological Labels</a:t>
            </a:r>
          </a:p>
          <a:p>
            <a:r>
              <a:rPr lang="en-US" sz="860" b="0" i="0" u="none" strike="noStrike">
                <a:solidFill>
                  <a:srgbClr val="475569"/>
                </a:solidFill>
                <a:latin typeface="Liberation Sans"/>
                <a:ea typeface="Liberation Sans"/>
                <a:cs typeface="Liberation Sans"/>
                <a:sym typeface="Liberation Sans"/>
              </a:rPr>
              <a:t>K-Means ARI=0.075, Ward ARI=0.103; Gower improves Ward to 0.215 but remains far below supervised performance.</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9320" y="1993392"/>
            <a:ext cx="279400" cy="279400"/>
          </a:xfrm>
          <a:prstGeom prst="rect">
            <a:avLst/>
          </a:prstGeom>
        </p:spPr>
      </p:pic>
      <p:sp>
        <p:nvSpPr>
          <p:cNvPr id="12" name="AutoShape 12"/>
          <p:cNvSpPr/>
          <p:nvPr/>
        </p:nvSpPr>
        <p:spPr>
          <a:xfrm>
            <a:off x="6409944" y="1901952"/>
            <a:ext cx="4507992" cy="621792"/>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20" b="1" i="0" u="none" strike="noStrike">
                <a:solidFill>
                  <a:srgbClr val="1F2937"/>
                </a:solidFill>
                <a:latin typeface="Liberation Sans"/>
                <a:ea typeface="Liberation Sans"/>
                <a:cs typeface="Liberation Sans"/>
                <a:sym typeface="Liberation Sans"/>
              </a:rPr>
              <a:t>Topographic Factors Drive Predictions</a:t>
            </a:r>
          </a:p>
          <a:p>
            <a:r>
              <a:rPr lang="en-US" sz="880" b="1" i="0" u="none" strike="noStrike">
                <a:solidFill>
                  <a:srgbClr val="475569"/>
                </a:solidFill>
                <a:latin typeface="Liberation Sans"/>
                <a:ea typeface="Liberation Sans"/>
                <a:cs typeface="Liberation Sans"/>
                <a:sym typeface="Liberation Sans"/>
              </a:rPr>
              <a:t>Elevation is the most critical predictor; topographic features decisively shape classification results.</a:t>
            </a: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9320" y="2688336"/>
            <a:ext cx="279400" cy="279400"/>
          </a:xfrm>
          <a:prstGeom prst="rect">
            <a:avLst/>
          </a:prstGeom>
        </p:spPr>
      </p:pic>
      <p:sp>
        <p:nvSpPr>
          <p:cNvPr id="14" name="AutoShape 14"/>
          <p:cNvSpPr/>
          <p:nvPr/>
        </p:nvSpPr>
        <p:spPr>
          <a:xfrm>
            <a:off x="6409944" y="2596896"/>
            <a:ext cx="4507992" cy="118872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080" b="1" i="0" u="none" strike="noStrike">
                <a:solidFill>
                  <a:srgbClr val="1F2937"/>
                </a:solidFill>
                <a:latin typeface="Liberation Sans"/>
                <a:ea typeface="Liberation Sans"/>
                <a:cs typeface="Liberation Sans"/>
                <a:sym typeface="Liberation Sans"/>
              </a:rPr>
              <a:t>Evidence and Limitations</a:t>
            </a:r>
          </a:p>
          <a:p>
            <a:pPr marL="190500" indent="-127000">
              <a:buChar char="•"/>
            </a:pPr>
            <a:r>
              <a:rPr lang="en-US" sz="760" b="0" i="0" u="none" strike="noStrike">
                <a:solidFill>
                  <a:srgbClr val="475569"/>
                </a:solidFill>
                <a:latin typeface="Liberation Sans"/>
                <a:ea typeface="Liberation Sans"/>
                <a:cs typeface="Liberation Sans"/>
                <a:sym typeface="Liberation Sans"/>
              </a:rPr>
              <a:t>Modeling sample covers ≈17% of 581,012 observations</a:t>
            </a:r>
          </a:p>
          <a:p>
            <a:pPr marL="190500" indent="-127000">
              <a:buChar char="•"/>
            </a:pPr>
            <a:r>
              <a:rPr lang="en-US" sz="760" b="0" i="0" u="none" strike="noStrike">
                <a:solidFill>
                  <a:srgbClr val="475569"/>
                </a:solidFill>
                <a:latin typeface="Liberation Sans"/>
                <a:ea typeface="Liberation Sans"/>
                <a:cs typeface="Liberation Sans"/>
                <a:sym typeface="Liberation Sans"/>
              </a:rPr>
              <a:t>RF–HGB gap is stable under bootstrap, but practically small</a:t>
            </a:r>
          </a:p>
          <a:p>
            <a:pPr marL="190500" indent="-127000">
              <a:buChar char="•"/>
            </a:pPr>
            <a:r>
              <a:rPr lang="en-US" sz="760" b="0" i="0" u="none" strike="noStrike">
                <a:solidFill>
                  <a:srgbClr val="475569"/>
                </a:solidFill>
                <a:latin typeface="Liberation Sans"/>
                <a:ea typeface="Liberation Sans"/>
                <a:cs typeface="Liberation Sans"/>
                <a:sym typeface="Liberation Sans"/>
              </a:rPr>
              <a:t>Grid search degrades all three models; Optuna recovers the DT baseline</a:t>
            </a:r>
          </a:p>
          <a:p>
            <a:pPr marL="190500" indent="-127000">
              <a:buChar char="•"/>
            </a:pPr>
            <a:r>
              <a:rPr lang="en-US" sz="760" b="0" i="0" u="none" strike="noStrike">
                <a:solidFill>
                  <a:srgbClr val="475569"/>
                </a:solidFill>
                <a:latin typeface="Liberation Sans"/>
                <a:ea typeface="Liberation Sans"/>
                <a:cs typeface="Liberation Sans"/>
                <a:sym typeface="Liberation Sans"/>
              </a:rPr>
              <a:t>Reference full-data benchmarks reach roughly 0.95–0.96 accuracy</a:t>
            </a:r>
          </a:p>
          <a:p>
            <a:pPr marL="190500" indent="-127000">
              <a:buChar char="•"/>
            </a:pPr>
            <a:r>
              <a:rPr lang="en-US" sz="760" b="0" i="0" u="none" strike="noStrike">
                <a:solidFill>
                  <a:srgbClr val="475569"/>
                </a:solidFill>
                <a:latin typeface="Liberation Sans"/>
                <a:ea typeface="Liberation Sans"/>
                <a:cs typeface="Liberation Sans"/>
                <a:sym typeface="Liberation Sans"/>
              </a:rPr>
              <a:t>Errors remain concentrated by class, elevation, and wilderness area</a:t>
            </a:r>
          </a:p>
        </p:txBody>
      </p:sp>
      <p:sp>
        <p:nvSpPr>
          <p:cNvPr id="15" name="AutoShape 15"/>
          <p:cNvSpPr/>
          <p:nvPr/>
        </p:nvSpPr>
        <p:spPr>
          <a:xfrm>
            <a:off x="761998" y="4089400"/>
            <a:ext cx="10477501" cy="2603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499" y="41402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Liberation Sans"/>
                <a:ea typeface="Liberation Sans"/>
                <a:cs typeface="Liberation Sans"/>
                <a:sym typeface="Liberation Sans"/>
              </a:rPr>
              <a:t>Future Work Outlook</a:t>
            </a:r>
            <a:endParaRPr lang="en-US" sz="1100" dirty="0"/>
          </a:p>
        </p:txBody>
      </p:sp>
      <p:sp>
        <p:nvSpPr>
          <p:cNvPr id="17" name="AutoShape 17"/>
          <p:cNvSpPr/>
          <p:nvPr/>
        </p:nvSpPr>
        <p:spPr>
          <a:xfrm>
            <a:off x="956128" y="467995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499" y="4908550"/>
            <a:ext cx="279400" cy="279400"/>
          </a:xfrm>
          <a:prstGeom prst="rect">
            <a:avLst/>
          </a:prstGeom>
        </p:spPr>
      </p:pic>
      <p:sp>
        <p:nvSpPr>
          <p:cNvPr id="19" name="AutoShape 19"/>
          <p:cNvSpPr/>
          <p:nvPr/>
        </p:nvSpPr>
        <p:spPr>
          <a:xfrm>
            <a:off x="1371599" y="4870450"/>
            <a:ext cx="4508500" cy="8255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50" b="1" i="0" u="none" strike="noStrike">
                <a:solidFill>
                  <a:srgbClr val="1F2937"/>
                </a:solidFill>
                <a:latin typeface="Liberation Sans"/>
                <a:ea typeface="Liberation Sans"/>
                <a:cs typeface="Liberation Sans"/>
                <a:sym typeface="Liberation Sans"/>
              </a:rPr>
              <a:t>Train on the full dataset</a:t>
            </a:r>
          </a:p>
          <a:p>
            <a:r>
              <a:rPr lang="en-US" sz="850" b="0" i="0" u="none" strike="noStrike">
                <a:solidFill>
                  <a:srgbClr val="475569"/>
                </a:solidFill>
                <a:latin typeface="Liberation Sans"/>
                <a:ea typeface="Liberation Sans"/>
                <a:cs typeface="Liberation Sans"/>
                <a:sym typeface="Liberation Sans"/>
              </a:rPr>
              <a:t>Scale the validated pipeline from the 97,950-row modeling sample to all 581,012 observations and compare with published benchmarks.</a:t>
            </a: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1657" y="5721350"/>
            <a:ext cx="279400" cy="279400"/>
          </a:xfrm>
          <a:prstGeom prst="rect">
            <a:avLst/>
          </a:prstGeom>
        </p:spPr>
      </p:pic>
      <p:sp>
        <p:nvSpPr>
          <p:cNvPr id="21" name="AutoShape 21"/>
          <p:cNvSpPr/>
          <p:nvPr/>
        </p:nvSpPr>
        <p:spPr>
          <a:xfrm>
            <a:off x="1340757" y="5683250"/>
            <a:ext cx="4508500" cy="8255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50" b="1" i="0" u="none" strike="noStrike" dirty="0">
                <a:solidFill>
                  <a:srgbClr val="1F2937"/>
                </a:solidFill>
                <a:latin typeface="Liberation Sans"/>
                <a:ea typeface="Liberation Sans"/>
                <a:cs typeface="Liberation Sans"/>
                <a:sym typeface="Liberation Sans"/>
              </a:rPr>
              <a:t>Tune ensembles with Bayesian search</a:t>
            </a:r>
          </a:p>
          <a:p>
            <a:r>
              <a:rPr lang="en-US" sz="850" b="0" i="0" u="none" strike="noStrike" dirty="0">
                <a:solidFill>
                  <a:srgbClr val="475569"/>
                </a:solidFill>
                <a:latin typeface="Liberation Sans"/>
                <a:ea typeface="Liberation Sans"/>
                <a:cs typeface="Liberation Sans"/>
                <a:sym typeface="Liberation Sans"/>
              </a:rPr>
              <a:t>Extend </a:t>
            </a:r>
            <a:r>
              <a:rPr lang="en-US" sz="850" b="0" i="0" u="none" strike="noStrike" dirty="0" err="1">
                <a:solidFill>
                  <a:srgbClr val="475569"/>
                </a:solidFill>
                <a:latin typeface="Liberation Sans"/>
                <a:ea typeface="Liberation Sans"/>
                <a:cs typeface="Liberation Sans"/>
                <a:sym typeface="Liberation Sans"/>
              </a:rPr>
              <a:t>Optuna</a:t>
            </a:r>
            <a:r>
              <a:rPr lang="en-US" sz="850" b="0" i="0" u="none" strike="noStrike" dirty="0">
                <a:solidFill>
                  <a:srgbClr val="475569"/>
                </a:solidFill>
                <a:latin typeface="Liberation Sans"/>
                <a:ea typeface="Liberation Sans"/>
                <a:cs typeface="Liberation Sans"/>
                <a:sym typeface="Liberation Sans"/>
              </a:rPr>
              <a:t> from Decision Tree to Random Forest and HGB, using nested validation and early pruning.</a:t>
            </a: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78499" y="4946650"/>
            <a:ext cx="279400" cy="279400"/>
          </a:xfrm>
          <a:prstGeom prst="rect">
            <a:avLst/>
          </a:prstGeom>
        </p:spPr>
      </p:pic>
      <p:sp>
        <p:nvSpPr>
          <p:cNvPr id="23" name="AutoShape 23"/>
          <p:cNvSpPr/>
          <p:nvPr/>
        </p:nvSpPr>
        <p:spPr>
          <a:xfrm>
            <a:off x="6197599" y="4908550"/>
            <a:ext cx="4508500" cy="8255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50" b="1" i="0" u="none" strike="noStrike">
                <a:solidFill>
                  <a:srgbClr val="1F2937"/>
                </a:solidFill>
                <a:latin typeface="Liberation Sans"/>
                <a:ea typeface="Liberation Sans"/>
                <a:cs typeface="Liberation Sans"/>
                <a:sym typeface="Liberation Sans"/>
              </a:rPr>
              <a:t>Calibrate and abstain</a:t>
            </a:r>
          </a:p>
          <a:p>
            <a:r>
              <a:rPr lang="en-US" sz="850" b="0" i="0" u="none" strike="noStrike">
                <a:solidFill>
                  <a:srgbClr val="475569"/>
                </a:solidFill>
                <a:latin typeface="Liberation Sans"/>
                <a:ea typeface="Liberation Sans"/>
                <a:cs typeface="Liberation Sans"/>
                <a:sym typeface="Liberation Sans"/>
              </a:rPr>
              <a:t>Evaluate calibrated probabilities and confidence-based abstention when uncertain predictions require review.</a:t>
            </a: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78499" y="5683250"/>
            <a:ext cx="279400" cy="279400"/>
          </a:xfrm>
          <a:prstGeom prst="rect">
            <a:avLst/>
          </a:prstGeom>
        </p:spPr>
      </p:pic>
      <p:sp>
        <p:nvSpPr>
          <p:cNvPr id="25" name="AutoShape 25"/>
          <p:cNvSpPr/>
          <p:nvPr/>
        </p:nvSpPr>
        <p:spPr>
          <a:xfrm>
            <a:off x="6197599" y="5645150"/>
            <a:ext cx="4508500" cy="825500"/>
          </a:xfrm>
          <a:prstGeom prst="rect">
            <a:avLst/>
          </a:prstGeom>
          <a:noFill/>
          <a:ln w="12700" cap="flat" cmpd="sng">
            <a:noFill/>
            <a:prstDash val="solid"/>
            <a:round/>
          </a:ln>
        </p:spPr>
        <p:txBody>
          <a:bodyPr vert="horz" wrap="square" lIns="0" tIns="0" rIns="0" bIns="0" rtlCol="0" anchor="ctr" anchorCtr="0"/>
          <a:lstStyle/>
          <a:p>
            <a:pPr>
              <a:spcAft>
                <a:spcPts val="100"/>
              </a:spcAft>
            </a:pPr>
            <a:r>
              <a:rPr lang="en-US" sz="1150" b="1" i="0" u="none" strike="noStrike" dirty="0">
                <a:solidFill>
                  <a:srgbClr val="1F2937"/>
                </a:solidFill>
                <a:latin typeface="Liberation Sans"/>
                <a:ea typeface="Liberation Sans"/>
                <a:cs typeface="Liberation Sans"/>
                <a:sym typeface="Liberation Sans"/>
              </a:rPr>
              <a:t>Validate subgroups explicitly</a:t>
            </a:r>
          </a:p>
          <a:p>
            <a:r>
              <a:rPr lang="en-US" sz="850" b="0" i="0" u="none" strike="noStrike" dirty="0">
                <a:solidFill>
                  <a:srgbClr val="475569"/>
                </a:solidFill>
                <a:latin typeface="Liberation Sans"/>
                <a:ea typeface="Liberation Sans"/>
                <a:cs typeface="Liberation Sans"/>
                <a:sym typeface="Liberation Sans"/>
              </a:rPr>
              <a:t>Track class-, elevation-, and wilderness-specific metrics rather than relying on a single aggregate score.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HD Forest Wallpapers - Top Free HD Forest Backgrounds - WallpaperAccess">
            <a:extLst>
              <a:ext uri="{FF2B5EF4-FFF2-40B4-BE49-F238E27FC236}">
                <a16:creationId xmlns:a16="http://schemas.microsoft.com/office/drawing/2014/main" id="{7B026019-6075-3CFA-D560-EBD80A4C3628}"/>
              </a:ext>
            </a:extLst>
          </p:cNvPr>
          <p:cNvPicPr>
            <a:picLocks noChangeAspect="1"/>
          </p:cNvPicPr>
          <p:nvPr/>
        </p:nvPicPr>
        <p:blipFill>
          <a:blip r:embed="rId3"/>
          <a:stretch>
            <a:fillRect/>
          </a:stretch>
        </p:blipFill>
        <p:spPr>
          <a:xfrm>
            <a:off x="0" y="0"/>
            <a:ext cx="12192000" cy="6858000"/>
          </a:xfrm>
          <a:prstGeom prst="rect">
            <a:avLst/>
          </a:prstGeom>
        </p:spPr>
      </p:pic>
      <p:sp>
        <p:nvSpPr>
          <p:cNvPr id="3" name="AutoShape 3"/>
          <p:cNvSpPr/>
          <p:nvPr/>
        </p:nvSpPr>
        <p:spPr>
          <a:xfrm>
            <a:off x="6096000" y="3175000"/>
            <a:ext cx="6096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Liberation Sans"/>
                <a:ea typeface="Liberation Sans"/>
                <a:cs typeface="Liberation Sans"/>
                <a:sym typeface="Liberation Sans"/>
              </a:rPr>
              <a:t>Q&amp;A</a:t>
            </a:r>
            <a:endParaRPr lang="en-US" sz="1100"/>
          </a:p>
        </p:txBody>
      </p:sp>
      <p:sp>
        <p:nvSpPr>
          <p:cNvPr id="4" name="AutoShape 4"/>
          <p:cNvSpPr/>
          <p:nvPr/>
        </p:nvSpPr>
        <p:spPr>
          <a:xfrm>
            <a:off x="6096000" y="4445000"/>
            <a:ext cx="609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alpha val="92157"/>
                  </a:srgbClr>
                </a:solidFill>
                <a:latin typeface="Liberation Sans"/>
                <a:ea typeface="Liberation Sans"/>
                <a:cs typeface="Liberation Sans"/>
                <a:sym typeface="Liberation Sans"/>
              </a:rPr>
              <a:t>Thank You</a:t>
            </a:r>
            <a:endParaRPr lang="en-US" sz="1100"/>
          </a:p>
        </p:txBody>
      </p:sp>
      <p:sp>
        <p:nvSpPr>
          <p:cNvPr id="5" name="AutoShape 5"/>
          <p:cNvSpPr/>
          <p:nvPr/>
        </p:nvSpPr>
        <p:spPr>
          <a:xfrm>
            <a:off x="6096000" y="5397500"/>
            <a:ext cx="6096000" cy="508000"/>
          </a:xfrm>
          <a:prstGeom prst="rect">
            <a:avLst/>
          </a:prstGeom>
          <a:noFill/>
          <a:ln w="12700" cap="flat" cmpd="sng">
            <a:noFill/>
            <a:prstDash val="solid"/>
            <a:round/>
          </a:ln>
        </p:spPr>
        <p:txBody>
          <a:bodyPr vert="horz" wrap="square" lIns="0" tIns="0" rIns="0" bIns="0" rtlCol="0" anchor="ctr" anchorCtr="0"/>
          <a:lstStyle/>
          <a:p>
            <a:pPr algn="ctr"/>
            <a:r>
              <a:rPr lang="en-US" sz="1100" b="0" i="0" u="none" strike="noStrike">
                <a:solidFill>
                  <a:srgbClr val="D1D5DB">
                    <a:alpha val="65098"/>
                  </a:srgbClr>
                </a:solidFill>
                <a:latin typeface="Liberation Sans"/>
                <a:ea typeface="Liberation Sans"/>
                <a:cs typeface="Liberation Sans"/>
                <a:sym typeface="Liberation Sans"/>
              </a:rPr>
              <a:t>Zeyun DU  ·  Zixiang QIN  ·  Chunfeng GAO</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1530</TotalTime>
  <Words>4109</Words>
  <Application>Microsoft Office PowerPoint</Application>
  <PresentationFormat>宽屏</PresentationFormat>
  <Paragraphs>290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15</vt:i4>
      </vt:variant>
    </vt:vector>
  </HeadingPairs>
  <TitlesOfParts>
    <vt:vector size="19" baseType="lpstr">
      <vt:lpstr>Liberation Sans</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NYZ</dc:creator>
  <cp:lastModifiedBy>zey DU</cp:lastModifiedBy>
  <cp:revision>23</cp:revision>
  <dcterms:modified xsi:type="dcterms:W3CDTF">2026-07-27T12:04:26Z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{"Label":"1","ContentProducer":"001191110102MACQD9K64010000","ProduceID":"7664869132844682202","ReservedCode1":"","ContentPropagator":"","PropagateID":"","ReservedCode2":""}</vt:lpwstr>
  </property>
</Properties>
</file>