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Covertype Forest Cover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17C"/>
                </a:solidFill>
              </a:rPr>
              <a:t>DSAA2011 machine learning project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30352" y="1828800"/>
            <a:ext cx="21031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D8DE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9385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</a:rPr>
              <a:t>581,012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22768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17C"/>
                </a:solidFill>
              </a:rPr>
              <a:t>rows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2788920" y="1828800"/>
            <a:ext cx="21031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D8DE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16936" y="19385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72B0"/>
                </a:solidFill>
              </a:rPr>
              <a:t>54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916936" y="22768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17C"/>
                </a:solidFill>
              </a:rPr>
              <a:t>features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5029200" y="1828800"/>
            <a:ext cx="21031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D8DE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57216" y="19385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72B3"/>
                </a:solidFill>
              </a:rPr>
              <a:t>7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57216" y="22768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17C"/>
                </a:solidFill>
              </a:rPr>
              <a:t>cover classes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530352" y="2816352"/>
            <a:ext cx="21031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D8DE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926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9A6A"/>
                </a:solidFill>
              </a:rPr>
              <a:t>0.845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" y="32644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17C"/>
                </a:solidFill>
              </a:rPr>
              <a:t>best macro-F1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788920" y="2816352"/>
            <a:ext cx="21031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D8DE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16936" y="2926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9A6A"/>
                </a:solidFill>
              </a:rPr>
              <a:t>0.902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916936" y="32644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17C"/>
                </a:solidFill>
              </a:rPr>
              <a:t>best accuracy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029200" y="2816352"/>
            <a:ext cx="21031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D8DE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57216" y="2926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9A6A"/>
                </a:solidFill>
              </a:rPr>
              <a:t>0.991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57216" y="32644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17C"/>
                </a:solidFill>
              </a:rPr>
              <a:t>macro AUC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66928" y="3977640"/>
            <a:ext cx="621792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</a:rPr>
              <a:t>Natural clusters reveal terrain structure but do not recover the seven labels.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</a:rPr>
              <a:t>Wilderness Area analysis adds a regional robustness view.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</a:rPr>
              <a:t>Random Forest is the best classifier on the stratified test set.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</a:rPr>
              <a:t>Elevation, road/fire/hydrology distances, hillshade, soil context, and region explain errors.</a:t>
            </a:r>
            <a:endParaRPr lang="en-US" sz="1200" dirty="0"/>
          </a:p>
        </p:txBody>
      </p:sp>
      <p:pic>
        <p:nvPicPr>
          <p:cNvPr id="23" name="Image 0" descr="/home/nyz/dsaa2011/figures/targe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562100"/>
            <a:ext cx="4343400" cy="23164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738360" y="64465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17C"/>
                </a:solidFill>
              </a:rPr>
              <a:t>DSAA2011 Covertype Project |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and Preprocessing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64922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17C"/>
                </a:solidFill>
              </a:rPr>
              <a:t>UCI Covertype: cartographic measurements with a seven-class forest cover target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56848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pic>
        <p:nvPicPr>
          <p:cNvPr id="5" name="Image 0" descr="/home/nyz/dsaa2011/figures/missing_rat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046"/>
            <a:ext cx="4480560" cy="2464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1234440"/>
            <a:ext cx="566928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3"/>
                </a:solidFill>
              </a:rPr>
              <a:t>1 Spruce/Fir: 211,840 (36.5%)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33"/>
                </a:solidFill>
              </a:rPr>
              <a:t>2 Lodgepole Pine: 283,301 (48.8%)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33"/>
                </a:solidFill>
              </a:rPr>
              <a:t>3 Ponderosa Pine: 35,754 (6.2%)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33"/>
                </a:solidFill>
              </a:rPr>
              <a:t>4 Cottonwood/Willow: 2,747 (0.5%)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33"/>
                </a:solidFill>
              </a:rPr>
              <a:t>5 Aspen: 9,493 (1.6%)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33"/>
                </a:solidFill>
              </a:rPr>
              <a:t>6 Douglas-fir: 17,367 (3.0%)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33"/>
                </a:solidFill>
              </a:rPr>
              <a:t>7 Krummholz: 20,510 (3.5%)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86400" y="3154680"/>
            <a:ext cx="589788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</a:rPr>
              <a:t>No missing values after parsing; maximum missing ratio is 0.000.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</a:rPr>
              <a:t>10 continuous terrain features are standardized for linear and distance-based methods.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</a:rPr>
              <a:t>4 wilderness and 40 soil indicators are already one-hot encoded.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</a:rPr>
              <a:t>Large-scale steps use stratified samples to preserve class proportions while keeping runtime reproducible.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738360" y="64465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17C"/>
                </a:solidFill>
              </a:rPr>
              <a:t>DSAA2011 Covertype Project |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Visualization and Clustering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64922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17C"/>
                </a:solidFill>
              </a:rPr>
              <a:t>t-SNE shows partial local structure; clusters are not the same as cover labels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56848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pic>
        <p:nvPicPr>
          <p:cNvPr id="5" name="Image 0" descr="/home/nyz/dsaa2011/figures/tsne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27444"/>
            <a:ext cx="5349240" cy="3948249"/>
          </a:xfrm>
          <a:prstGeom prst="rect">
            <a:avLst/>
          </a:prstGeom>
        </p:spPr>
      </p:pic>
      <p:pic>
        <p:nvPicPr>
          <p:cNvPr id="6" name="Image 1" descr="/home/nyz/dsaa2011/figures/clustering_ts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95267"/>
            <a:ext cx="5623560" cy="23472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72200" y="416052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3"/>
                </a:solidFill>
              </a:rPr>
              <a:t>MiniBatchKMeans: k=2, silhouette=0.191, ARI target=0.003, ARI wild=0.039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3"/>
                </a:solidFill>
              </a:rPr>
              <a:t>Agglomerative Ward: k=2, silhouette=0.153, ARI target=0.004, ARI wild=0.013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172200" y="5074920"/>
            <a:ext cx="50749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</a:rPr>
              <a:t>Near-zero ARI versus Cover_Type only means the natural partitions do not reproduce the supervised labels.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</a:rPr>
              <a:t>ARI versus Wilderness is also modest, so clusters are better read as coarse terrain/region mixtures.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9738360" y="64465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17C"/>
                </a:solidFill>
              </a:rPr>
              <a:t>DSAA2011 Covertype Project |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Prediction Models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64922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17C"/>
                </a:solidFill>
              </a:rPr>
              <a:t>Logistic regression is a linear baseline; decision tree captures nonlinear splits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56848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pic>
        <p:nvPicPr>
          <p:cNvPr id="5" name="Image 0" descr="/home/nyz/dsaa2011/figures/confusion_logistic_reg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5101"/>
            <a:ext cx="5577840" cy="1733237"/>
          </a:xfrm>
          <a:prstGeom prst="rect">
            <a:avLst/>
          </a:prstGeom>
        </p:spPr>
      </p:pic>
      <p:pic>
        <p:nvPicPr>
          <p:cNvPr id="6" name="Image 1" descr="/home/nyz/dsaa2011/figures/confusion_decision_tr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72205"/>
            <a:ext cx="5532120" cy="17190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3822192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</a:rPr>
              <a:t>Logistic Regression: accuracy=0.593, macro-F1=0.471, macro AUC=0.923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</a:rPr>
              <a:t>Decision Tree: accuracy=0.775, macro-F1=0.663, macro AUC=0.942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85800" y="4736592"/>
            <a:ext cx="104241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</a:rPr>
              <a:t>Logistic regression reaches high macro AUC but weak class-level F1.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</a:rPr>
              <a:t>The decision tree improves nonlinear separation but still lags tree ensembles.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</a:rPr>
              <a:t>Both simple models are evaluated on train, test, and the full dataset after training.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9738360" y="64465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17C"/>
                </a:solidFill>
              </a:rPr>
              <a:t>DSAA2011 Covertype Project |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Choice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64922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17C"/>
                </a:solidFill>
              </a:rPr>
              <a:t>Random Forest gives the best test macro-F1 and macro one-vs-rest AUC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56848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pic>
        <p:nvPicPr>
          <p:cNvPr id="5" name="Image 0" descr="/home/nyz/dsaa2011/figures/model_comparison_f1_au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02690"/>
            <a:ext cx="5394960" cy="2589581"/>
          </a:xfrm>
          <a:prstGeom prst="rect">
            <a:avLst/>
          </a:prstGeom>
        </p:spPr>
      </p:pic>
      <p:pic>
        <p:nvPicPr>
          <p:cNvPr id="6" name="Image 1" descr="/home/nyz/dsaa2011/figures/roc_ovr_mode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386" y="1143000"/>
            <a:ext cx="4108269" cy="3108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464515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F2A33"/>
                </a:solidFill>
              </a:rPr>
              <a:t>Logistic Regression: acc=0.593, macro-F1=0.471, AUC=0.923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F2A33"/>
                </a:solidFill>
              </a:rPr>
              <a:t>Decision Tree: acc=0.775, macro-F1=0.663, AUC=0.942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F2A33"/>
                </a:solidFill>
              </a:rPr>
              <a:t>Random Forest: acc=0.902, macro-F1=0.845, AUC=0.991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F2A33"/>
                </a:solidFill>
              </a:rPr>
              <a:t>HistGradientBoosting: acc=0.869, macro-F1=0.831, AUC=0.985</a:t>
            </a:r>
            <a:endParaRPr lang="en-US" sz="1120" dirty="0"/>
          </a:p>
        </p:txBody>
      </p:sp>
      <p:sp>
        <p:nvSpPr>
          <p:cNvPr id="8" name="Text 4"/>
          <p:cNvSpPr/>
          <p:nvPr/>
        </p:nvSpPr>
        <p:spPr>
          <a:xfrm>
            <a:off x="6537960" y="4663440"/>
            <a:ext cx="4663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</a:rPr>
              <a:t>Cross-validation keeps the same ranking: Random Forest first, HistGradientBoosting second.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</a:rPr>
              <a:t>Macro metrics matter because Cottonwood/Willow and Aspen are rare.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9738360" y="64465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17C"/>
                </a:solidFill>
              </a:rPr>
              <a:t>DSAA2011 Covertype Project |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Drives Cover Type?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64922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17C"/>
                </a:solidFill>
              </a:rPr>
              <a:t>Topography dominates, but soil indicators recover meaningful extra signal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56848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pic>
        <p:nvPicPr>
          <p:cNvPr id="5" name="Image 0" descr="/home/nyz/dsaa2011/figures/feature_importance_top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55766"/>
            <a:ext cx="5212080" cy="3672147"/>
          </a:xfrm>
          <a:prstGeom prst="rect">
            <a:avLst/>
          </a:prstGeom>
        </p:spPr>
      </p:pic>
      <p:pic>
        <p:nvPicPr>
          <p:cNvPr id="6" name="Image 1" descr="/home/nyz/dsaa2011/figures/feature_group_abl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35608"/>
            <a:ext cx="5257800" cy="2523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9360" y="449884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F2A33"/>
                </a:solidFill>
              </a:rPr>
              <a:t>1. Elevation (0.235)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F2A33"/>
                </a:solidFill>
              </a:rPr>
              <a:t>2. Horizontal_Distance_To_Roadways (0.099)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F2A33"/>
                </a:solidFill>
              </a:rPr>
              <a:t>3. Horizontal_Distance_To_Fire_Points (0.077)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F2A33"/>
                </a:solidFill>
              </a:rPr>
              <a:t>4. Horizontal_Distance_To_Hydrology (0.062)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F2A33"/>
                </a:solidFill>
              </a:rPr>
              <a:t>5. Vertical_Distance_To_Hydrology (0.050)</a:t>
            </a:r>
            <a:endParaRPr lang="en-US" sz="960" dirty="0"/>
          </a:p>
        </p:txBody>
      </p:sp>
      <p:sp>
        <p:nvSpPr>
          <p:cNvPr id="8" name="Text 4"/>
          <p:cNvSpPr/>
          <p:nvPr/>
        </p:nvSpPr>
        <p:spPr>
          <a:xfrm>
            <a:off x="9006840" y="449884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F2A33"/>
                </a:solidFill>
              </a:rPr>
              <a:t>All features: F1=0.815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F2A33"/>
                </a:solidFill>
              </a:rPr>
              <a:t>Topographic + soil: F1=0.807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F2A33"/>
                </a:solidFill>
              </a:rPr>
              <a:t>Topographic + wilderness: F1=0.784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F2A33"/>
                </a:solidFill>
              </a:rPr>
              <a:t>Topographic only: F1=0.764</a:t>
            </a:r>
            <a:endParaRPr lang="en-US" sz="960" dirty="0"/>
          </a:p>
        </p:txBody>
      </p:sp>
      <p:sp>
        <p:nvSpPr>
          <p:cNvPr id="9" name="Text 5"/>
          <p:cNvSpPr/>
          <p:nvPr/>
        </p:nvSpPr>
        <p:spPr>
          <a:xfrm>
            <a:off x="9738360" y="64465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17C"/>
                </a:solidFill>
              </a:rPr>
              <a:t>DSAA2011 Covertype Project |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Wilderness Area Extension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64922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17C"/>
                </a:solidFill>
              </a:rPr>
              <a:t>Regional composition and held-out performance explain where the model is easier or harder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56848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pic>
        <p:nvPicPr>
          <p:cNvPr id="5" name="Image 0" descr="/home/nyz/dsaa2011/figures/wilderness_cover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75005"/>
            <a:ext cx="5394960" cy="2984446"/>
          </a:xfrm>
          <a:prstGeom prst="rect">
            <a:avLst/>
          </a:prstGeom>
        </p:spPr>
      </p:pic>
      <p:pic>
        <p:nvPicPr>
          <p:cNvPr id="6" name="Image 1" descr="/home/nyz/dsaa2011/figures/wilderness_model_metri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285979"/>
            <a:ext cx="5074920" cy="27681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5074920"/>
            <a:ext cx="5394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F2A33"/>
                </a:solidFill>
              </a:rPr>
              <a:t>Rawah: 44.9%, dominant Lodgepole Pine (56.1%)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F2A33"/>
                </a:solidFill>
              </a:rPr>
              <a:t>Neota: 5.1%, dominant Spruce/Fir (62.2%)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F2A33"/>
                </a:solidFill>
              </a:rPr>
              <a:t>Comanche Peak: 43.6%, dominant Lodgepole Pine (49.4%)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F2A33"/>
                </a:solidFill>
              </a:rPr>
              <a:t>Cache la Poudre: 6.4%, dominant Ponderosa Pine (58.0%)</a:t>
            </a:r>
            <a:endParaRPr lang="en-US" sz="880" dirty="0"/>
          </a:p>
        </p:txBody>
      </p:sp>
      <p:sp>
        <p:nvSpPr>
          <p:cNvPr id="8" name="Text 4"/>
          <p:cNvSpPr/>
          <p:nvPr/>
        </p:nvSpPr>
        <p:spPr>
          <a:xfrm>
            <a:off x="6400800" y="4526280"/>
            <a:ext cx="48920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</a:rPr>
              <a:t>Hardest held-out area: Cache la Poudre, macro-F1 0.771.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</a:rPr>
              <a:t>Regional evaluation checks robustness beyond aggregate test accuracy.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</a:rPr>
              <a:t>Wilderness indicators alone are weak predictors, but the area split is useful for interpretation.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9738360" y="64465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17C"/>
                </a:solidFill>
              </a:rPr>
              <a:t>DSAA2011 Covertype Project |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Calibration, Error Review, and Takeaways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64922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17C"/>
                </a:solidFill>
              </a:rPr>
              <a:t>Accuracy is strong, but uncertainty and terrain bands still matter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56848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pic>
        <p:nvPicPr>
          <p:cNvPr id="5" name="Image 0" descr="/home/nyz/dsaa2011/figures/calibration_reli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028" y="1143000"/>
            <a:ext cx="3591385" cy="3063240"/>
          </a:xfrm>
          <a:prstGeom prst="rect">
            <a:avLst/>
          </a:prstGeom>
        </p:spPr>
      </p:pic>
      <p:pic>
        <p:nvPicPr>
          <p:cNvPr id="6" name="Image 1" descr="/home/nyz/dsaa2011/figures/elevation_band_accurac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74124"/>
            <a:ext cx="3657600" cy="2000992"/>
          </a:xfrm>
          <a:prstGeom prst="rect">
            <a:avLst/>
          </a:prstGeom>
        </p:spPr>
      </p:pic>
      <p:pic>
        <p:nvPicPr>
          <p:cNvPr id="7" name="Image 2" descr="/home/nyz/dsaa2011/figures/class_recall_comparis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808346"/>
            <a:ext cx="3429000" cy="173254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7240" y="4617720"/>
            <a:ext cx="1074420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</a:rPr>
              <a:t>Best classifier: Random Forest with accuracy 0.902, macro-F1 0.845, macro AUC 0.991.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</a:rPr>
              <a:t>Best calibration ECE: HistGradientBoosting at 0.047.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</a:rPr>
              <a:t>Unsupervised clusters are useful for terrain/region exploration, but not for replacing supervised labels.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</a:rPr>
              <a:t>Report macro metrics, class recall, calibration, elevation-band, and wilderness-area performance together.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9738360" y="64465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17C"/>
                </a:solidFill>
              </a:rPr>
              <a:t>DSAA2011 Covertype Project |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Scalable Computation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64922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17C"/>
                </a:solidFill>
              </a:rPr>
              <a:t>Large-data workflow choices keep expensive steps reproducible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56848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pic>
        <p:nvPicPr>
          <p:cNvPr id="5" name="Image 0" descr="/home/nyz/dsaa2011/figures/computational_cost_ti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4871"/>
            <a:ext cx="5394960" cy="281615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55080" y="1234440"/>
            <a:ext cx="21031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D8DE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83096" y="1344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72B0"/>
                </a:solidFill>
              </a:rPr>
              <a:t>243.8 MB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83096" y="168249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17C"/>
                </a:solidFill>
              </a:rPr>
              <a:t>naive int64 estimate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8732520" y="1234440"/>
            <a:ext cx="21031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D8DE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60536" y="1344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</a:rPr>
              <a:t>47.1 MB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860536" y="168249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17C"/>
                </a:solidFill>
              </a:rPr>
              <a:t>optimized memory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6400800" y="2331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F2A33"/>
                </a:solidFill>
              </a:rPr>
              <a:t>t-SNE visualization: score 9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F2A33"/>
                </a:solidFill>
              </a:rPr>
              <a:t>Ward hierarchical clustering: score 10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F2A33"/>
                </a:solidFill>
              </a:rPr>
              <a:t>Permutation importance: score 8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6400800" y="3456432"/>
            <a:ext cx="49834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</a:rPr>
              <a:t>Memory reduction after downcast: 80.7%.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</a:rPr>
              <a:t>Use full data for descriptive statistics, not for every diagnostic.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</a:rPr>
              <a:t>Use stratified samples for t-SNE, Ward clustering, cross-validation, and permutation importance.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</a:rPr>
              <a:t>Run PCA before distance-based visualization and clustering.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</a:rPr>
              <a:t>Cache heavy stages with manifests; train scalable ensembles with parallelism.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738360" y="64465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17C"/>
                </a:solidFill>
              </a:rPr>
              <a:t>DSAA2011 Covertype Project | 9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HKUST(GZ)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DSAA2011 Covertype Project</dc:title>
  <dc:subject>Forest cover type classification</dc:subject>
  <dc:creator>DSAA2011 Covertype Project</dc:creator>
  <cp:lastModifiedBy>DSAA2011 Covertype Project</cp:lastModifiedBy>
  <cp:revision>1</cp:revision>
  <dcterms:created xsi:type="dcterms:W3CDTF">2026-07-23T15:44:35Z</dcterms:created>
  <dcterms:modified xsi:type="dcterms:W3CDTF">2026-07-23T15:44:35Z</dcterms:modified>
</cp:coreProperties>
</file>